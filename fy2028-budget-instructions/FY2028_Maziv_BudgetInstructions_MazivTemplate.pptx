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0"/>
  </p:sldIdLst>
  <p:sldSz cx="10692000" cy="7559675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0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on Billett" userId="827adecc-dc65-4ba2-a2c7-4cc4eeee30b3" providerId="ADAL" clId="{017BA878-90EC-479D-86CF-CEA2518AB154}"/>
    <pc:docChg chg="undo custSel modSld">
      <pc:chgData name="Byron Billett" userId="827adecc-dc65-4ba2-a2c7-4cc4eeee30b3" providerId="ADAL" clId="{017BA878-90EC-479D-86CF-CEA2518AB154}" dt="2026-10-27T16:06:37.446" v="588" actId="113"/>
      <pc:docMkLst>
        <pc:docMk/>
      </pc:docMkLst>
      <pc:sldChg chg="addSp delSp modSp mod">
        <pc:chgData name="Byron Billett" userId="827adecc-dc65-4ba2-a2c7-4cc4eeee30b3" providerId="ADAL" clId="{017BA878-90EC-479D-86CF-CEA2518AB154}" dt="2026-10-27T16:02:53.015" v="524" actId="20577"/>
        <pc:sldMkLst>
          <pc:docMk/>
          <pc:sldMk cId="0" sldId="257"/>
        </pc:sldMkLst>
        <pc:spChg chg="mod">
          <ac:chgData name="Byron Billett" userId="827adecc-dc65-4ba2-a2c7-4cc4eeee30b3" providerId="ADAL" clId="{017BA878-90EC-479D-86CF-CEA2518AB154}" dt="2026-10-27T16:02:39.016" v="519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Byron Billett" userId="827adecc-dc65-4ba2-a2c7-4cc4eeee30b3" providerId="ADAL" clId="{017BA878-90EC-479D-86CF-CEA2518AB154}" dt="2026-10-27T15:59:22.426" v="139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Byron Billett" userId="827adecc-dc65-4ba2-a2c7-4cc4eeee30b3" providerId="ADAL" clId="{017BA878-90EC-479D-86CF-CEA2518AB154}" dt="2026-10-27T15:59:22.426" v="139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Byron Billett" userId="827adecc-dc65-4ba2-a2c7-4cc4eeee30b3" providerId="ADAL" clId="{017BA878-90EC-479D-86CF-CEA2518AB154}" dt="2026-10-27T15:59:22.426" v="139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Byron Billett" userId="827adecc-dc65-4ba2-a2c7-4cc4eeee30b3" providerId="ADAL" clId="{017BA878-90EC-479D-86CF-CEA2518AB154}" dt="2026-10-27T15:59:22.426" v="139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Byron Billett" userId="827adecc-dc65-4ba2-a2c7-4cc4eeee30b3" providerId="ADAL" clId="{017BA878-90EC-479D-86CF-CEA2518AB154}" dt="2026-10-27T15:59:22.426" v="139" actId="47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37.217" v="236" actId="103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37.217" v="236" actId="103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6:01:59.220" v="498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37.217" v="236" actId="103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6:02:10.567" v="504" actId="25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37.217" v="236" actId="103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54.536" v="322" actId="103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54.536" v="322" actId="1038"/>
          <ac:spMkLst>
            <pc:docMk/>
            <pc:sldMk cId="0" sldId="257"/>
            <ac:spMk id="26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54.536" v="322" actId="1038"/>
          <ac:spMkLst>
            <pc:docMk/>
            <pc:sldMk cId="0" sldId="257"/>
            <ac:spMk id="27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6:02:25.232" v="506" actId="25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5:59:54.536" v="322" actId="1038"/>
          <ac:spMkLst>
            <pc:docMk/>
            <pc:sldMk cId="0" sldId="257"/>
            <ac:spMk id="29" creationId="{00000000-0000-0000-0000-000000000000}"/>
          </ac:spMkLst>
        </pc:spChg>
        <pc:spChg chg="add del">
          <ac:chgData name="Byron Billett" userId="827adecc-dc65-4ba2-a2c7-4cc4eeee30b3" providerId="ADAL" clId="{017BA878-90EC-479D-86CF-CEA2518AB154}" dt="2026-10-27T15:59:59.121" v="325" actId="22"/>
          <ac:spMkLst>
            <pc:docMk/>
            <pc:sldMk cId="0" sldId="257"/>
            <ac:spMk id="56" creationId="{377FF94B-5580-7ACC-745D-42D1ADE743A9}"/>
          </ac:spMkLst>
        </pc:spChg>
        <pc:spChg chg="add mod">
          <ac:chgData name="Byron Billett" userId="827adecc-dc65-4ba2-a2c7-4cc4eeee30b3" providerId="ADAL" clId="{017BA878-90EC-479D-86CF-CEA2518AB154}" dt="2026-10-27T16:00:14.299" v="417" actId="1035"/>
          <ac:spMkLst>
            <pc:docMk/>
            <pc:sldMk cId="0" sldId="257"/>
            <ac:spMk id="58" creationId="{FB07F15C-7F7F-B8C6-88A8-F705BD0CD8FF}"/>
          </ac:spMkLst>
        </pc:spChg>
        <pc:spChg chg="add mod">
          <ac:chgData name="Byron Billett" userId="827adecc-dc65-4ba2-a2c7-4cc4eeee30b3" providerId="ADAL" clId="{017BA878-90EC-479D-86CF-CEA2518AB154}" dt="2026-10-27T16:00:14.299" v="417" actId="1035"/>
          <ac:spMkLst>
            <pc:docMk/>
            <pc:sldMk cId="0" sldId="257"/>
            <ac:spMk id="60" creationId="{1649A53E-BDB7-747D-B995-56F4D971A5C7}"/>
          </ac:spMkLst>
        </pc:spChg>
        <pc:spChg chg="add mod">
          <ac:chgData name="Byron Billett" userId="827adecc-dc65-4ba2-a2c7-4cc4eeee30b3" providerId="ADAL" clId="{017BA878-90EC-479D-86CF-CEA2518AB154}" dt="2026-10-27T16:00:28.036" v="459" actId="20577"/>
          <ac:spMkLst>
            <pc:docMk/>
            <pc:sldMk cId="0" sldId="257"/>
            <ac:spMk id="62" creationId="{0EBBF9A4-6107-1603-A3C9-C21E74638AE1}"/>
          </ac:spMkLst>
        </pc:spChg>
        <pc:spChg chg="add mod">
          <ac:chgData name="Byron Billett" userId="827adecc-dc65-4ba2-a2c7-4cc4eeee30b3" providerId="ADAL" clId="{017BA878-90EC-479D-86CF-CEA2518AB154}" dt="2026-10-27T16:02:53.015" v="524" actId="20577"/>
          <ac:spMkLst>
            <pc:docMk/>
            <pc:sldMk cId="0" sldId="257"/>
            <ac:spMk id="64" creationId="{CDA6230A-0E45-DA34-28A6-DF04840D6F72}"/>
          </ac:spMkLst>
        </pc:spChg>
        <pc:spChg chg="add mod">
          <ac:chgData name="Byron Billett" userId="827adecc-dc65-4ba2-a2c7-4cc4eeee30b3" providerId="ADAL" clId="{017BA878-90EC-479D-86CF-CEA2518AB154}" dt="2026-10-27T16:00:39.086" v="482" actId="20577"/>
          <ac:spMkLst>
            <pc:docMk/>
            <pc:sldMk cId="0" sldId="257"/>
            <ac:spMk id="66" creationId="{E4CE209D-CE71-A5B8-0384-831A5FC77FDC}"/>
          </ac:spMkLst>
        </pc:spChg>
      </pc:sldChg>
      <pc:sldChg chg="modSp mod">
        <pc:chgData name="Byron Billett" userId="827adecc-dc65-4ba2-a2c7-4cc4eeee30b3" providerId="ADAL" clId="{017BA878-90EC-479D-86CF-CEA2518AB154}" dt="2026-10-27T15:57:49.456" v="138" actId="20577"/>
        <pc:sldMkLst>
          <pc:docMk/>
          <pc:sldMk cId="0" sldId="258"/>
        </pc:sldMkLst>
        <pc:graphicFrameChg chg="modGraphic">
          <ac:chgData name="Byron Billett" userId="827adecc-dc65-4ba2-a2c7-4cc4eeee30b3" providerId="ADAL" clId="{017BA878-90EC-479D-86CF-CEA2518AB154}" dt="2026-10-27T15:57:49.456" v="138" actId="20577"/>
          <ac:graphicFrameMkLst>
            <pc:docMk/>
            <pc:sldMk cId="0" sldId="258"/>
            <ac:graphicFrameMk id="17" creationId="{00000000-0000-0000-0000-000000000000}"/>
          </ac:graphicFrameMkLst>
        </pc:graphicFrameChg>
      </pc:sldChg>
      <pc:sldChg chg="modSp mod">
        <pc:chgData name="Byron Billett" userId="827adecc-dc65-4ba2-a2c7-4cc4eeee30b3" providerId="ADAL" clId="{017BA878-90EC-479D-86CF-CEA2518AB154}" dt="2026-10-27T15:49:32.417" v="39" actId="20577"/>
        <pc:sldMkLst>
          <pc:docMk/>
          <pc:sldMk cId="0" sldId="259"/>
        </pc:sldMkLst>
        <pc:spChg chg="mod">
          <ac:chgData name="Byron Billett" userId="827adecc-dc65-4ba2-a2c7-4cc4eeee30b3" providerId="ADAL" clId="{017BA878-90EC-479D-86CF-CEA2518AB154}" dt="2026-10-27T15:49:32.417" v="39" actId="20577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Byron Billett" userId="827adecc-dc65-4ba2-a2c7-4cc4eeee30b3" providerId="ADAL" clId="{017BA878-90EC-479D-86CF-CEA2518AB154}" dt="2026-10-27T16:04:20.486" v="569" actId="20577"/>
        <pc:sldMkLst>
          <pc:docMk/>
          <pc:sldMk cId="0" sldId="260"/>
        </pc:sldMkLst>
        <pc:spChg chg="mod">
          <ac:chgData name="Byron Billett" userId="827adecc-dc65-4ba2-a2c7-4cc4eeee30b3" providerId="ADAL" clId="{017BA878-90EC-479D-86CF-CEA2518AB154}" dt="2026-10-27T16:03:17.767" v="526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6:03:52.626" v="565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6:04:20.486" v="569" actId="20577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Byron Billett" userId="827adecc-dc65-4ba2-a2c7-4cc4eeee30b3" providerId="ADAL" clId="{017BA878-90EC-479D-86CF-CEA2518AB154}" dt="2026-10-27T15:53:37.800" v="96" actId="20577"/>
        <pc:sldMkLst>
          <pc:docMk/>
          <pc:sldMk cId="0" sldId="265"/>
        </pc:sldMkLst>
        <pc:graphicFrameChg chg="modGraphic">
          <ac:chgData name="Byron Billett" userId="827adecc-dc65-4ba2-a2c7-4cc4eeee30b3" providerId="ADAL" clId="{017BA878-90EC-479D-86CF-CEA2518AB154}" dt="2026-10-27T15:53:37.800" v="96" actId="2057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Byron Billett" userId="827adecc-dc65-4ba2-a2c7-4cc4eeee30b3" providerId="ADAL" clId="{017BA878-90EC-479D-86CF-CEA2518AB154}" dt="2026-10-27T16:06:37.446" v="588" actId="113"/>
        <pc:sldMkLst>
          <pc:docMk/>
          <pc:sldMk cId="0" sldId="267"/>
        </pc:sldMkLst>
        <pc:spChg chg="mod">
          <ac:chgData name="Byron Billett" userId="827adecc-dc65-4ba2-a2c7-4cc4eeee30b3" providerId="ADAL" clId="{017BA878-90EC-479D-86CF-CEA2518AB154}" dt="2026-10-27T15:55:08.186" v="113" actId="2057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Byron Billett" userId="827adecc-dc65-4ba2-a2c7-4cc4eeee30b3" providerId="ADAL" clId="{017BA878-90EC-479D-86CF-CEA2518AB154}" dt="2026-10-27T16:06:37.446" v="588" actId="113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70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Top-down replaces the bottom-up build used in FY2025 to FY2027. Entities keep ownership of the 'how'; Group owns the 'what'.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Header band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46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2" name="Header accent"/>
          <p:cNvSpPr/>
          <p:nvPr/>
        </p:nvSpPr>
        <p:spPr>
          <a:xfrm>
            <a:off x="0" y="548640"/>
            <a:ext cx="10689336" cy="36576"/>
          </a:xfrm>
          <a:prstGeom prst="rect">
            <a:avLst/>
          </a:prstGeom>
          <a:solidFill>
            <a:srgbClr val="C09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3" name="Footer rule"/>
          <p:cNvSpPr/>
          <p:nvPr/>
        </p:nvSpPr>
        <p:spPr>
          <a:xfrm>
            <a:off x="365760" y="7159751"/>
            <a:ext cx="9957815" cy="9144"/>
          </a:xfrm>
          <a:prstGeom prst="rect">
            <a:avLst/>
          </a:prstGeom>
          <a:solidFill>
            <a:srgbClr val="D1D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4" name="Footer text"/>
          <p:cNvSpPr txBox="1"/>
          <p:nvPr/>
        </p:nvSpPr>
        <p:spPr>
          <a:xfrm>
            <a:off x="365760" y="7196327"/>
            <a:ext cx="64008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00" i="1">
                <a:solidFill>
                  <a:srgbClr val="747474"/>
                </a:solidFill>
                <a:latin typeface="Calibri"/>
              </a:rPr>
              <a:t>Maziv Group  •  FY2028 Budget Instructions  •  Strictly confidential</a:t>
            </a:r>
          </a:p>
        </p:txBody>
      </p:sp>
      <p:sp>
        <p:nvSpPr>
          <p:cNvPr id="9005" name="Page number"/>
          <p:cNvSpPr txBox="1"/>
          <p:nvPr/>
        </p:nvSpPr>
        <p:spPr>
          <a:xfrm>
            <a:off x="5934455" y="7196327"/>
            <a:ext cx="32004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fld id="{B6F15528-21DB-4D62-9E3B-7A1C0A5D2F10}" type="slidenum">
              <a:rPr lang="en-ZA" sz="900">
                <a:solidFill>
                  <a:srgbClr val="747474"/>
                </a:solidFill>
                <a:latin typeface="Calibri"/>
              </a:rPr>
              <a:t>1</a:t>
            </a:fld>
            <a:r>
              <a:rPr sz="900">
                <a:solidFill>
                  <a:srgbClr val="747474"/>
                </a:solidFill>
                <a:latin typeface="Calibri"/>
              </a:rPr>
              <a:t> / 8</a:t>
            </a:r>
          </a:p>
        </p:txBody>
      </p:sp>
      <p:pic>
        <p:nvPicPr>
          <p:cNvPr id="9006" name="Logo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15" y="7223759"/>
            <a:ext cx="822960" cy="14630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 ground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461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bar"/>
          <p:cNvSpPr/>
          <p:nvPr/>
        </p:nvSpPr>
        <p:spPr>
          <a:xfrm>
            <a:off x="0" y="0"/>
            <a:ext cx="365760" cy="7562088"/>
          </a:xfrm>
          <a:prstGeom prst="rect">
            <a:avLst/>
          </a:prstGeom>
          <a:solidFill>
            <a:srgbClr val="C09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5" y="457200"/>
            <a:ext cx="3108960" cy="1435608"/>
          </a:xfrm>
          <a:prstGeom prst="rect">
            <a:avLst/>
          </a:prstGeom>
        </p:spPr>
      </p:pic>
      <p:sp>
        <p:nvSpPr>
          <p:cNvPr id="5" name="Subtitle 2"/>
          <p:cNvSpPr txBox="1"/>
          <p:nvPr/>
        </p:nvSpPr>
        <p:spPr>
          <a:xfrm>
            <a:off x="1005840" y="2743200"/>
            <a:ext cx="8961120" cy="12801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libri"/>
              </a:rPr>
              <a:t>Maziv Budget Instructions</a:t>
            </a:r>
          </a:p>
        </p:txBody>
      </p:sp>
      <p:sp>
        <p:nvSpPr>
          <p:cNvPr id="6" name="Subtitle 2 (line 2)"/>
          <p:cNvSpPr txBox="1"/>
          <p:nvPr/>
        </p:nvSpPr>
        <p:spPr>
          <a:xfrm>
            <a:off x="1005840" y="4069080"/>
            <a:ext cx="89611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</a:pPr>
            <a:r>
              <a:rPr sz="2000">
                <a:solidFill>
                  <a:srgbClr val="FFFFFF"/>
                </a:solidFill>
                <a:latin typeface="Calibri"/>
              </a:rPr>
              <a:t>FY2028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365760" y="73152"/>
            <a:ext cx="996696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FY2028 Budget: Plan |One Process</a:t>
            </a:r>
          </a:p>
        </p:txBody>
      </p:sp>
      <p:sp>
        <p:nvSpPr>
          <p:cNvPr id="3" name="Card"/>
          <p:cNvSpPr/>
          <p:nvPr/>
        </p:nvSpPr>
        <p:spPr>
          <a:xfrm>
            <a:off x="365760" y="804672"/>
            <a:ext cx="4841747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Placeholder 2"/>
          <p:cNvSpPr txBox="1"/>
          <p:nvPr/>
        </p:nvSpPr>
        <p:spPr>
          <a:xfrm>
            <a:off x="548640" y="941832"/>
            <a:ext cx="4475987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</a:pPr>
            <a:r>
              <a:rPr sz="1400" b="1">
                <a:solidFill>
                  <a:srgbClr val="461B55"/>
                </a:solidFill>
                <a:latin typeface="Calibri"/>
              </a:rPr>
              <a:t>1. Plan </a:t>
            </a:r>
          </a:p>
        </p:txBody>
      </p:sp>
      <p:sp>
        <p:nvSpPr>
          <p:cNvPr id="5" name="Content Placeholder 3"/>
          <p:cNvSpPr txBox="1"/>
          <p:nvPr/>
        </p:nvSpPr>
        <p:spPr>
          <a:xfrm>
            <a:off x="548640" y="1399032"/>
            <a:ext cx="4475987" cy="230428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The FY2028 year of the Group ten-year plan is the budget target: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Set by: </a:t>
            </a:r>
            <a:r>
              <a:rPr sz="1200">
                <a:solidFill>
                  <a:srgbClr val="1F2937"/>
                </a:solidFill>
                <a:latin typeface="Calibri"/>
              </a:rPr>
              <a:t>Group, top-down for each entity.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Measures: </a:t>
            </a:r>
            <a:r>
              <a:rPr sz="1200">
                <a:solidFill>
                  <a:srgbClr val="1F2937"/>
                </a:solidFill>
                <a:latin typeface="Calibri"/>
              </a:rPr>
              <a:t>revenue growth, EBITDA, operating profit, headline earnings and capex.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Ownership: </a:t>
            </a:r>
            <a:r>
              <a:rPr sz="1200">
                <a:solidFill>
                  <a:srgbClr val="1F2937"/>
                </a:solidFill>
                <a:latin typeface="Calibri"/>
              </a:rPr>
              <a:t>entities budget inside the target and decide how they reach it.</a:t>
            </a:r>
          </a:p>
        </p:txBody>
      </p:sp>
      <p:sp>
        <p:nvSpPr>
          <p:cNvPr id="6" name="Card"/>
          <p:cNvSpPr/>
          <p:nvPr/>
        </p:nvSpPr>
        <p:spPr>
          <a:xfrm>
            <a:off x="5481827" y="804672"/>
            <a:ext cx="4841747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 Placeholder 6"/>
          <p:cNvSpPr txBox="1"/>
          <p:nvPr/>
        </p:nvSpPr>
        <p:spPr>
          <a:xfrm>
            <a:off x="5664707" y="941832"/>
            <a:ext cx="4475987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</a:pPr>
            <a:r>
              <a:rPr sz="1400" b="1">
                <a:solidFill>
                  <a:srgbClr val="461B55"/>
                </a:solidFill>
                <a:latin typeface="Calibri"/>
              </a:rPr>
              <a:t>2. Operating Leverage</a:t>
            </a:r>
          </a:p>
        </p:txBody>
      </p:sp>
      <p:sp>
        <p:nvSpPr>
          <p:cNvPr id="8" name="Content Placeholder 7"/>
          <p:cNvSpPr txBox="1"/>
          <p:nvPr/>
        </p:nvSpPr>
        <p:spPr>
          <a:xfrm>
            <a:off x="5664707" y="1399032"/>
            <a:ext cx="4475987" cy="230428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Each entity budget shows operating leverage against FY2027: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Margin expansion: </a:t>
            </a:r>
            <a:r>
              <a:rPr sz="1200">
                <a:solidFill>
                  <a:srgbClr val="1F2937"/>
                </a:solidFill>
                <a:latin typeface="Calibri"/>
              </a:rPr>
              <a:t>revenue grows faster (YoY) than operating costs.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Cost base: </a:t>
            </a:r>
            <a:r>
              <a:rPr sz="1200">
                <a:solidFill>
                  <a:srgbClr val="1F2937"/>
                </a:solidFill>
                <a:latin typeface="Calibri"/>
              </a:rPr>
              <a:t>operating costs grow slower (YoY)  </a:t>
            </a:r>
          </a:p>
          <a:p>
            <a:pPr marL="304800" indent="-1524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Review key unit of economics :</a:t>
            </a:r>
          </a:p>
          <a:p>
            <a:pPr marL="304800" indent="-1524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Network volumes / capacity (homes passed, active connections or Links)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Headcount: </a:t>
            </a:r>
            <a:r>
              <a:rPr sz="1200">
                <a:solidFill>
                  <a:srgbClr val="1F2937"/>
                </a:solidFill>
                <a:latin typeface="Calibri"/>
              </a:rPr>
              <a:t>stays at FY2027 levels. Group reviews any increase and approves it only if it is tied to a strategic imperative.</a:t>
            </a:r>
          </a:p>
        </p:txBody>
      </p:sp>
      <p:sp>
        <p:nvSpPr>
          <p:cNvPr id="9" name="Card"/>
          <p:cNvSpPr/>
          <p:nvPr/>
        </p:nvSpPr>
        <p:spPr>
          <a:xfrm>
            <a:off x="365760" y="3977640"/>
            <a:ext cx="4841747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Placeholder 4"/>
          <p:cNvSpPr txBox="1"/>
          <p:nvPr/>
        </p:nvSpPr>
        <p:spPr>
          <a:xfrm>
            <a:off x="548640" y="4114800"/>
            <a:ext cx="4475987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</a:pPr>
            <a:r>
              <a:rPr sz="1400" b="1">
                <a:solidFill>
                  <a:srgbClr val="461B55"/>
                </a:solidFill>
                <a:latin typeface="Calibri"/>
              </a:rPr>
              <a:t>3. I</a:t>
            </a:r>
            <a:r>
              <a:rPr sz="1400" b="1">
                <a:solidFill>
                  <a:srgbClr val="461B55"/>
                </a:solidFill>
                <a:latin typeface="Calibri"/>
              </a:rPr>
              <a:t>nputs</a:t>
            </a:r>
          </a:p>
        </p:txBody>
      </p:sp>
      <p:sp>
        <p:nvSpPr>
          <p:cNvPr id="11" name="Content Placeholder 5"/>
          <p:cNvSpPr txBox="1"/>
          <p:nvPr/>
        </p:nvSpPr>
        <p:spPr>
          <a:xfrm>
            <a:off x="548640" y="4572000"/>
            <a:ext cx="4475987" cy="230428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Use the Group assumptions as issued. Do not change them in your submission:</a:t>
            </a:r>
          </a:p>
          <a:p>
            <a:pPr marL="3048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Source: </a:t>
            </a:r>
            <a:r>
              <a:rPr sz="1200">
                <a:solidFill>
                  <a:srgbClr val="1F2937"/>
                </a:solidFill>
                <a:latin typeface="Calibri"/>
              </a:rPr>
              <a:t>the Valuation – FY2027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Exceptions: </a:t>
            </a:r>
            <a:r>
              <a:rPr sz="1200">
                <a:solidFill>
                  <a:srgbClr val="1F2937"/>
                </a:solidFill>
                <a:latin typeface="Calibri"/>
              </a:rPr>
              <a:t>if an assumption does not fit your entity, tell Maziv Finance before you submit.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FX rate: </a:t>
            </a:r>
            <a:r>
              <a:rPr sz="1200">
                <a:solidFill>
                  <a:srgbClr val="1F2937"/>
                </a:solidFill>
                <a:latin typeface="Calibri"/>
              </a:rPr>
              <a:t>to be confirmed by Group.</a:t>
            </a:r>
          </a:p>
        </p:txBody>
      </p:sp>
      <p:sp>
        <p:nvSpPr>
          <p:cNvPr id="12" name="Card"/>
          <p:cNvSpPr/>
          <p:nvPr/>
        </p:nvSpPr>
        <p:spPr>
          <a:xfrm>
            <a:off x="5481827" y="3977640"/>
            <a:ext cx="4841747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 Placeholder 8"/>
          <p:cNvSpPr txBox="1"/>
          <p:nvPr/>
        </p:nvSpPr>
        <p:spPr>
          <a:xfrm>
            <a:off x="5664707" y="4114800"/>
            <a:ext cx="4475987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</a:pPr>
            <a:r>
              <a:rPr sz="1400" b="1">
                <a:solidFill>
                  <a:srgbClr val="461B55"/>
                </a:solidFill>
                <a:latin typeface="Calibri"/>
              </a:rPr>
              <a:t>4. </a:t>
            </a:r>
            <a:r>
              <a:rPr sz="1400" b="1">
                <a:solidFill>
                  <a:srgbClr val="461B55"/>
                </a:solidFill>
                <a:latin typeface="Calibri"/>
              </a:rPr>
              <a:t>Beyond </a:t>
            </a:r>
            <a:r>
              <a:rPr sz="1400" b="1">
                <a:solidFill>
                  <a:srgbClr val="461B55"/>
                </a:solidFill>
                <a:latin typeface="Calibri"/>
              </a:rPr>
              <a:t>|</a:t>
            </a:r>
            <a:r>
              <a:rPr sz="1400" b="1">
                <a:solidFill>
                  <a:srgbClr val="461B55"/>
                </a:solidFill>
                <a:latin typeface="Calibri"/>
              </a:rPr>
              <a:t>Target </a:t>
            </a:r>
            <a:r>
              <a:rPr sz="1400" b="1">
                <a:solidFill>
                  <a:srgbClr val="461B55"/>
                </a:solidFill>
                <a:latin typeface="Calibri"/>
              </a:rPr>
              <a:t>and</a:t>
            </a:r>
            <a:r>
              <a:rPr sz="1400" b="1">
                <a:solidFill>
                  <a:srgbClr val="461B55"/>
                </a:solidFill>
                <a:latin typeface="Calibri"/>
              </a:rPr>
              <a:t> </a:t>
            </a:r>
            <a:r>
              <a:rPr sz="1400" b="1">
                <a:solidFill>
                  <a:srgbClr val="461B55"/>
                </a:solidFill>
                <a:latin typeface="Calibri"/>
              </a:rPr>
              <a:t>P</a:t>
            </a:r>
            <a:r>
              <a:rPr sz="1400" b="1">
                <a:solidFill>
                  <a:srgbClr val="461B55"/>
                </a:solidFill>
                <a:latin typeface="Calibri"/>
              </a:rPr>
              <a:t>lan</a:t>
            </a:r>
          </a:p>
        </p:txBody>
      </p:sp>
      <p:sp>
        <p:nvSpPr>
          <p:cNvPr id="14" name="Content Placeholder 9"/>
          <p:cNvSpPr txBox="1"/>
          <p:nvPr/>
        </p:nvSpPr>
        <p:spPr>
          <a:xfrm>
            <a:off x="5664707" y="4572000"/>
            <a:ext cx="4475987" cy="230428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Submit spend outside the target as a separate strategic initiative, not in the base budget. Each initiative states: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Imperative: </a:t>
            </a:r>
            <a:r>
              <a:rPr sz="1200">
                <a:solidFill>
                  <a:srgbClr val="1F2937"/>
                </a:solidFill>
                <a:latin typeface="Calibri"/>
              </a:rPr>
              <a:t>the strategic imperative it serves.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Ask: </a:t>
            </a:r>
            <a:r>
              <a:rPr sz="1200">
                <a:solidFill>
                  <a:srgbClr val="1F2937"/>
                </a:solidFill>
                <a:latin typeface="Calibri"/>
              </a:rPr>
              <a:t>the capex and opex required.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sz="1200" b="1">
                <a:solidFill>
                  <a:srgbClr val="1F2937"/>
                </a:solidFill>
                <a:latin typeface="Calibri"/>
              </a:rPr>
              <a:t>Return: </a:t>
            </a:r>
            <a:r>
              <a:rPr sz="1200">
                <a:solidFill>
                  <a:srgbClr val="1F2937"/>
                </a:solidFill>
                <a:latin typeface="Calibri"/>
              </a:rPr>
              <a:t>incremental revenue or network volumes, and the payback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365760" y="73152"/>
            <a:ext cx="996696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Overview|FY2028 Top-down Budget works</a:t>
            </a:r>
          </a:p>
        </p:txBody>
      </p:sp>
      <p:sp>
        <p:nvSpPr>
          <p:cNvPr id="3" name="Step 1 arrow"/>
          <p:cNvSpPr/>
          <p:nvPr/>
        </p:nvSpPr>
        <p:spPr>
          <a:xfrm>
            <a:off x="365760" y="841248"/>
            <a:ext cx="1933041" cy="566928"/>
          </a:xfrm>
          <a:prstGeom prst="homePlate">
            <a:avLst/>
          </a:prstGeom>
          <a:solidFill>
            <a:srgbClr val="461B5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1. Set the envelope</a:t>
            </a:r>
          </a:p>
        </p:txBody>
      </p:sp>
      <p:sp>
        <p:nvSpPr>
          <p:cNvPr id="4" name="Step 1 text"/>
          <p:cNvSpPr txBox="1"/>
          <p:nvPr/>
        </p:nvSpPr>
        <p:spPr>
          <a:xfrm>
            <a:off x="411480" y="1508760"/>
            <a:ext cx="1841601" cy="1508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461B55"/>
                </a:solidFill>
                <a:latin typeface="Calibri"/>
              </a:rPr>
              <a:t>Oct to Nov 2026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F2937"/>
                </a:solidFill>
                <a:latin typeface="Calibri"/>
              </a:rPr>
              <a:t>Group sets assumptions, FX rate and the revenue, EBITDA and capex envelope per entity.</a:t>
            </a:r>
          </a:p>
        </p:txBody>
      </p:sp>
      <p:sp>
        <p:nvSpPr>
          <p:cNvPr id="5" name="Step 2 arrow"/>
          <p:cNvSpPr/>
          <p:nvPr/>
        </p:nvSpPr>
        <p:spPr>
          <a:xfrm>
            <a:off x="2371953" y="841248"/>
            <a:ext cx="1933041" cy="566928"/>
          </a:xfrm>
          <a:prstGeom prst="chevron">
            <a:avLst/>
          </a:prstGeom>
          <a:solidFill>
            <a:srgbClr val="7A4D8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2. Budget</a:t>
            </a:r>
          </a:p>
        </p:txBody>
      </p:sp>
      <p:sp>
        <p:nvSpPr>
          <p:cNvPr id="6" name="Step 2 text"/>
          <p:cNvSpPr txBox="1"/>
          <p:nvPr/>
        </p:nvSpPr>
        <p:spPr>
          <a:xfrm>
            <a:off x="2417673" y="1508760"/>
            <a:ext cx="1841601" cy="1508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461B55"/>
                </a:solidFill>
                <a:latin typeface="Calibri"/>
              </a:rPr>
              <a:t>Nov to Dec 2026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F2937"/>
                </a:solidFill>
                <a:latin typeface="Calibri"/>
              </a:rPr>
              <a:t>Strategy sessions on 11 and 12 Nov 2026.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F2937"/>
                </a:solidFill>
                <a:latin typeface="Calibri"/>
              </a:rPr>
              <a:t>First Submission: budget (the envelope) 30 Nov 2026</a:t>
            </a:r>
          </a:p>
        </p:txBody>
      </p:sp>
      <p:sp>
        <p:nvSpPr>
          <p:cNvPr id="7" name="Step 3 arrow"/>
          <p:cNvSpPr/>
          <p:nvPr/>
        </p:nvSpPr>
        <p:spPr>
          <a:xfrm>
            <a:off x="4378147" y="841248"/>
            <a:ext cx="1933041" cy="566928"/>
          </a:xfrm>
          <a:prstGeom prst="chevron">
            <a:avLst/>
          </a:prstGeom>
          <a:solidFill>
            <a:srgbClr val="461B5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3. Build to envelope</a:t>
            </a:r>
          </a:p>
        </p:txBody>
      </p:sp>
      <p:sp>
        <p:nvSpPr>
          <p:cNvPr id="8" name="Step 3 text"/>
          <p:cNvSpPr txBox="1"/>
          <p:nvPr/>
        </p:nvSpPr>
        <p:spPr>
          <a:xfrm>
            <a:off x="4423867" y="1508760"/>
            <a:ext cx="1841601" cy="1508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461B55"/>
                </a:solidFill>
                <a:latin typeface="Calibri"/>
              </a:rPr>
              <a:t>Jan 2027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F2937"/>
                </a:solidFill>
                <a:latin typeface="Calibri"/>
              </a:rPr>
              <a:t>Entities build the detailed budget inside the envelope. Final submission on 21 Jan.</a:t>
            </a:r>
          </a:p>
        </p:txBody>
      </p:sp>
      <p:sp>
        <p:nvSpPr>
          <p:cNvPr id="9" name="Step 4 arrow"/>
          <p:cNvSpPr/>
          <p:nvPr/>
        </p:nvSpPr>
        <p:spPr>
          <a:xfrm>
            <a:off x="6384340" y="841248"/>
            <a:ext cx="1933041" cy="566928"/>
          </a:xfrm>
          <a:prstGeom prst="chevron">
            <a:avLst/>
          </a:prstGeom>
          <a:solidFill>
            <a:srgbClr val="7A4D8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4. Close the gaps</a:t>
            </a:r>
          </a:p>
        </p:txBody>
      </p:sp>
      <p:sp>
        <p:nvSpPr>
          <p:cNvPr id="10" name="Step 4 text"/>
          <p:cNvSpPr txBox="1"/>
          <p:nvPr/>
        </p:nvSpPr>
        <p:spPr>
          <a:xfrm>
            <a:off x="6430060" y="1508760"/>
            <a:ext cx="1841601" cy="1508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461B55"/>
                </a:solidFill>
                <a:latin typeface="Calibri"/>
              </a:rPr>
              <a:t>Late Jan to Feb 2027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F2937"/>
                </a:solidFill>
                <a:latin typeface="Calibri"/>
              </a:rPr>
              <a:t>Maziv Finance reviews gaps. Entities resubmit only the items with gaps.</a:t>
            </a:r>
          </a:p>
        </p:txBody>
      </p:sp>
      <p:sp>
        <p:nvSpPr>
          <p:cNvPr id="11" name="Step 5 arrow"/>
          <p:cNvSpPr/>
          <p:nvPr/>
        </p:nvSpPr>
        <p:spPr>
          <a:xfrm>
            <a:off x="8390534" y="841248"/>
            <a:ext cx="1933041" cy="566928"/>
          </a:xfrm>
          <a:prstGeom prst="chevron">
            <a:avLst/>
          </a:prstGeom>
          <a:solidFill>
            <a:srgbClr val="461B5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5. Approve</a:t>
            </a:r>
          </a:p>
        </p:txBody>
      </p:sp>
      <p:sp>
        <p:nvSpPr>
          <p:cNvPr id="12" name="Step 5 text"/>
          <p:cNvSpPr txBox="1"/>
          <p:nvPr/>
        </p:nvSpPr>
        <p:spPr>
          <a:xfrm>
            <a:off x="8436254" y="1508760"/>
            <a:ext cx="1841601" cy="1508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461B55"/>
                </a:solidFill>
                <a:latin typeface="Calibri"/>
              </a:rPr>
              <a:t>Feb to Mar 2027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F2937"/>
                </a:solidFill>
                <a:latin typeface="Calibri"/>
              </a:rPr>
              <a:t>Board budget presentation, then IC capex approval and Group budget approval.</a:t>
            </a:r>
          </a:p>
        </p:txBody>
      </p:sp>
      <p:sp>
        <p:nvSpPr>
          <p:cNvPr id="13" name="Card"/>
          <p:cNvSpPr/>
          <p:nvPr/>
        </p:nvSpPr>
        <p:spPr>
          <a:xfrm>
            <a:off x="365760" y="3154680"/>
            <a:ext cx="4841747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strip"/>
          <p:cNvSpPr/>
          <p:nvPr/>
        </p:nvSpPr>
        <p:spPr>
          <a:xfrm>
            <a:off x="365760" y="3154680"/>
            <a:ext cx="4841747" cy="36576"/>
          </a:xfrm>
          <a:prstGeom prst="rect">
            <a:avLst/>
          </a:prstGeom>
          <a:solidFill>
            <a:srgbClr val="C09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ules left"/>
          <p:cNvSpPr txBox="1"/>
          <p:nvPr/>
        </p:nvSpPr>
        <p:spPr>
          <a:xfrm>
            <a:off x="502920" y="3264408"/>
            <a:ext cx="4567427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200" b="1">
                <a:solidFill>
                  <a:srgbClr val="461B55"/>
                </a:solidFill>
                <a:latin typeface="Calibri"/>
              </a:rPr>
              <a:t>Rules for entities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The envelope is the target. You own how you reach it.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Explain every gap to the envelope by driver: volume, price, cost and timing. Maziv to provide the template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Spend outside the envelope goes in a separate strategic initiative submission.</a:t>
            </a:r>
          </a:p>
        </p:txBody>
      </p:sp>
      <p:sp>
        <p:nvSpPr>
          <p:cNvPr id="16" name="Card"/>
          <p:cNvSpPr/>
          <p:nvPr/>
        </p:nvSpPr>
        <p:spPr>
          <a:xfrm>
            <a:off x="5481827" y="3154680"/>
            <a:ext cx="4841747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strip"/>
          <p:cNvSpPr/>
          <p:nvPr/>
        </p:nvSpPr>
        <p:spPr>
          <a:xfrm>
            <a:off x="5481827" y="3154680"/>
            <a:ext cx="4841747" cy="36576"/>
          </a:xfrm>
          <a:prstGeom prst="rect">
            <a:avLst/>
          </a:prstGeom>
          <a:solidFill>
            <a:srgbClr val="C09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ules right"/>
          <p:cNvSpPr txBox="1"/>
          <p:nvPr/>
        </p:nvSpPr>
        <p:spPr>
          <a:xfrm>
            <a:off x="5618988" y="3264408"/>
            <a:ext cx="4567427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200" b="1">
                <a:solidFill>
                  <a:srgbClr val="461B55"/>
                </a:solidFill>
                <a:latin typeface="Calibri"/>
              </a:rPr>
              <a:t>What Group does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Sets the envelope from the FY2027 forecast, the ten-year plan and  the strategy sessions.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Issues one template for the envelope reconciliation and the operating leverage schedule.</a:t>
            </a:r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1F2937"/>
                </a:solidFill>
                <a:latin typeface="Calibri"/>
              </a:rPr>
              <a:t>Gives feedback on the first submission within six working days.</a:t>
            </a:r>
          </a:p>
        </p:txBody>
      </p:sp>
      <p:sp>
        <p:nvSpPr>
          <p:cNvPr id="19" name="Draft tag"/>
          <p:cNvSpPr txBox="1"/>
          <p:nvPr/>
        </p:nvSpPr>
        <p:spPr>
          <a:xfrm>
            <a:off x="6208775" y="6830568"/>
            <a:ext cx="411480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 marL="0" indent="0">
              <a:buNone/>
            </a:pPr>
            <a:r>
              <a:rPr sz="900">
                <a:solidFill>
                  <a:srgbClr val="747474"/>
                </a:solidFill>
                <a:latin typeface="Calibri"/>
              </a:rPr>
              <a:t>DRAFT for Group CFO review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365760" y="73152"/>
            <a:ext cx="996696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Maziv |Budget owners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804672"/>
          <a:ext cx="9957815" cy="581558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206240"/>
                <a:gridCol w="575157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Person responsible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consol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PropCo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PrefCo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LoanCo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Zunaid Akoojee (ZA)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DFA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Neelan Jina (NJ)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Vumatel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Wayne Levitas (WL)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SADV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Nancy Chisora (NC)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VumaCam &amp; Centr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Lindwe Mzaidume (LM)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Britelink MCT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Richard Osborne (RO)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One Reach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Wayne Levitas (WL)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Herotel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Lukas de Kock (LdK)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Rise  Group ( Rise,Fworx,Connected Space)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Aimee Roux (AR)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Axio 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Aimee Roux (AR)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Vuma InfraCo 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Lindwe Mzaidume (LM)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365760" y="73152"/>
            <a:ext cx="996696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Maziv | Key Dates|Meetings and Sessions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804672"/>
          <a:ext cx="9957815" cy="581558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383280"/>
                <a:gridCol w="2240280"/>
                <a:gridCol w="433425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internal strategy sessions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11 and 12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Review strategy and business plans; agree the envelope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Straw/Plan Budget – Updates 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16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Update - Envelope based on strategy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All Opco Budget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30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First Submission FY2028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Group CFO review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 Dec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FY2027 Valuation vs FY2028 Budget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All Opco Budget - Final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29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Final submission FY2028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All Opco -  Budget Presentation  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 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Full Budget Presentation by CFO and team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Board strategy session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 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Strategy / Information Session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All OpCo Boards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21 Feb 2027 to 1 Mar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 budget approval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Maziv Board budget presentation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 Mar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Information Session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Audit and risk committee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16 Mar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Investment committee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16 Mar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Capex approval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Board meetings (Maziv Group)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24 Mar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Group budget approval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365760" y="73152"/>
            <a:ext cx="996696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Key deliverables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804672"/>
          <a:ext cx="9957815" cy="5916168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983480"/>
                <a:gridCol w="2011680"/>
                <a:gridCol w="296265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Responsible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Group budget instructions and Group assumptions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Mon 26 Oct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Strategy Session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Wed 11 – Thu 12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NEW  Top-down envelope per entity, with templates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Mon 16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First budget submission (inside the envelope)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Mon 30 Nov 2026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December flash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Thu 7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December actual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Mon 11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December forecast submission *Budget starting point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Wed 13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December CFO pack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Thu 14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Final budget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Fri 29 Jan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Budget Presentation - CFO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Wed 3 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NEW  Gap resubmission (gap items only)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OpCo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Fri 5 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Final consolidation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Wed 10 Feb 2027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Board budget presentation submission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One week before Board ( 24 Mar 2027)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365760" y="73152"/>
            <a:ext cx="996696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Deliverable formats and requirements (every submission)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804672"/>
          <a:ext cx="9957815" cy="471830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5202936"/>
                <a:gridCol w="1828800"/>
                <a:gridCol w="292607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Valuation model (Vumatel, DFA, SADV, Vumatel, Rise Group, Herotel): monthly, 10-year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Finnivo valuation model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Directly in Finnivo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10-year model update (Maziv, Propco, LoanCo): monthly, 10-year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Upload into Finnivo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Expense schedule (detailed)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Existing template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Salary cost breakdown: headcount and cost by department, capex and opex split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Entity specific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NEW  Envelope reconciliation: budget against the envelope, by driver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NEW  Operating leverage schedule: revenue, cost base, scale and headcount, FY2027 forecast to FY2028 budget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NEW  Strategic initiative submission: imperative, revenue or scale, capex and opex, payback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Excel and PowerPoint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Budget presentation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PowerPoint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Template from Maziv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4" name="Callout"/>
          <p:cNvSpPr/>
          <p:nvPr/>
        </p:nvSpPr>
        <p:spPr>
          <a:xfrm>
            <a:off x="365760" y="5806440"/>
            <a:ext cx="9957815" cy="640080"/>
          </a:xfrm>
          <a:prstGeom prst="rect">
            <a:avLst/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llout bar"/>
          <p:cNvSpPr/>
          <p:nvPr/>
        </p:nvSpPr>
        <p:spPr>
          <a:xfrm>
            <a:off x="365760" y="5806440"/>
            <a:ext cx="54864" cy="640080"/>
          </a:xfrm>
          <a:prstGeom prst="rect">
            <a:avLst/>
          </a:prstGeom>
          <a:solidFill>
            <a:srgbClr val="C09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note"/>
          <p:cNvSpPr txBox="1"/>
          <p:nvPr/>
        </p:nvSpPr>
        <p:spPr>
          <a:xfrm>
            <a:off x="530352" y="5870448"/>
            <a:ext cx="9628632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buNone/>
            </a:pPr>
            <a:r>
              <a:rPr sz="1100">
                <a:solidFill>
                  <a:srgbClr val="1F2937"/>
                </a:solidFill>
                <a:latin typeface="Calibri"/>
              </a:rPr>
              <a:t>Send all Finnivo queries through Chandre (chandre.duvenhage@maziv.com), the FY2026 contact. Maziv Finance manages Finnivo.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365760" y="73152"/>
            <a:ext cx="996696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Group assumptions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804672"/>
          <a:ext cx="9957815" cy="5632704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017520"/>
                <a:gridCol w="6940295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FY2028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461B5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Inflation (CPI)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4.5%*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Salary increases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  <a:highlight>
                            <a:srgbClr val="FFFF00"/>
                          </a:highlight>
                        </a:rPr>
                        <a:t>4.5%*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USD/ZAR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To be confirmed by Group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Opening balance sheet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31 Dec 2026 actual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Covenant group interest costs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Zunaid Akoojee (ZA) to send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Management fee (Maziv)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Zunaid Akoojee (ZA) to send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Tax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Calculate and accrue all tax charges monthly. Put cash outflows in the correct periods.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Intercompany loans and interest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Agree with the counterparty before each submission. CFO, Finance Executive is responsible.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Intercompany transactions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Agree with the counterparty before each submission. The invoicing entity makes sure the cost is in the other entity's budget. Submit to Maziv Group Finance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Intercompany margin (BMCT)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The invoicing entity sends the margin calculation to Maziv Finance with each submission.</a:t>
                      </a: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1D1"/>
                      </a:solidFill>
                      <a:prstDash val="solid"/>
                    </a:lnL>
                    <a:lnR w="6350" cap="flat" cmpd="sng" algn="ctr">
                      <a:solidFill>
                        <a:srgbClr val="D1D1D1"/>
                      </a:solidFill>
                      <a:prstDash val="solid"/>
                    </a:lnR>
                    <a:lnT w="6350" cap="flat" cmpd="sng" algn="ctr">
                      <a:solidFill>
                        <a:srgbClr val="D1D1D1"/>
                      </a:solidFill>
                      <a:prstDash val="solid"/>
                    </a:lnT>
                    <a:lnB w="6350" cap="flat" cmpd="sng" algn="ctr">
                      <a:solidFill>
                        <a:srgbClr val="D1D1D1"/>
                      </a:solidFill>
                      <a:prstDash val="solid"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f8d769-7f94-463a-abb8-f2f98e32c3f7">
      <Terms xmlns="http://schemas.microsoft.com/office/infopath/2007/PartnerControls"/>
    </lcf76f155ced4ddcb4097134ff3c332f>
    <TaxCatchAll xmlns="66f2e6d5-5aad-40a1-ab75-74a0e6b7d60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104B18F3DBD547BD22A1E297CD76EC" ma:contentTypeVersion="16" ma:contentTypeDescription="Create a new document." ma:contentTypeScope="" ma:versionID="85f979d2ffa097b2b439c405cbec810e">
  <xsd:schema xmlns:xsd="http://www.w3.org/2001/XMLSchema" xmlns:xs="http://www.w3.org/2001/XMLSchema" xmlns:p="http://schemas.microsoft.com/office/2006/metadata/properties" xmlns:ns2="06f8d769-7f94-463a-abb8-f2f98e32c3f7" xmlns:ns3="66f2e6d5-5aad-40a1-ab75-74a0e6b7d603" targetNamespace="http://schemas.microsoft.com/office/2006/metadata/properties" ma:root="true" ma:fieldsID="483335024d94f5303f5799b3f31cf4e6" ns2:_="" ns3:_="">
    <xsd:import namespace="06f8d769-7f94-463a-abb8-f2f98e32c3f7"/>
    <xsd:import namespace="66f2e6d5-5aad-40a1-ab75-74a0e6b7d6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f8d769-7f94-463a-abb8-f2f98e32c3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64171eb-2878-4ea8-98ef-7d8a5713f5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f2e6d5-5aad-40a1-ab75-74a0e6b7d60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744b4b07-0f9a-47da-ba24-fc7df77d74e7}" ma:internalName="TaxCatchAll" ma:showField="CatchAllData" ma:web="66f2e6d5-5aad-40a1-ab75-74a0e6b7d6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25D936-A0CA-45A1-B75A-AFCDCE4FC348}">
  <ds:schemaRefs>
    <ds:schemaRef ds:uri="http://schemas.microsoft.com/office/2006/metadata/properties"/>
    <ds:schemaRef ds:uri="http://schemas.microsoft.com/office/infopath/2007/PartnerControls"/>
    <ds:schemaRef ds:uri="06f8d769-7f94-463a-abb8-f2f98e32c3f7"/>
    <ds:schemaRef ds:uri="66f2e6d5-5aad-40a1-ab75-74a0e6b7d603"/>
  </ds:schemaRefs>
</ds:datastoreItem>
</file>

<file path=customXml/itemProps2.xml><?xml version="1.0" encoding="utf-8"?>
<ds:datastoreItem xmlns:ds="http://schemas.openxmlformats.org/officeDocument/2006/customXml" ds:itemID="{EDBDDD77-7EDF-43E0-8B1D-C9B0DC39E5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8E9960-C1CB-4869-A4EA-295A5C3BF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f8d769-7f94-463a-abb8-f2f98e32c3f7"/>
    <ds:schemaRef ds:uri="66f2e6d5-5aad-40a1-ab75-74a0e6b7d6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2900</Words>
  <Application>Microsoft Office PowerPoint</Application>
  <PresentationFormat>Widescreen</PresentationFormat>
  <Paragraphs>425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Maziv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Maziv FY2028 Budget Instructions</dc:title>
  <dc:subject>PptxGenJS Presentation</dc:subject>
  <dc:creator>Byron Billett</dc:creator>
  <cp:lastModifiedBy>Byron Billett</cp:lastModifiedBy>
  <cp:revision>1</cp:revision>
  <dcterms:created xsi:type="dcterms:W3CDTF">2026-10-27T14:19:25Z</dcterms:created>
  <dcterms:modified xsi:type="dcterms:W3CDTF">2026-10-27T16:06:37Z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0x0101009B104B18F3DBD547BD22A1E297CD76EC</vt:lpwstr>
  </property>
  <property fmtid="{D5CDD505-2E9C-101B-9397-08002B2CF9AE}" pid="3" name="MediaServiceImageTags">
    <vt:lpwstr/>
  </property>
</Properties>
</file>