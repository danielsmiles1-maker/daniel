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heme/theme2.xml" ContentType="application/vnd.openxmlformats-officedocument.theme+xml"/>
  <Override PartName="/ppt/tags/tag2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3"/>
  </p:notesMasterIdLst>
  <p:sldIdLst>
    <p:sldId id="2147483017" r:id="rId5"/>
    <p:sldId id="2147483039" r:id="rId6"/>
    <p:sldId id="2147483041" r:id="rId7"/>
    <p:sldId id="2147483030" r:id="rId8"/>
    <p:sldId id="2147483034" r:id="rId9"/>
    <p:sldId id="2147483042" r:id="rId10"/>
    <p:sldId id="2147483024" r:id="rId11"/>
    <p:sldId id="2147483044" r:id="rId12"/>
  </p:sldIdLst>
  <p:sldSz cx="10691813" cy="7559675"/>
  <p:notesSz cx="10234613" cy="1466215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74" userDrawn="1">
          <p15:clr>
            <a:srgbClr val="A4A3A4"/>
          </p15:clr>
        </p15:guide>
        <p15:guide id="2" orient="horz" pos="81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E058302-1DB0-7200-0AB1-0846F455B8FF}" name="Calli Middleton" initials="CM" userId="S::calli.middleton@maziv.com::43d4fd08-4505-4879-a199-239a3028f5f5" providerId="AD"/>
  <p188:author id="{BCDAB20E-50EF-8191-6FA5-DAA4235FA1A5}" name="Philile Sefako" initials="PS" userId="S::philile.sefako@sadv.co.za::91ea6ae3-ffc9-4049-a63d-1e45a30e0106" providerId="AD"/>
  <p188:author id="{11983718-5435-EC84-EC76-D21E35BEE03C}" name="neelan.jina" initials="ne" userId="S::neelan.jina_dfafrica.co.za#ext#@vumatelcoza.onmicrosoft.com::6c7af04d-f673-49d1-821d-5a558a6de503" providerId="AD"/>
  <p188:author id="{71CC321C-CB85-8919-6FFA-9015AB10CE60}" name="Thembeka Nkwana" initials="TN" userId="S::Thembeka.nkwana@dfafrica.co.za::3d7450d4-2306-4041-8f1c-7b396daf6cf2" providerId="AD"/>
  <p188:author id="{B418451E-A554-79C9-9DAB-8B1CCD5AFAB7}" name="Daniel Smiles" initials="" userId="S::Daniel.Smiles@vumatel.co.za::9656938e-dfa8-414a-9fac-d6f22d3686ea" providerId="AD"/>
  <p188:author id="{C524712B-18F8-A3DA-1EDF-2A9506E3B485}" name="Yoosuf Khan" initials="YK" userId="S::yoosuf.khan@vumatel.co.za::3cbaf5f0-47c4-4506-99ac-81fd4f126845" providerId="AD"/>
  <p188:author id="{B5E6072C-7EF9-C55D-40D3-3CE686D86926}" name="Sandy Neves" initials="SN" userId="S::sandy.neves_dfafrica.co.za#ext#@civh.onmicrosoft.com::8769508a-9c79-4e94-bf14-41efb9cde5ac" providerId="AD"/>
  <p188:author id="{A8808B3A-3817-9F7D-F822-EACF87CDB066}" name="Jadon Appalasamy" initials="JA" userId="S::jadon.appalasamy@vumatel.co.za::990a7c5d-4b9f-4a23-96e5-c60426e8aea8" providerId="AD"/>
  <p188:author id="{3C1CD33D-3289-9459-5DFF-C8EA2B7D2C95}" name="Marochane Viviers" initials="MV" userId="S::Marochane@risetelecoms.co.za::04ca9671-b423-4f3a-bba6-57c2ec198750" providerId="AD"/>
  <p188:author id="{B49BED3D-7932-9742-7B80-E62115CF5D1C}" name="Jadon Appalasamy" initials="JA" userId="S::jadon.appalasamy@dfafrica.co.za::4712b874-826b-4d6f-b274-bf2b90f8273e" providerId="AD"/>
  <p188:author id="{A6BF3642-E181-97B1-7900-8F8DCCA956C8}" name="Jadon Appalasamy" initials="JA" userId="S::Jadon.Appalasamy@dfafrica.co.za::4712b874-826b-4d6f-b274-bf2b90f8273e" providerId="AD"/>
  <p188:author id="{58436849-7DD7-4C4A-E8BE-513CD964A816}" name="Tyron Du Plessis" initials="TDP" userId="S::Tyron.DuPlessis@maziv.com::637c29ba-069e-47f9-a9f0-dd0742670fbc" providerId="AD"/>
  <p188:author id="{4FD8044A-96B5-8F54-AAC4-E749F659A109}" name="Zunaid Akoojee" initials="ZA" userId="S::zunaid.akoojee@maziv.com::6674e7b4-1c50-45bc-9060-dc3804a97bb9" providerId="AD"/>
  <p188:author id="{5675054A-0C2C-9CA7-365B-EE0F277EACEA}" name="Masechaba Masemola" initials="cM" userId="S::Masechaba.Masemola@vumatel.co.za::bc8235c7-c3a3-4d52-87fa-a2cfd55966fc" providerId="AD"/>
  <p188:author id="{CBD1E452-9177-F23B-D167-90B9A481F81C}" name="Chandre Duvenhage" initials="CD" userId="S::chandre.duvenhage@maziv.com::d98b0e6b-11ae-47bf-b93e-56330f4fb4c0" providerId="AD"/>
  <p188:author id="{6D83CA60-6DA6-C0C7-688C-B7BB858C5142}" name="Daniel Smiles" initials="DS" userId="S::daniel.smiles@vumatel.co.za::9656938e-dfa8-414a-9fac-d6f22d3686ea" providerId="AD"/>
  <p188:author id="{CA8B1667-F1D5-5620-A624-44766F8727C4}" name="Byron Billett" initials="BB" userId="S::byron.billett@maziv.com::827adecc-dc65-4ba2-a2c7-4cc4eeee30b3" providerId="AD"/>
  <p188:author id="{09745472-9DB8-7C29-64E0-ABCE40A2950F}" name="Yusuf Sibda" initials="YS" userId="S::Yusuf.Sibda@dfafrica.co.za::acb78950-4901-4691-b93f-bacd8be2b67b" providerId="AD"/>
  <p188:author id="{18D0CF72-5B40-05DD-BD5B-EE799B9F0106}" name="Zunaid Akoojee" initials="ZA" userId="S::Zunaid.Akoojee@maziv.com::6674e7b4-1c50-45bc-9060-dc3804a97bb9" providerId="AD"/>
  <p188:author id="{35C55773-9EFF-855B-92D5-190073CE807B}" name="Mthobisi Malinga" initials="MM" userId="S::mthobisi.malinga@vumatel.co.za::b6884d8a-a246-427c-b55e-b261005df426" providerId="AD"/>
  <p188:author id="{38BAF57E-7844-6863-70A8-487440949E9E}" name="Aimee Roux" initials="AR" userId="S::aimee.roux@maziv.com::8a0dc708-2f79-46eb-bf56-da85731a123c" providerId="AD"/>
  <p188:author id="{1989B087-73EC-6EF7-5F7B-CFE47D792661}" name="Aston Daniels" initials="AD" userId="S::Aston.Daniels@dfafrica.co.za::bca1e401-5394-4691-9ffe-19911c7c5426" providerId="AD"/>
  <p188:author id="{C60C8A8F-608C-82AE-5817-B72D8A7B841B}" name="Nancy Chisora" initials="NC" userId="S::Nancy.Chisora@vumatel.co.za::d6526e9c-f43b-4a95-94ce-b357e366b67d" providerId="AD"/>
  <p188:author id="{F5A99C91-76AC-5E4E-34AE-518DDE483DBB}" name="thembeka.nkwana" initials="th" userId="S::thembeka.nkwana_dfafrica.co.za#ext#@vumatelcoza.onmicrosoft.com::4fe9eca6-6a7d-4083-bc98-657b261b575e" providerId="AD"/>
  <p188:author id="{4F667A96-12FA-4984-DD9B-EECDF1654E5F}" name="Lukas de Kock - National" initials="LdKN" userId="S::lukas@herotel.com::0b7d270e-19c8-4378-89f2-b5433a7583ed" providerId="AD"/>
  <p188:author id="{464D9A96-CE3D-484B-D6BB-D0AE8BBF33E6}" name="Carryn Bateman" initials="CB" userId="S::Carryn@vumacam.co.za::0f1add26-8aad-4c1c-b600-9c13108a4441" providerId="AD"/>
  <p188:author id="{A68FB7AB-9FDB-0BD1-2F56-C5E71CBDA625}" name="DC Blom - National" initials="" userId="S::david@herotel.com::973ec09d-372c-4831-9384-0905f7ec4fa6" providerId="AD"/>
  <p188:author id="{E74017AC-8DB9-5ED0-CF96-A8B8060A8F4C}" name="Lyn Bunce" initials="LE" userId="Lyn Bunce" providerId="None"/>
  <p188:author id="{9B7FC7AF-AF1D-C72F-8A86-8EF4B229268F}" name="Wayne Levitas" initials="" userId="S::wayne.levitas@vumatel.co.za::bf9bfea7-fee2-4e6b-a0fa-de5b67123041" providerId="AD"/>
  <p188:author id="{A62E26B3-9A81-21D3-98DC-08ED8C71B42D}" name="Sally Hellings" initials="SH" userId="S::Sally.Hellings@civh.co.za::1a0936fe-8bde-4f55-b7e2-263f168e659b" providerId="AD"/>
  <p188:author id="{325045B8-D43D-0CB5-4BA0-29B404D23C30}" name="Nancy Chisora" initials="NC" userId="S::nancy.chisora@vumatel.co.za::d6526e9c-f43b-4a95-94ce-b357e366b67d" providerId="AD"/>
  <p188:author id="{CAFE88CF-22BD-8972-47B7-B09EE9538287}" name="Neelan Jina" initials="NJ" userId="S::Neelan.Jina@dfafrica.co.za::ddb992fa-55f8-403f-bf55-0244ac8ee14b" providerId="AD"/>
  <p188:author id="{B51E8DE1-C330-9B46-5F6D-D8A6B8269166}" name="Thembeka Nkwana" initials="TN" userId="S::thembeka.nkwana@dfafrica.co.za::3d7450d4-2306-4041-8f1c-7b396daf6cf2" providerId="AD"/>
  <p188:author id="{6ED68EE5-B545-B157-21FF-90AD2CEB8BAC}" name="Mthobisi Malinga" initials="MM" userId="S::Mthobisi.Malinga@vumatel.co.za::b6884d8a-a246-427c-b55e-b261005df426" providerId="AD"/>
  <p188:author id="{AD26F9E8-81E5-C7B7-C20B-BE3245530510}" name="Aston Daniels" initials="AD" userId="S::AstonD@vumacam.co.za::3e7b07e2-305a-4ce5-875e-b73384eab5fb" providerId="AD"/>
  <p188:author id="{954093EC-F13C-959E-1953-5311221522EB}" name="Rakhee Lala" initials="RL" userId="S::Rakhee.Lala@vumatel.co.za::3ecff061-49d7-4041-b907-860114b6ba0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7C1C91"/>
    <a:srgbClr val="F4F1EC"/>
    <a:srgbClr val="F5E3F9"/>
    <a:srgbClr val="B3392B"/>
    <a:srgbClr val="1F7A33"/>
    <a:srgbClr val="B499C7"/>
    <a:srgbClr val="F6F3F9"/>
    <a:srgbClr val="4C1758"/>
    <a:srgbClr val="AF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976D25-CE6F-450E-806F-34727A5963EF}" v="30215" dt="2026-09-29T08:22:26.9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9" d="100"/>
          <a:sy n="89" d="100"/>
        </p:scale>
        <p:origin x="184" y="44"/>
      </p:cViewPr>
      <p:guideLst>
        <p:guide pos="374"/>
        <p:guide orient="horz" pos="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735653"/>
          </a:xfrm>
          <a:prstGeom prst="rect">
            <a:avLst/>
          </a:prstGeom>
        </p:spPr>
        <p:txBody>
          <a:bodyPr vert="horz" lIns="142253" tIns="71127" rIns="142253" bIns="71127" rtlCol="0"/>
          <a:lstStyle>
            <a:lvl1pPr algn="l">
              <a:defRPr sz="18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6" y="0"/>
            <a:ext cx="4434999" cy="735653"/>
          </a:xfrm>
          <a:prstGeom prst="rect">
            <a:avLst/>
          </a:prstGeom>
        </p:spPr>
        <p:txBody>
          <a:bodyPr vert="horz" lIns="142253" tIns="71127" rIns="142253" bIns="71127" rtlCol="0"/>
          <a:lstStyle>
            <a:lvl1pPr algn="r">
              <a:defRPr sz="1800"/>
            </a:lvl1pPr>
          </a:lstStyle>
          <a:p>
            <a:fld id="{8568BBD5-5F15-F945-B14F-E3307A666A2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19250" y="1833563"/>
            <a:ext cx="6996113" cy="4946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42253" tIns="71127" rIns="142253" bIns="7112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2" y="7056159"/>
            <a:ext cx="8187690" cy="5773222"/>
          </a:xfrm>
          <a:prstGeom prst="rect">
            <a:avLst/>
          </a:prstGeom>
        </p:spPr>
        <p:txBody>
          <a:bodyPr vert="horz" lIns="142253" tIns="71127" rIns="142253" bIns="71127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926499"/>
            <a:ext cx="4434999" cy="735652"/>
          </a:xfrm>
          <a:prstGeom prst="rect">
            <a:avLst/>
          </a:prstGeom>
        </p:spPr>
        <p:txBody>
          <a:bodyPr vert="horz" lIns="142253" tIns="71127" rIns="142253" bIns="71127" rtlCol="0" anchor="b"/>
          <a:lstStyle>
            <a:lvl1pPr algn="l">
              <a:defRPr sz="18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6" y="13926499"/>
            <a:ext cx="4434999" cy="735652"/>
          </a:xfrm>
          <a:prstGeom prst="rect">
            <a:avLst/>
          </a:prstGeom>
        </p:spPr>
        <p:txBody>
          <a:bodyPr vert="horz" lIns="142253" tIns="71127" rIns="142253" bIns="71127" rtlCol="0" anchor="b"/>
          <a:lstStyle>
            <a:lvl1pPr algn="r">
              <a:defRPr sz="1800"/>
            </a:lvl1pPr>
          </a:lstStyle>
          <a:p>
            <a:fld id="{E1F730E8-2BDC-7C4B-A87C-8FABEB9A7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176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Top-down replaces the bottom-up build used in FY2025 to FY2027. Entities keep ownership of the 'how'; Group owns the 'what'.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F30E0-26BB-D7E4-CE9E-A7B81FD18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8A928-202D-DCDC-BC3E-61609D0DF5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04DB4-7A1C-8BD2-1366-831F6424EC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F69D3-F22A-DB6B-2164-2CB06F449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77699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 - Light">
    <p:bg>
      <p:bgPr>
        <a:solidFill>
          <a:srgbClr val="7C1C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6EE0CB56-48EF-0C40-7F6E-9FE2542FD317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9243963" cy="7559675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DF70B843-6F8D-D980-AAA1-0A7636218E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64977" y="6005742"/>
            <a:ext cx="1309747" cy="3779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77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4423C81-522F-C4D4-B0AC-6721618316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68003" y="5926827"/>
            <a:ext cx="2310206" cy="533256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D547428-B46E-2D18-A42A-018CB15889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457" y="795357"/>
            <a:ext cx="7575519" cy="1022592"/>
          </a:xfrm>
        </p:spPr>
        <p:txBody>
          <a:bodyPr vert="horz" lIns="91440" tIns="45720" rIns="91440" bIns="45720" rtlCol="0" anchor="b">
            <a:normAutofit/>
          </a:bodyPr>
          <a:lstStyle>
            <a:lvl1pPr algn="l">
              <a:buNone/>
              <a:defRPr lang="en-US" sz="5400" b="1" i="0" dirty="0" smtClean="0">
                <a:solidFill>
                  <a:srgbClr val="7C1C91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add title in Calibri light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4B6EB643-1520-A579-0A40-798BEA7581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531" y="1842511"/>
            <a:ext cx="7575519" cy="525056"/>
          </a:xfrm>
        </p:spPr>
        <p:txBody>
          <a:bodyPr vert="horz" lIns="91440" tIns="45720" rIns="91440" bIns="45720" rtlCol="0" anchor="b">
            <a:normAutofit/>
          </a:bodyPr>
          <a:lstStyle>
            <a:lvl1pPr algn="l">
              <a:buNone/>
              <a:defRPr lang="en-US" sz="2456" b="1" i="0" dirty="0" smtClean="0">
                <a:solidFill>
                  <a:srgbClr val="7C1C91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add subtitle in Calibri light</a:t>
            </a:r>
          </a:p>
        </p:txBody>
      </p:sp>
    </p:spTree>
    <p:extLst>
      <p:ext uri="{BB962C8B-B14F-4D97-AF65-F5344CB8AC3E}">
        <p14:creationId xmlns:p14="http://schemas.microsoft.com/office/powerpoint/2010/main" val="3656269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 - Dark">
    <p:bg>
      <p:bgPr>
        <a:solidFill>
          <a:srgbClr val="7C1C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8ACABD4-DD20-C2AB-E99F-0AC7D6B90D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8392" y="787390"/>
            <a:ext cx="9398123" cy="1022592"/>
          </a:xfrm>
        </p:spPr>
        <p:txBody>
          <a:bodyPr vert="horz" lIns="91440" tIns="45720" rIns="91440" bIns="45720" rtlCol="0" anchor="b">
            <a:normAutofit/>
          </a:bodyPr>
          <a:lstStyle>
            <a:lvl1pPr algn="l">
              <a:buNone/>
              <a:defRPr lang="en-US" sz="6000" b="1" i="0" dirty="0" smtClean="0">
                <a:solidFill>
                  <a:schemeClr val="bg1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add title in Calibri light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8534D79-C90D-28BC-6E7C-CD4F69B622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5698" y="1842511"/>
            <a:ext cx="9380817" cy="525056"/>
          </a:xfrm>
        </p:spPr>
        <p:txBody>
          <a:bodyPr vert="horz" lIns="91440" tIns="45720" rIns="91440" bIns="45720" rtlCol="0" anchor="b">
            <a:normAutofit/>
          </a:bodyPr>
          <a:lstStyle>
            <a:lvl1pPr algn="l">
              <a:buNone/>
              <a:defRPr lang="en-US" sz="2456" b="1" i="0" dirty="0" smtClean="0">
                <a:solidFill>
                  <a:schemeClr val="bg1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add subtitle in Calibri light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190F3AE-880F-A9DC-10D7-529482152610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352979" y="0"/>
            <a:ext cx="2338834" cy="7559675"/>
          </a:xfrm>
          <a:prstGeom prst="rect">
            <a:avLst/>
          </a:prstGeom>
        </p:spPr>
      </p:pic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88551B0-3503-9DFD-3FA2-12180F13F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0934" y="6005742"/>
            <a:ext cx="1309747" cy="3779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77" b="0" i="0">
                <a:solidFill>
                  <a:srgbClr val="7C1C9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>
              <a:solidFill>
                <a:srgbClr val="7C1C91"/>
              </a:solidFill>
            </a:endParaRPr>
          </a:p>
        </p:txBody>
      </p:sp>
      <p:pic>
        <p:nvPicPr>
          <p:cNvPr id="5" name="Graphic 7">
            <a:extLst>
              <a:ext uri="{FF2B5EF4-FFF2-40B4-BE49-F238E27FC236}">
                <a16:creationId xmlns:a16="http://schemas.microsoft.com/office/drawing/2014/main" id="{74AF160C-BF21-9FE7-0829-66D0AC48DB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60526" y="5879247"/>
            <a:ext cx="2300866" cy="62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437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5C271D0A-16FE-083B-80E5-8550E57AC7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89941" y="-61591"/>
            <a:ext cx="10796742" cy="76385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45906" y="862149"/>
            <a:ext cx="4610845" cy="1683233"/>
          </a:xfrm>
        </p:spPr>
        <p:txBody>
          <a:bodyPr anchor="b">
            <a:normAutofit/>
          </a:bodyPr>
          <a:lstStyle>
            <a:lvl1pPr algn="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header/title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45905" y="2853706"/>
            <a:ext cx="4610845" cy="742935"/>
          </a:xfrm>
        </p:spPr>
        <p:txBody>
          <a:bodyPr>
            <a:normAutofit/>
          </a:bodyPr>
          <a:lstStyle>
            <a:lvl1pPr marL="0" indent="0" algn="r">
              <a:buNone/>
              <a:defRPr sz="2250">
                <a:solidFill>
                  <a:schemeClr val="bg1"/>
                </a:solidFill>
              </a:defRPr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GB"/>
              <a:t>Click to insert client name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E7FE399-168F-6876-ED66-9FF238ECB5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5905" y="3904965"/>
            <a:ext cx="4610845" cy="344818"/>
          </a:xfrm>
        </p:spPr>
        <p:txBody>
          <a:bodyPr>
            <a:normAutofit/>
          </a:bodyPr>
          <a:lstStyle>
            <a:lvl1pPr marL="0" indent="0" algn="r">
              <a:buNone/>
              <a:defRPr sz="175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insert date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D7F288-18B2-E295-0748-C9C5E537F7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1427" y="6593561"/>
            <a:ext cx="1161535" cy="20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605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9B2438ED-8586-65E5-236B-A34CA4EC656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53788" y="-38031"/>
            <a:ext cx="10799389" cy="7635737"/>
          </a:xfrm>
        </p:spPr>
        <p:txBody>
          <a:bodyPr/>
          <a:lstStyle/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F1A3148-CD73-4A03-EF67-BF2B9D32BC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467864" y="737115"/>
            <a:ext cx="11146250" cy="7490689"/>
          </a:xfrm>
          <a:prstGeom prst="rect">
            <a:avLst/>
          </a:prstGeom>
        </p:spPr>
      </p:pic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F5EBE5B2-A5C7-0A67-DFB2-7826C859EF8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2431475" y="1318696"/>
            <a:ext cx="4482522" cy="6327569"/>
          </a:xfrm>
          <a:custGeom>
            <a:avLst/>
            <a:gdLst>
              <a:gd name="connsiteX0" fmla="*/ 0 w 4884737"/>
              <a:gd name="connsiteY0" fmla="*/ 6496386 h 6496386"/>
              <a:gd name="connsiteX1" fmla="*/ 1221184 w 4884737"/>
              <a:gd name="connsiteY1" fmla="*/ 0 h 6496386"/>
              <a:gd name="connsiteX2" fmla="*/ 4884737 w 4884737"/>
              <a:gd name="connsiteY2" fmla="*/ 0 h 6496386"/>
              <a:gd name="connsiteX3" fmla="*/ 3663553 w 4884737"/>
              <a:gd name="connsiteY3" fmla="*/ 6496386 h 6496386"/>
              <a:gd name="connsiteX4" fmla="*/ 0 w 4884737"/>
              <a:gd name="connsiteY4" fmla="*/ 6496386 h 6496386"/>
              <a:gd name="connsiteX0" fmla="*/ 0 w 4437928"/>
              <a:gd name="connsiteY0" fmla="*/ 6496386 h 6496386"/>
              <a:gd name="connsiteX1" fmla="*/ 1221184 w 4437928"/>
              <a:gd name="connsiteY1" fmla="*/ 0 h 6496386"/>
              <a:gd name="connsiteX2" fmla="*/ 4437928 w 4437928"/>
              <a:gd name="connsiteY2" fmla="*/ 1610591 h 6496386"/>
              <a:gd name="connsiteX3" fmla="*/ 3663553 w 4437928"/>
              <a:gd name="connsiteY3" fmla="*/ 6496386 h 6496386"/>
              <a:gd name="connsiteX4" fmla="*/ 0 w 4437928"/>
              <a:gd name="connsiteY4" fmla="*/ 6496386 h 6496386"/>
              <a:gd name="connsiteX0" fmla="*/ 0 w 4437928"/>
              <a:gd name="connsiteY0" fmla="*/ 6745768 h 6745768"/>
              <a:gd name="connsiteX1" fmla="*/ 3185066 w 4437928"/>
              <a:gd name="connsiteY1" fmla="*/ 0 h 6745768"/>
              <a:gd name="connsiteX2" fmla="*/ 4437928 w 4437928"/>
              <a:gd name="connsiteY2" fmla="*/ 1859973 h 6745768"/>
              <a:gd name="connsiteX3" fmla="*/ 3663553 w 4437928"/>
              <a:gd name="connsiteY3" fmla="*/ 6745768 h 6745768"/>
              <a:gd name="connsiteX4" fmla="*/ 0 w 4437928"/>
              <a:gd name="connsiteY4" fmla="*/ 6745768 h 6745768"/>
              <a:gd name="connsiteX0" fmla="*/ 0 w 4915909"/>
              <a:gd name="connsiteY0" fmla="*/ 6724986 h 6745768"/>
              <a:gd name="connsiteX1" fmla="*/ 3663047 w 4915909"/>
              <a:gd name="connsiteY1" fmla="*/ 0 h 6745768"/>
              <a:gd name="connsiteX2" fmla="*/ 4915909 w 4915909"/>
              <a:gd name="connsiteY2" fmla="*/ 1859973 h 6745768"/>
              <a:gd name="connsiteX3" fmla="*/ 4141534 w 4915909"/>
              <a:gd name="connsiteY3" fmla="*/ 6745768 h 6745768"/>
              <a:gd name="connsiteX4" fmla="*/ 0 w 4915909"/>
              <a:gd name="connsiteY4" fmla="*/ 6724986 h 6745768"/>
              <a:gd name="connsiteX0" fmla="*/ 0 w 4915909"/>
              <a:gd name="connsiteY0" fmla="*/ 6724986 h 6745768"/>
              <a:gd name="connsiteX1" fmla="*/ 3663047 w 4915909"/>
              <a:gd name="connsiteY1" fmla="*/ 0 h 6745768"/>
              <a:gd name="connsiteX2" fmla="*/ 4915909 w 4915909"/>
              <a:gd name="connsiteY2" fmla="*/ 1859973 h 6745768"/>
              <a:gd name="connsiteX3" fmla="*/ 2821888 w 4915909"/>
              <a:gd name="connsiteY3" fmla="*/ 6745768 h 6745768"/>
              <a:gd name="connsiteX4" fmla="*/ 0 w 4915909"/>
              <a:gd name="connsiteY4" fmla="*/ 6724986 h 6745768"/>
              <a:gd name="connsiteX0" fmla="*/ 0 w 4787322"/>
              <a:gd name="connsiteY0" fmla="*/ 6724986 h 6745768"/>
              <a:gd name="connsiteX1" fmla="*/ 3663047 w 4787322"/>
              <a:gd name="connsiteY1" fmla="*/ 0 h 6745768"/>
              <a:gd name="connsiteX2" fmla="*/ 4787322 w 4787322"/>
              <a:gd name="connsiteY2" fmla="*/ 2131435 h 6745768"/>
              <a:gd name="connsiteX3" fmla="*/ 2821888 w 4787322"/>
              <a:gd name="connsiteY3" fmla="*/ 6745768 h 6745768"/>
              <a:gd name="connsiteX4" fmla="*/ 0 w 4787322"/>
              <a:gd name="connsiteY4" fmla="*/ 6724986 h 6745768"/>
              <a:gd name="connsiteX0" fmla="*/ 0 w 4380922"/>
              <a:gd name="connsiteY0" fmla="*/ 6724986 h 6745768"/>
              <a:gd name="connsiteX1" fmla="*/ 3663047 w 4380922"/>
              <a:gd name="connsiteY1" fmla="*/ 0 h 6745768"/>
              <a:gd name="connsiteX2" fmla="*/ 4380922 w 4380922"/>
              <a:gd name="connsiteY2" fmla="*/ 2241502 h 6745768"/>
              <a:gd name="connsiteX3" fmla="*/ 2821888 w 4380922"/>
              <a:gd name="connsiteY3" fmla="*/ 6745768 h 6745768"/>
              <a:gd name="connsiteX4" fmla="*/ 0 w 4380922"/>
              <a:gd name="connsiteY4" fmla="*/ 6724986 h 6745768"/>
              <a:gd name="connsiteX0" fmla="*/ 0 w 4749222"/>
              <a:gd name="connsiteY0" fmla="*/ 6724986 h 6745768"/>
              <a:gd name="connsiteX1" fmla="*/ 3663047 w 4749222"/>
              <a:gd name="connsiteY1" fmla="*/ 0 h 6745768"/>
              <a:gd name="connsiteX2" fmla="*/ 4749222 w 4749222"/>
              <a:gd name="connsiteY2" fmla="*/ 2148369 h 6745768"/>
              <a:gd name="connsiteX3" fmla="*/ 2821888 w 4749222"/>
              <a:gd name="connsiteY3" fmla="*/ 6745768 h 6745768"/>
              <a:gd name="connsiteX4" fmla="*/ 0 w 4749222"/>
              <a:gd name="connsiteY4" fmla="*/ 6724986 h 6745768"/>
              <a:gd name="connsiteX0" fmla="*/ 0 w 4749222"/>
              <a:gd name="connsiteY0" fmla="*/ 6724986 h 6741534"/>
              <a:gd name="connsiteX1" fmla="*/ 3663047 w 4749222"/>
              <a:gd name="connsiteY1" fmla="*/ 0 h 6741534"/>
              <a:gd name="connsiteX2" fmla="*/ 4749222 w 4749222"/>
              <a:gd name="connsiteY2" fmla="*/ 2148369 h 6741534"/>
              <a:gd name="connsiteX3" fmla="*/ 2618688 w 4749222"/>
              <a:gd name="connsiteY3" fmla="*/ 6741534 h 6741534"/>
              <a:gd name="connsiteX4" fmla="*/ 0 w 4749222"/>
              <a:gd name="connsiteY4" fmla="*/ 6724986 h 6741534"/>
              <a:gd name="connsiteX0" fmla="*/ 0 w 4482522"/>
              <a:gd name="connsiteY0" fmla="*/ 6737686 h 6741534"/>
              <a:gd name="connsiteX1" fmla="*/ 3396347 w 4482522"/>
              <a:gd name="connsiteY1" fmla="*/ 0 h 6741534"/>
              <a:gd name="connsiteX2" fmla="*/ 4482522 w 4482522"/>
              <a:gd name="connsiteY2" fmla="*/ 2148369 h 6741534"/>
              <a:gd name="connsiteX3" fmla="*/ 2351988 w 4482522"/>
              <a:gd name="connsiteY3" fmla="*/ 6741534 h 6741534"/>
              <a:gd name="connsiteX4" fmla="*/ 0 w 4482522"/>
              <a:gd name="connsiteY4" fmla="*/ 6737686 h 6741534"/>
              <a:gd name="connsiteX0" fmla="*/ 0 w 4482522"/>
              <a:gd name="connsiteY0" fmla="*/ 6835053 h 6838901"/>
              <a:gd name="connsiteX1" fmla="*/ 3442914 w 4482522"/>
              <a:gd name="connsiteY1" fmla="*/ 0 h 6838901"/>
              <a:gd name="connsiteX2" fmla="*/ 4482522 w 4482522"/>
              <a:gd name="connsiteY2" fmla="*/ 2245736 h 6838901"/>
              <a:gd name="connsiteX3" fmla="*/ 2351988 w 4482522"/>
              <a:gd name="connsiteY3" fmla="*/ 6838901 h 6838901"/>
              <a:gd name="connsiteX4" fmla="*/ 0 w 4482522"/>
              <a:gd name="connsiteY4" fmla="*/ 6835053 h 6838901"/>
              <a:gd name="connsiteX0" fmla="*/ 0 w 4521395"/>
              <a:gd name="connsiteY0" fmla="*/ 7013588 h 7017436"/>
              <a:gd name="connsiteX1" fmla="*/ 3442914 w 4521395"/>
              <a:gd name="connsiteY1" fmla="*/ 178535 h 7017436"/>
              <a:gd name="connsiteX2" fmla="*/ 4482522 w 4521395"/>
              <a:gd name="connsiteY2" fmla="*/ 2424271 h 7017436"/>
              <a:gd name="connsiteX3" fmla="*/ 2351988 w 4521395"/>
              <a:gd name="connsiteY3" fmla="*/ 7017436 h 7017436"/>
              <a:gd name="connsiteX4" fmla="*/ 0 w 4521395"/>
              <a:gd name="connsiteY4" fmla="*/ 7013588 h 7017436"/>
              <a:gd name="connsiteX0" fmla="*/ 0 w 4513286"/>
              <a:gd name="connsiteY0" fmla="*/ 6507983 h 6511831"/>
              <a:gd name="connsiteX1" fmla="*/ 3265114 w 4513286"/>
              <a:gd name="connsiteY1" fmla="*/ 227496 h 6511831"/>
              <a:gd name="connsiteX2" fmla="*/ 4482522 w 4513286"/>
              <a:gd name="connsiteY2" fmla="*/ 1918666 h 6511831"/>
              <a:gd name="connsiteX3" fmla="*/ 2351988 w 4513286"/>
              <a:gd name="connsiteY3" fmla="*/ 6511831 h 6511831"/>
              <a:gd name="connsiteX4" fmla="*/ 0 w 4513286"/>
              <a:gd name="connsiteY4" fmla="*/ 6507983 h 6511831"/>
              <a:gd name="connsiteX0" fmla="*/ 0 w 4502533"/>
              <a:gd name="connsiteY0" fmla="*/ 6282881 h 6286729"/>
              <a:gd name="connsiteX1" fmla="*/ 3265114 w 4502533"/>
              <a:gd name="connsiteY1" fmla="*/ 2394 h 6286729"/>
              <a:gd name="connsiteX2" fmla="*/ 4482522 w 4502533"/>
              <a:gd name="connsiteY2" fmla="*/ 1693564 h 6286729"/>
              <a:gd name="connsiteX3" fmla="*/ 2351988 w 4502533"/>
              <a:gd name="connsiteY3" fmla="*/ 6286729 h 6286729"/>
              <a:gd name="connsiteX4" fmla="*/ 0 w 4502533"/>
              <a:gd name="connsiteY4" fmla="*/ 6282881 h 6286729"/>
              <a:gd name="connsiteX0" fmla="*/ 0 w 4482522"/>
              <a:gd name="connsiteY0" fmla="*/ 6282344 h 6286192"/>
              <a:gd name="connsiteX1" fmla="*/ 3265114 w 4482522"/>
              <a:gd name="connsiteY1" fmla="*/ 1857 h 6286192"/>
              <a:gd name="connsiteX2" fmla="*/ 4482522 w 4482522"/>
              <a:gd name="connsiteY2" fmla="*/ 1693027 h 6286192"/>
              <a:gd name="connsiteX3" fmla="*/ 2351988 w 4482522"/>
              <a:gd name="connsiteY3" fmla="*/ 6286192 h 6286192"/>
              <a:gd name="connsiteX4" fmla="*/ 0 w 4482522"/>
              <a:gd name="connsiteY4" fmla="*/ 6282344 h 6286192"/>
              <a:gd name="connsiteX0" fmla="*/ 0 w 4482522"/>
              <a:gd name="connsiteY0" fmla="*/ 6320362 h 6324210"/>
              <a:gd name="connsiteX1" fmla="*/ 3358248 w 4482522"/>
              <a:gd name="connsiteY1" fmla="*/ 1775 h 6324210"/>
              <a:gd name="connsiteX2" fmla="*/ 4482522 w 4482522"/>
              <a:gd name="connsiteY2" fmla="*/ 1731045 h 6324210"/>
              <a:gd name="connsiteX3" fmla="*/ 2351988 w 4482522"/>
              <a:gd name="connsiteY3" fmla="*/ 6324210 h 6324210"/>
              <a:gd name="connsiteX4" fmla="*/ 0 w 4482522"/>
              <a:gd name="connsiteY4" fmla="*/ 6320362 h 6324210"/>
              <a:gd name="connsiteX0" fmla="*/ 0 w 4482522"/>
              <a:gd name="connsiteY0" fmla="*/ 6330303 h 6334151"/>
              <a:gd name="connsiteX1" fmla="*/ 3358248 w 4482522"/>
              <a:gd name="connsiteY1" fmla="*/ 11716 h 6334151"/>
              <a:gd name="connsiteX2" fmla="*/ 4482522 w 4482522"/>
              <a:gd name="connsiteY2" fmla="*/ 1740986 h 6334151"/>
              <a:gd name="connsiteX3" fmla="*/ 2351988 w 4482522"/>
              <a:gd name="connsiteY3" fmla="*/ 6334151 h 6334151"/>
              <a:gd name="connsiteX4" fmla="*/ 0 w 4482522"/>
              <a:gd name="connsiteY4" fmla="*/ 6330303 h 6334151"/>
              <a:gd name="connsiteX0" fmla="*/ 0 w 4482522"/>
              <a:gd name="connsiteY0" fmla="*/ 6330303 h 6334151"/>
              <a:gd name="connsiteX1" fmla="*/ 3358248 w 4482522"/>
              <a:gd name="connsiteY1" fmla="*/ 11716 h 6334151"/>
              <a:gd name="connsiteX2" fmla="*/ 4482522 w 4482522"/>
              <a:gd name="connsiteY2" fmla="*/ 1740986 h 6334151"/>
              <a:gd name="connsiteX3" fmla="*/ 2351988 w 4482522"/>
              <a:gd name="connsiteY3" fmla="*/ 6334151 h 6334151"/>
              <a:gd name="connsiteX4" fmla="*/ 0 w 4482522"/>
              <a:gd name="connsiteY4" fmla="*/ 6330303 h 6334151"/>
              <a:gd name="connsiteX0" fmla="*/ 0 w 4482522"/>
              <a:gd name="connsiteY0" fmla="*/ 6319531 h 6323379"/>
              <a:gd name="connsiteX1" fmla="*/ 3358248 w 4482522"/>
              <a:gd name="connsiteY1" fmla="*/ 944 h 6323379"/>
              <a:gd name="connsiteX2" fmla="*/ 4482522 w 4482522"/>
              <a:gd name="connsiteY2" fmla="*/ 1730214 h 6323379"/>
              <a:gd name="connsiteX3" fmla="*/ 2351988 w 4482522"/>
              <a:gd name="connsiteY3" fmla="*/ 6323379 h 6323379"/>
              <a:gd name="connsiteX4" fmla="*/ 0 w 4482522"/>
              <a:gd name="connsiteY4" fmla="*/ 6319531 h 6323379"/>
              <a:gd name="connsiteX0" fmla="*/ 0 w 4482522"/>
              <a:gd name="connsiteY0" fmla="*/ 6678717 h 6682565"/>
              <a:gd name="connsiteX1" fmla="*/ 3099764 w 4482522"/>
              <a:gd name="connsiteY1" fmla="*/ 623801 h 6682565"/>
              <a:gd name="connsiteX2" fmla="*/ 3358248 w 4482522"/>
              <a:gd name="connsiteY2" fmla="*/ 360130 h 6682565"/>
              <a:gd name="connsiteX3" fmla="*/ 4482522 w 4482522"/>
              <a:gd name="connsiteY3" fmla="*/ 2089400 h 6682565"/>
              <a:gd name="connsiteX4" fmla="*/ 2351988 w 4482522"/>
              <a:gd name="connsiteY4" fmla="*/ 6682565 h 6682565"/>
              <a:gd name="connsiteX5" fmla="*/ 0 w 4482522"/>
              <a:gd name="connsiteY5" fmla="*/ 6678717 h 6682565"/>
              <a:gd name="connsiteX0" fmla="*/ 0 w 4482522"/>
              <a:gd name="connsiteY0" fmla="*/ 6570728 h 6574576"/>
              <a:gd name="connsiteX1" fmla="*/ 3099764 w 4482522"/>
              <a:gd name="connsiteY1" fmla="*/ 515812 h 6574576"/>
              <a:gd name="connsiteX2" fmla="*/ 3819681 w 4482522"/>
              <a:gd name="connsiteY2" fmla="*/ 552707 h 6574576"/>
              <a:gd name="connsiteX3" fmla="*/ 4482522 w 4482522"/>
              <a:gd name="connsiteY3" fmla="*/ 1981411 h 6574576"/>
              <a:gd name="connsiteX4" fmla="*/ 2351988 w 4482522"/>
              <a:gd name="connsiteY4" fmla="*/ 6574576 h 6574576"/>
              <a:gd name="connsiteX5" fmla="*/ 0 w 4482522"/>
              <a:gd name="connsiteY5" fmla="*/ 6570728 h 6574576"/>
              <a:gd name="connsiteX0" fmla="*/ 0 w 4482522"/>
              <a:gd name="connsiteY0" fmla="*/ 6570728 h 6574576"/>
              <a:gd name="connsiteX1" fmla="*/ 3099764 w 4482522"/>
              <a:gd name="connsiteY1" fmla="*/ 515812 h 6574576"/>
              <a:gd name="connsiteX2" fmla="*/ 3819681 w 4482522"/>
              <a:gd name="connsiteY2" fmla="*/ 552707 h 6574576"/>
              <a:gd name="connsiteX3" fmla="*/ 4482522 w 4482522"/>
              <a:gd name="connsiteY3" fmla="*/ 1981411 h 6574576"/>
              <a:gd name="connsiteX4" fmla="*/ 2351988 w 4482522"/>
              <a:gd name="connsiteY4" fmla="*/ 6574576 h 6574576"/>
              <a:gd name="connsiteX5" fmla="*/ 0 w 4482522"/>
              <a:gd name="connsiteY5" fmla="*/ 6570728 h 6574576"/>
              <a:gd name="connsiteX0" fmla="*/ 0 w 4482522"/>
              <a:gd name="connsiteY0" fmla="*/ 6586546 h 6590394"/>
              <a:gd name="connsiteX1" fmla="*/ 3099764 w 4482522"/>
              <a:gd name="connsiteY1" fmla="*/ 531630 h 6590394"/>
              <a:gd name="connsiteX2" fmla="*/ 3819681 w 4482522"/>
              <a:gd name="connsiteY2" fmla="*/ 568525 h 6590394"/>
              <a:gd name="connsiteX3" fmla="*/ 4482522 w 4482522"/>
              <a:gd name="connsiteY3" fmla="*/ 1997229 h 6590394"/>
              <a:gd name="connsiteX4" fmla="*/ 2351988 w 4482522"/>
              <a:gd name="connsiteY4" fmla="*/ 6590394 h 6590394"/>
              <a:gd name="connsiteX5" fmla="*/ 0 w 4482522"/>
              <a:gd name="connsiteY5" fmla="*/ 6586546 h 6590394"/>
              <a:gd name="connsiteX0" fmla="*/ 0 w 4482522"/>
              <a:gd name="connsiteY0" fmla="*/ 6526700 h 6530548"/>
              <a:gd name="connsiteX1" fmla="*/ 3099764 w 4482522"/>
              <a:gd name="connsiteY1" fmla="*/ 471784 h 6530548"/>
              <a:gd name="connsiteX2" fmla="*/ 3819681 w 4482522"/>
              <a:gd name="connsiteY2" fmla="*/ 508679 h 6530548"/>
              <a:gd name="connsiteX3" fmla="*/ 4482522 w 4482522"/>
              <a:gd name="connsiteY3" fmla="*/ 1937383 h 6530548"/>
              <a:gd name="connsiteX4" fmla="*/ 2351988 w 4482522"/>
              <a:gd name="connsiteY4" fmla="*/ 6530548 h 6530548"/>
              <a:gd name="connsiteX5" fmla="*/ 0 w 4482522"/>
              <a:gd name="connsiteY5" fmla="*/ 6526700 h 6530548"/>
              <a:gd name="connsiteX0" fmla="*/ 0 w 4482522"/>
              <a:gd name="connsiteY0" fmla="*/ 6512073 h 6515921"/>
              <a:gd name="connsiteX1" fmla="*/ 3002397 w 4482522"/>
              <a:gd name="connsiteY1" fmla="*/ 537590 h 6515921"/>
              <a:gd name="connsiteX2" fmla="*/ 3819681 w 4482522"/>
              <a:gd name="connsiteY2" fmla="*/ 494052 h 6515921"/>
              <a:gd name="connsiteX3" fmla="*/ 4482522 w 4482522"/>
              <a:gd name="connsiteY3" fmla="*/ 1922756 h 6515921"/>
              <a:gd name="connsiteX4" fmla="*/ 2351988 w 4482522"/>
              <a:gd name="connsiteY4" fmla="*/ 6515921 h 6515921"/>
              <a:gd name="connsiteX5" fmla="*/ 0 w 4482522"/>
              <a:gd name="connsiteY5" fmla="*/ 6512073 h 6515921"/>
              <a:gd name="connsiteX0" fmla="*/ 0 w 4482522"/>
              <a:gd name="connsiteY0" fmla="*/ 6363191 h 6367039"/>
              <a:gd name="connsiteX1" fmla="*/ 2976997 w 4482522"/>
              <a:gd name="connsiteY1" fmla="*/ 456441 h 6367039"/>
              <a:gd name="connsiteX2" fmla="*/ 3002397 w 4482522"/>
              <a:gd name="connsiteY2" fmla="*/ 388708 h 6367039"/>
              <a:gd name="connsiteX3" fmla="*/ 3819681 w 4482522"/>
              <a:gd name="connsiteY3" fmla="*/ 345170 h 6367039"/>
              <a:gd name="connsiteX4" fmla="*/ 4482522 w 4482522"/>
              <a:gd name="connsiteY4" fmla="*/ 1773874 h 6367039"/>
              <a:gd name="connsiteX5" fmla="*/ 2351988 w 4482522"/>
              <a:gd name="connsiteY5" fmla="*/ 6367039 h 6367039"/>
              <a:gd name="connsiteX6" fmla="*/ 0 w 4482522"/>
              <a:gd name="connsiteY6" fmla="*/ 6363191 h 6367039"/>
              <a:gd name="connsiteX0" fmla="*/ 0 w 4482522"/>
              <a:gd name="connsiteY0" fmla="*/ 6480034 h 6483882"/>
              <a:gd name="connsiteX1" fmla="*/ 2976997 w 4482522"/>
              <a:gd name="connsiteY1" fmla="*/ 573284 h 6483882"/>
              <a:gd name="connsiteX2" fmla="*/ 3404563 w 4482522"/>
              <a:gd name="connsiteY2" fmla="*/ 166884 h 6483882"/>
              <a:gd name="connsiteX3" fmla="*/ 3819681 w 4482522"/>
              <a:gd name="connsiteY3" fmla="*/ 462013 h 6483882"/>
              <a:gd name="connsiteX4" fmla="*/ 4482522 w 4482522"/>
              <a:gd name="connsiteY4" fmla="*/ 1890717 h 6483882"/>
              <a:gd name="connsiteX5" fmla="*/ 2351988 w 4482522"/>
              <a:gd name="connsiteY5" fmla="*/ 6483882 h 6483882"/>
              <a:gd name="connsiteX6" fmla="*/ 0 w 4482522"/>
              <a:gd name="connsiteY6" fmla="*/ 6480034 h 6483882"/>
              <a:gd name="connsiteX0" fmla="*/ 0 w 4482522"/>
              <a:gd name="connsiteY0" fmla="*/ 6317735 h 6321583"/>
              <a:gd name="connsiteX1" fmla="*/ 2976997 w 4482522"/>
              <a:gd name="connsiteY1" fmla="*/ 410985 h 6321583"/>
              <a:gd name="connsiteX2" fmla="*/ 3404563 w 4482522"/>
              <a:gd name="connsiteY2" fmla="*/ 4585 h 6321583"/>
              <a:gd name="connsiteX3" fmla="*/ 3819681 w 4482522"/>
              <a:gd name="connsiteY3" fmla="*/ 299714 h 6321583"/>
              <a:gd name="connsiteX4" fmla="*/ 4482522 w 4482522"/>
              <a:gd name="connsiteY4" fmla="*/ 1728418 h 6321583"/>
              <a:gd name="connsiteX5" fmla="*/ 2351988 w 4482522"/>
              <a:gd name="connsiteY5" fmla="*/ 6321583 h 6321583"/>
              <a:gd name="connsiteX6" fmla="*/ 0 w 4482522"/>
              <a:gd name="connsiteY6" fmla="*/ 6317735 h 6321583"/>
              <a:gd name="connsiteX0" fmla="*/ 0 w 4482522"/>
              <a:gd name="connsiteY0" fmla="*/ 6313150 h 6316998"/>
              <a:gd name="connsiteX1" fmla="*/ 2976997 w 4482522"/>
              <a:gd name="connsiteY1" fmla="*/ 406400 h 6316998"/>
              <a:gd name="connsiteX2" fmla="*/ 3404563 w 4482522"/>
              <a:gd name="connsiteY2" fmla="*/ 0 h 6316998"/>
              <a:gd name="connsiteX3" fmla="*/ 3819681 w 4482522"/>
              <a:gd name="connsiteY3" fmla="*/ 295129 h 6316998"/>
              <a:gd name="connsiteX4" fmla="*/ 4482522 w 4482522"/>
              <a:gd name="connsiteY4" fmla="*/ 1723833 h 6316998"/>
              <a:gd name="connsiteX5" fmla="*/ 2351988 w 4482522"/>
              <a:gd name="connsiteY5" fmla="*/ 6316998 h 6316998"/>
              <a:gd name="connsiteX6" fmla="*/ 0 w 4482522"/>
              <a:gd name="connsiteY6" fmla="*/ 6313150 h 6316998"/>
              <a:gd name="connsiteX0" fmla="*/ 0 w 4482522"/>
              <a:gd name="connsiteY0" fmla="*/ 6313150 h 6316998"/>
              <a:gd name="connsiteX1" fmla="*/ 2976997 w 4482522"/>
              <a:gd name="connsiteY1" fmla="*/ 406400 h 6316998"/>
              <a:gd name="connsiteX2" fmla="*/ 3404563 w 4482522"/>
              <a:gd name="connsiteY2" fmla="*/ 0 h 6316998"/>
              <a:gd name="connsiteX3" fmla="*/ 3815448 w 4482522"/>
              <a:gd name="connsiteY3" fmla="*/ 282429 h 6316998"/>
              <a:gd name="connsiteX4" fmla="*/ 4482522 w 4482522"/>
              <a:gd name="connsiteY4" fmla="*/ 1723833 h 6316998"/>
              <a:gd name="connsiteX5" fmla="*/ 2351988 w 4482522"/>
              <a:gd name="connsiteY5" fmla="*/ 6316998 h 6316998"/>
              <a:gd name="connsiteX6" fmla="*/ 0 w 4482522"/>
              <a:gd name="connsiteY6" fmla="*/ 6313150 h 6316998"/>
              <a:gd name="connsiteX0" fmla="*/ 0 w 4482522"/>
              <a:gd name="connsiteY0" fmla="*/ 6313150 h 6316998"/>
              <a:gd name="connsiteX1" fmla="*/ 2976997 w 4482522"/>
              <a:gd name="connsiteY1" fmla="*/ 406400 h 6316998"/>
              <a:gd name="connsiteX2" fmla="*/ 3404563 w 4482522"/>
              <a:gd name="connsiteY2" fmla="*/ 0 h 6316998"/>
              <a:gd name="connsiteX3" fmla="*/ 3815448 w 4482522"/>
              <a:gd name="connsiteY3" fmla="*/ 282429 h 6316998"/>
              <a:gd name="connsiteX4" fmla="*/ 4482522 w 4482522"/>
              <a:gd name="connsiteY4" fmla="*/ 1723833 h 6316998"/>
              <a:gd name="connsiteX5" fmla="*/ 2351988 w 4482522"/>
              <a:gd name="connsiteY5" fmla="*/ 6316998 h 6316998"/>
              <a:gd name="connsiteX6" fmla="*/ 0 w 4482522"/>
              <a:gd name="connsiteY6" fmla="*/ 6313150 h 6316998"/>
              <a:gd name="connsiteX0" fmla="*/ 0 w 4482522"/>
              <a:gd name="connsiteY0" fmla="*/ 6321617 h 6325465"/>
              <a:gd name="connsiteX1" fmla="*/ 2976997 w 4482522"/>
              <a:gd name="connsiteY1" fmla="*/ 414867 h 6325465"/>
              <a:gd name="connsiteX2" fmla="*/ 3387630 w 4482522"/>
              <a:gd name="connsiteY2" fmla="*/ 0 h 6325465"/>
              <a:gd name="connsiteX3" fmla="*/ 3815448 w 4482522"/>
              <a:gd name="connsiteY3" fmla="*/ 290896 h 6325465"/>
              <a:gd name="connsiteX4" fmla="*/ 4482522 w 4482522"/>
              <a:gd name="connsiteY4" fmla="*/ 1732300 h 6325465"/>
              <a:gd name="connsiteX5" fmla="*/ 2351988 w 4482522"/>
              <a:gd name="connsiteY5" fmla="*/ 6325465 h 6325465"/>
              <a:gd name="connsiteX6" fmla="*/ 0 w 4482522"/>
              <a:gd name="connsiteY6" fmla="*/ 6321617 h 6325465"/>
              <a:gd name="connsiteX0" fmla="*/ 0 w 4482522"/>
              <a:gd name="connsiteY0" fmla="*/ 6321617 h 6325465"/>
              <a:gd name="connsiteX1" fmla="*/ 2976997 w 4482522"/>
              <a:gd name="connsiteY1" fmla="*/ 414867 h 6325465"/>
              <a:gd name="connsiteX2" fmla="*/ 3387630 w 4482522"/>
              <a:gd name="connsiteY2" fmla="*/ 0 h 6325465"/>
              <a:gd name="connsiteX3" fmla="*/ 3815448 w 4482522"/>
              <a:gd name="connsiteY3" fmla="*/ 290896 h 6325465"/>
              <a:gd name="connsiteX4" fmla="*/ 4482522 w 4482522"/>
              <a:gd name="connsiteY4" fmla="*/ 1732300 h 6325465"/>
              <a:gd name="connsiteX5" fmla="*/ 2351988 w 4482522"/>
              <a:gd name="connsiteY5" fmla="*/ 6325465 h 6325465"/>
              <a:gd name="connsiteX6" fmla="*/ 0 w 4482522"/>
              <a:gd name="connsiteY6" fmla="*/ 6321617 h 6325465"/>
              <a:gd name="connsiteX0" fmla="*/ 0 w 4482522"/>
              <a:gd name="connsiteY0" fmla="*/ 6321617 h 6325465"/>
              <a:gd name="connsiteX1" fmla="*/ 2976997 w 4482522"/>
              <a:gd name="connsiteY1" fmla="*/ 414867 h 6325465"/>
              <a:gd name="connsiteX2" fmla="*/ 3387630 w 4482522"/>
              <a:gd name="connsiteY2" fmla="*/ 0 h 6325465"/>
              <a:gd name="connsiteX3" fmla="*/ 3815448 w 4482522"/>
              <a:gd name="connsiteY3" fmla="*/ 290896 h 6325465"/>
              <a:gd name="connsiteX4" fmla="*/ 4482522 w 4482522"/>
              <a:gd name="connsiteY4" fmla="*/ 1732300 h 6325465"/>
              <a:gd name="connsiteX5" fmla="*/ 2351988 w 4482522"/>
              <a:gd name="connsiteY5" fmla="*/ 6325465 h 6325465"/>
              <a:gd name="connsiteX6" fmla="*/ 0 w 4482522"/>
              <a:gd name="connsiteY6" fmla="*/ 6321617 h 6325465"/>
              <a:gd name="connsiteX0" fmla="*/ 0 w 4482522"/>
              <a:gd name="connsiteY0" fmla="*/ 6321617 h 6325465"/>
              <a:gd name="connsiteX1" fmla="*/ 2976997 w 4482522"/>
              <a:gd name="connsiteY1" fmla="*/ 414867 h 6325465"/>
              <a:gd name="connsiteX2" fmla="*/ 3387630 w 4482522"/>
              <a:gd name="connsiteY2" fmla="*/ 0 h 6325465"/>
              <a:gd name="connsiteX3" fmla="*/ 3815448 w 4482522"/>
              <a:gd name="connsiteY3" fmla="*/ 290896 h 6325465"/>
              <a:gd name="connsiteX4" fmla="*/ 4482522 w 4482522"/>
              <a:gd name="connsiteY4" fmla="*/ 1732300 h 6325465"/>
              <a:gd name="connsiteX5" fmla="*/ 2351988 w 4482522"/>
              <a:gd name="connsiteY5" fmla="*/ 6325465 h 6325465"/>
              <a:gd name="connsiteX6" fmla="*/ 0 w 4482522"/>
              <a:gd name="connsiteY6" fmla="*/ 6321617 h 6325465"/>
              <a:gd name="connsiteX0" fmla="*/ 0 w 4482522"/>
              <a:gd name="connsiteY0" fmla="*/ 6321617 h 6325465"/>
              <a:gd name="connsiteX1" fmla="*/ 2976997 w 4482522"/>
              <a:gd name="connsiteY1" fmla="*/ 414867 h 6325465"/>
              <a:gd name="connsiteX2" fmla="*/ 3387630 w 4482522"/>
              <a:gd name="connsiteY2" fmla="*/ 0 h 6325465"/>
              <a:gd name="connsiteX3" fmla="*/ 3815448 w 4482522"/>
              <a:gd name="connsiteY3" fmla="*/ 290896 h 6325465"/>
              <a:gd name="connsiteX4" fmla="*/ 4482522 w 4482522"/>
              <a:gd name="connsiteY4" fmla="*/ 1732300 h 6325465"/>
              <a:gd name="connsiteX5" fmla="*/ 2351988 w 4482522"/>
              <a:gd name="connsiteY5" fmla="*/ 6325465 h 6325465"/>
              <a:gd name="connsiteX6" fmla="*/ 0 w 4482522"/>
              <a:gd name="connsiteY6" fmla="*/ 6321617 h 6325465"/>
              <a:gd name="connsiteX0" fmla="*/ 0 w 4482522"/>
              <a:gd name="connsiteY0" fmla="*/ 6321617 h 6325465"/>
              <a:gd name="connsiteX1" fmla="*/ 2960064 w 4482522"/>
              <a:gd name="connsiteY1" fmla="*/ 440267 h 6325465"/>
              <a:gd name="connsiteX2" fmla="*/ 3387630 w 4482522"/>
              <a:gd name="connsiteY2" fmla="*/ 0 h 6325465"/>
              <a:gd name="connsiteX3" fmla="*/ 3815448 w 4482522"/>
              <a:gd name="connsiteY3" fmla="*/ 290896 h 6325465"/>
              <a:gd name="connsiteX4" fmla="*/ 4482522 w 4482522"/>
              <a:gd name="connsiteY4" fmla="*/ 1732300 h 6325465"/>
              <a:gd name="connsiteX5" fmla="*/ 2351988 w 4482522"/>
              <a:gd name="connsiteY5" fmla="*/ 6325465 h 6325465"/>
              <a:gd name="connsiteX6" fmla="*/ 0 w 4482522"/>
              <a:gd name="connsiteY6" fmla="*/ 6321617 h 6325465"/>
              <a:gd name="connsiteX0" fmla="*/ 0 w 4482522"/>
              <a:gd name="connsiteY0" fmla="*/ 6321617 h 6325465"/>
              <a:gd name="connsiteX1" fmla="*/ 2960064 w 4482522"/>
              <a:gd name="connsiteY1" fmla="*/ 440267 h 6325465"/>
              <a:gd name="connsiteX2" fmla="*/ 3387630 w 4482522"/>
              <a:gd name="connsiteY2" fmla="*/ 0 h 6325465"/>
              <a:gd name="connsiteX3" fmla="*/ 3815448 w 4482522"/>
              <a:gd name="connsiteY3" fmla="*/ 290896 h 6325465"/>
              <a:gd name="connsiteX4" fmla="*/ 4482522 w 4482522"/>
              <a:gd name="connsiteY4" fmla="*/ 1732300 h 6325465"/>
              <a:gd name="connsiteX5" fmla="*/ 2351988 w 4482522"/>
              <a:gd name="connsiteY5" fmla="*/ 6325465 h 6325465"/>
              <a:gd name="connsiteX6" fmla="*/ 0 w 4482522"/>
              <a:gd name="connsiteY6" fmla="*/ 6321617 h 6325465"/>
              <a:gd name="connsiteX0" fmla="*/ 0 w 4482522"/>
              <a:gd name="connsiteY0" fmla="*/ 6323721 h 6327569"/>
              <a:gd name="connsiteX1" fmla="*/ 2960064 w 4482522"/>
              <a:gd name="connsiteY1" fmla="*/ 442371 h 6327569"/>
              <a:gd name="connsiteX2" fmla="*/ 3387630 w 4482522"/>
              <a:gd name="connsiteY2" fmla="*/ 2104 h 6327569"/>
              <a:gd name="connsiteX3" fmla="*/ 3815448 w 4482522"/>
              <a:gd name="connsiteY3" fmla="*/ 293000 h 6327569"/>
              <a:gd name="connsiteX4" fmla="*/ 4482522 w 4482522"/>
              <a:gd name="connsiteY4" fmla="*/ 1734404 h 6327569"/>
              <a:gd name="connsiteX5" fmla="*/ 2351988 w 4482522"/>
              <a:gd name="connsiteY5" fmla="*/ 6327569 h 6327569"/>
              <a:gd name="connsiteX6" fmla="*/ 0 w 4482522"/>
              <a:gd name="connsiteY6" fmla="*/ 6323721 h 6327569"/>
              <a:gd name="connsiteX0" fmla="*/ 0 w 4482522"/>
              <a:gd name="connsiteY0" fmla="*/ 6323721 h 6327569"/>
              <a:gd name="connsiteX1" fmla="*/ 2960064 w 4482522"/>
              <a:gd name="connsiteY1" fmla="*/ 442371 h 6327569"/>
              <a:gd name="connsiteX2" fmla="*/ 3387630 w 4482522"/>
              <a:gd name="connsiteY2" fmla="*/ 2104 h 6327569"/>
              <a:gd name="connsiteX3" fmla="*/ 3815448 w 4482522"/>
              <a:gd name="connsiteY3" fmla="*/ 293000 h 6327569"/>
              <a:gd name="connsiteX4" fmla="*/ 4482522 w 4482522"/>
              <a:gd name="connsiteY4" fmla="*/ 1734404 h 6327569"/>
              <a:gd name="connsiteX5" fmla="*/ 2351988 w 4482522"/>
              <a:gd name="connsiteY5" fmla="*/ 6327569 h 6327569"/>
              <a:gd name="connsiteX6" fmla="*/ 0 w 4482522"/>
              <a:gd name="connsiteY6" fmla="*/ 6323721 h 6327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82522" h="6327569">
                <a:moveTo>
                  <a:pt x="0" y="6323721"/>
                </a:moveTo>
                <a:cubicBezTo>
                  <a:pt x="497868" y="5342854"/>
                  <a:pt x="2459665" y="1438118"/>
                  <a:pt x="2960064" y="442371"/>
                </a:cubicBezTo>
                <a:cubicBezTo>
                  <a:pt x="3126029" y="60457"/>
                  <a:pt x="3213316" y="29116"/>
                  <a:pt x="3387630" y="2104"/>
                </a:cubicBezTo>
                <a:cubicBezTo>
                  <a:pt x="3506911" y="-12207"/>
                  <a:pt x="3717633" y="42383"/>
                  <a:pt x="3815448" y="293000"/>
                </a:cubicBezTo>
                <a:cubicBezTo>
                  <a:pt x="3811663" y="298084"/>
                  <a:pt x="4075910" y="785087"/>
                  <a:pt x="4482522" y="1734404"/>
                </a:cubicBezTo>
                <a:lnTo>
                  <a:pt x="2351988" y="6327569"/>
                </a:lnTo>
                <a:lnTo>
                  <a:pt x="0" y="6323721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45906" y="862149"/>
            <a:ext cx="4610845" cy="1683233"/>
          </a:xfrm>
        </p:spPr>
        <p:txBody>
          <a:bodyPr anchor="b">
            <a:normAutofit/>
          </a:bodyPr>
          <a:lstStyle>
            <a:lvl1pPr algn="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header/title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45905" y="2853706"/>
            <a:ext cx="4610845" cy="742935"/>
          </a:xfrm>
        </p:spPr>
        <p:txBody>
          <a:bodyPr>
            <a:normAutofit/>
          </a:bodyPr>
          <a:lstStyle>
            <a:lvl1pPr marL="0" indent="0" algn="r">
              <a:buNone/>
              <a:defRPr sz="2250">
                <a:solidFill>
                  <a:schemeClr val="bg1"/>
                </a:solidFill>
              </a:defRPr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GB"/>
              <a:t>Click to insert client name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E7FE399-168F-6876-ED66-9FF238ECB5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5905" y="3904965"/>
            <a:ext cx="4610845" cy="344818"/>
          </a:xfrm>
        </p:spPr>
        <p:txBody>
          <a:bodyPr>
            <a:normAutofit/>
          </a:bodyPr>
          <a:lstStyle>
            <a:lvl1pPr marL="0" indent="0" algn="r">
              <a:buNone/>
              <a:defRPr sz="175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insert date</a:t>
            </a:r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083DD9C-3672-773E-1E4B-DC33C5F0AE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1427" y="6593561"/>
            <a:ext cx="1161535" cy="20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330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9E674D1-74DD-DC4B-1792-C478D02BA2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89941" y="-61591"/>
            <a:ext cx="10796742" cy="76385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63151" y="2909621"/>
            <a:ext cx="2953062" cy="1683233"/>
          </a:xfrm>
        </p:spPr>
        <p:txBody>
          <a:bodyPr anchor="t">
            <a:noAutofit/>
          </a:bodyPr>
          <a:lstStyle>
            <a:lvl1pPr algn="r">
              <a:defRPr sz="75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/>
              <a:t>Edit text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86705" y="2909621"/>
            <a:ext cx="4610845" cy="1683233"/>
          </a:xfrm>
        </p:spPr>
        <p:txBody>
          <a:bodyPr>
            <a:noAutofit/>
          </a:bodyPr>
          <a:lstStyle>
            <a:lvl1pPr marL="0" indent="0" algn="l">
              <a:buNone/>
              <a:defRPr sz="6000" b="1">
                <a:solidFill>
                  <a:schemeClr val="bg1"/>
                </a:solidFill>
              </a:defRPr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GB"/>
              <a:t>Edit 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108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C28469-8068-02A4-DB89-61A154583E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89941" y="-61591"/>
            <a:ext cx="10796742" cy="76385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9845" y="2909621"/>
            <a:ext cx="2953062" cy="1683233"/>
          </a:xfrm>
        </p:spPr>
        <p:txBody>
          <a:bodyPr anchor="t">
            <a:noAutofit/>
          </a:bodyPr>
          <a:lstStyle>
            <a:lvl1pPr algn="r">
              <a:defRPr sz="75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/>
              <a:t>Edit text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63399" y="2909621"/>
            <a:ext cx="4610845" cy="1683233"/>
          </a:xfrm>
        </p:spPr>
        <p:txBody>
          <a:bodyPr>
            <a:noAutofit/>
          </a:bodyPr>
          <a:lstStyle>
            <a:lvl1pPr marL="0" indent="0" algn="l">
              <a:buNone/>
              <a:defRPr sz="6000" b="1">
                <a:solidFill>
                  <a:schemeClr val="bg1"/>
                </a:solidFill>
              </a:defRPr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GB"/>
              <a:t>Edit 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4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39AB2BA-4981-A4BB-C10E-0A15D357A8C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1718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9AB2BA-4981-A4BB-C10E-0A15D357A8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1"/>
            <a:ext cx="4916041" cy="58864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D14A19-D564-8572-44A8-AD8BBB413C95}"/>
              </a:ext>
            </a:extLst>
          </p:cNvPr>
          <p:cNvSpPr/>
          <p:nvPr userDrawn="1"/>
        </p:nvSpPr>
        <p:spPr>
          <a:xfrm>
            <a:off x="5396821" y="971551"/>
            <a:ext cx="4916041" cy="58864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A5CCCC3-4EDA-3ECF-86EF-84EB7FBD2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C54427-277E-8AC9-977B-02FC1B4ACEC6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3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9B043CC2-EB96-12E3-516B-7A43460570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117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B043CC2-EB96-12E3-516B-7A43460570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1"/>
            <a:ext cx="4916041" cy="58864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D14A19-D564-8572-44A8-AD8BBB413C95}"/>
              </a:ext>
            </a:extLst>
          </p:cNvPr>
          <p:cNvSpPr/>
          <p:nvPr userDrawn="1"/>
        </p:nvSpPr>
        <p:spPr>
          <a:xfrm>
            <a:off x="5396821" y="971551"/>
            <a:ext cx="4916041" cy="58864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A5CCCC3-4EDA-3ECF-86EF-84EB7FBD2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56805-EB06-D018-7401-4000BB9400B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787" y="1195874"/>
            <a:ext cx="451837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45608-C569-8CA1-5C07-FCA82C6EA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787" y="1722902"/>
            <a:ext cx="4518373" cy="486522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2DB0514-90E7-32FF-1BF9-B9DBB4C0576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595655" y="1195874"/>
            <a:ext cx="451837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3F7C093-EA0F-F49F-ED02-51F8E2C922AB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5595655" y="1722902"/>
            <a:ext cx="4518373" cy="486522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51A821-D756-CD3C-BBEB-AD9FBA6CAF7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276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0822FD7-C7A3-A1D2-F60A-091114D892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01657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822FD7-C7A3-A1D2-F60A-091114D892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1"/>
            <a:ext cx="3234406" cy="58864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D14A19-D564-8572-44A8-AD8BBB413C95}"/>
              </a:ext>
            </a:extLst>
          </p:cNvPr>
          <p:cNvSpPr/>
          <p:nvPr userDrawn="1"/>
        </p:nvSpPr>
        <p:spPr>
          <a:xfrm>
            <a:off x="3717822" y="971551"/>
            <a:ext cx="3234406" cy="58864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69377A-0A03-B561-E460-4C0E901AE963}"/>
              </a:ext>
            </a:extLst>
          </p:cNvPr>
          <p:cNvSpPr/>
          <p:nvPr userDrawn="1"/>
        </p:nvSpPr>
        <p:spPr>
          <a:xfrm>
            <a:off x="7078456" y="971551"/>
            <a:ext cx="3234406" cy="58864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AFCECF7-DAEE-416E-0320-9391C3405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CDFD6D-111E-C393-4563-DB8F414996C8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741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9398CC0B-1560-4398-F809-791C036F7E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62291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398CC0B-1560-4398-F809-791C036F7E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1"/>
            <a:ext cx="3234406" cy="58864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D14A19-D564-8572-44A8-AD8BBB413C95}"/>
              </a:ext>
            </a:extLst>
          </p:cNvPr>
          <p:cNvSpPr/>
          <p:nvPr userDrawn="1"/>
        </p:nvSpPr>
        <p:spPr>
          <a:xfrm>
            <a:off x="3717822" y="971551"/>
            <a:ext cx="3234406" cy="58864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69377A-0A03-B561-E460-4C0E901AE963}"/>
              </a:ext>
            </a:extLst>
          </p:cNvPr>
          <p:cNvSpPr/>
          <p:nvPr userDrawn="1"/>
        </p:nvSpPr>
        <p:spPr>
          <a:xfrm>
            <a:off x="7078456" y="971551"/>
            <a:ext cx="3234406" cy="58864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24B8864-C870-49D6-E783-53BD5C3E188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787" y="1195874"/>
            <a:ext cx="2805207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B9D9D5D-1029-BE03-3D61-BB16571EA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787" y="1722902"/>
            <a:ext cx="2805207" cy="486522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71375F9-DCBF-C14B-4D6F-B1F8989E0E4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32422" y="1195874"/>
            <a:ext cx="2805207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F6663EC-D4B1-BB83-196E-DA8381C5C3F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932422" y="1722902"/>
            <a:ext cx="2805207" cy="486522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B612B55-0119-C367-BD5B-5B69E300BA9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293056" y="1722902"/>
            <a:ext cx="2805207" cy="486522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06A10E4-37A3-51A9-F58B-F3EFB5EB3AA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293056" y="1195874"/>
            <a:ext cx="2805207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A3B640A-C8FB-58BE-DCFD-58169D8ED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6534ED-88E1-8679-EA75-A34F874B5775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644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71B08AC-93FA-8DB0-415A-4BA4B92CCE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76730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1B08AC-93FA-8DB0-415A-4BA4B92CCE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2"/>
            <a:ext cx="4916041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18B4F8-7584-D800-01E4-840ED9227981}"/>
              </a:ext>
            </a:extLst>
          </p:cNvPr>
          <p:cNvSpPr/>
          <p:nvPr userDrawn="1"/>
        </p:nvSpPr>
        <p:spPr>
          <a:xfrm>
            <a:off x="357188" y="3989072"/>
            <a:ext cx="4916041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A446A0-4382-733F-1B9E-C4D74B7E0E6D}"/>
              </a:ext>
            </a:extLst>
          </p:cNvPr>
          <p:cNvSpPr/>
          <p:nvPr userDrawn="1"/>
        </p:nvSpPr>
        <p:spPr>
          <a:xfrm>
            <a:off x="5396821" y="971552"/>
            <a:ext cx="4916041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888639-E270-3FF3-235F-6C4B62965165}"/>
              </a:ext>
            </a:extLst>
          </p:cNvPr>
          <p:cNvSpPr/>
          <p:nvPr userDrawn="1"/>
        </p:nvSpPr>
        <p:spPr>
          <a:xfrm>
            <a:off x="5396821" y="3989072"/>
            <a:ext cx="4916041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850259B4-9D6B-CF1A-CDFB-58815039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61E5F-0C9B-8B42-2636-1B7766A18C28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663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7C84D20C-CEAE-A462-A140-CEFE5E5D00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76262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84D20C-CEAE-A462-A140-CEFE5E5D00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2"/>
            <a:ext cx="4916041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8B56A5D-3C96-B7A9-C9BD-456A98421A5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787" y="1195874"/>
            <a:ext cx="451837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6BE3FDD-DFA7-3541-823C-228C48A83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787" y="1722902"/>
            <a:ext cx="451837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18B4F8-7584-D800-01E4-840ED9227981}"/>
              </a:ext>
            </a:extLst>
          </p:cNvPr>
          <p:cNvSpPr/>
          <p:nvPr userDrawn="1"/>
        </p:nvSpPr>
        <p:spPr>
          <a:xfrm>
            <a:off x="357188" y="3989072"/>
            <a:ext cx="4916041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05C7D79-C12E-3D89-3E23-F9CCD5C7FF9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71787" y="4213394"/>
            <a:ext cx="451837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DD15003-DBF1-5EFC-F658-95A80AFA832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571787" y="4740422"/>
            <a:ext cx="451837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A446A0-4382-733F-1B9E-C4D74B7E0E6D}"/>
              </a:ext>
            </a:extLst>
          </p:cNvPr>
          <p:cNvSpPr/>
          <p:nvPr userDrawn="1"/>
        </p:nvSpPr>
        <p:spPr>
          <a:xfrm>
            <a:off x="5396821" y="971552"/>
            <a:ext cx="4916041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1DFCB1E-CAC0-B802-57C1-BCB172ED2E7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595655" y="1195874"/>
            <a:ext cx="451837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C18C954D-25E7-7254-5319-D471A6F03A08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5595655" y="1722902"/>
            <a:ext cx="451837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888639-E270-3FF3-235F-6C4B62965165}"/>
              </a:ext>
            </a:extLst>
          </p:cNvPr>
          <p:cNvSpPr/>
          <p:nvPr userDrawn="1"/>
        </p:nvSpPr>
        <p:spPr>
          <a:xfrm>
            <a:off x="5396821" y="3989072"/>
            <a:ext cx="4916041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B54C1098-31E3-A891-745C-17A288AD8A35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595655" y="4213394"/>
            <a:ext cx="451837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0069F601-1027-20B2-1FA4-5DF7FF0D6E1D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5595655" y="4740422"/>
            <a:ext cx="451837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CDFF593-C4FA-1218-493F-0DD4C3072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566282-4A54-52CE-DDB2-25E640A385C1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731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739F28C0-DF1C-F362-2B2C-B277543986E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14960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9F28C0-DF1C-F362-2B2C-B277543986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1"/>
            <a:ext cx="3234406" cy="28703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3259E4-5EED-2F63-E66F-6FF8590328CD}"/>
              </a:ext>
            </a:extLst>
          </p:cNvPr>
          <p:cNvSpPr/>
          <p:nvPr userDrawn="1"/>
        </p:nvSpPr>
        <p:spPr>
          <a:xfrm>
            <a:off x="357188" y="3989072"/>
            <a:ext cx="3234405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F3673D-0D22-DD0E-4D2E-6B30F4A7E6B0}"/>
              </a:ext>
            </a:extLst>
          </p:cNvPr>
          <p:cNvSpPr/>
          <p:nvPr userDrawn="1"/>
        </p:nvSpPr>
        <p:spPr>
          <a:xfrm>
            <a:off x="3717822" y="971551"/>
            <a:ext cx="3234406" cy="28703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803DBC-82D3-2172-02A2-F2BD804F9143}"/>
              </a:ext>
            </a:extLst>
          </p:cNvPr>
          <p:cNvSpPr/>
          <p:nvPr userDrawn="1"/>
        </p:nvSpPr>
        <p:spPr>
          <a:xfrm>
            <a:off x="3717823" y="3989072"/>
            <a:ext cx="3234405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ECB2EB-823A-66AA-18DD-40E1BBFDD466}"/>
              </a:ext>
            </a:extLst>
          </p:cNvPr>
          <p:cNvSpPr/>
          <p:nvPr userDrawn="1"/>
        </p:nvSpPr>
        <p:spPr>
          <a:xfrm>
            <a:off x="7078456" y="971551"/>
            <a:ext cx="3234406" cy="28703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B72811-68B4-7C7F-6FF1-D1DA44F8B49F}"/>
              </a:ext>
            </a:extLst>
          </p:cNvPr>
          <p:cNvSpPr/>
          <p:nvPr userDrawn="1"/>
        </p:nvSpPr>
        <p:spPr>
          <a:xfrm>
            <a:off x="7078457" y="3989072"/>
            <a:ext cx="3234405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1D62CAF-C8F7-AE38-23AB-2BB0716D7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F6208-6EBB-8E4F-1462-726F8F92F85B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5932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A8B0EB7-6B8A-AC61-4DD4-28788E3ED3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612930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A8B0EB7-6B8A-AC61-4DD4-28788E3ED3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1"/>
            <a:ext cx="3234406" cy="28703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3259E4-5EED-2F63-E66F-6FF8590328CD}"/>
              </a:ext>
            </a:extLst>
          </p:cNvPr>
          <p:cNvSpPr/>
          <p:nvPr userDrawn="1"/>
        </p:nvSpPr>
        <p:spPr>
          <a:xfrm>
            <a:off x="357188" y="3989072"/>
            <a:ext cx="3234405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F3673D-0D22-DD0E-4D2E-6B30F4A7E6B0}"/>
              </a:ext>
            </a:extLst>
          </p:cNvPr>
          <p:cNvSpPr/>
          <p:nvPr userDrawn="1"/>
        </p:nvSpPr>
        <p:spPr>
          <a:xfrm>
            <a:off x="3717822" y="971551"/>
            <a:ext cx="3234406" cy="28703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803DBC-82D3-2172-02A2-F2BD804F9143}"/>
              </a:ext>
            </a:extLst>
          </p:cNvPr>
          <p:cNvSpPr/>
          <p:nvPr userDrawn="1"/>
        </p:nvSpPr>
        <p:spPr>
          <a:xfrm>
            <a:off x="3717823" y="3989072"/>
            <a:ext cx="3234405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ECB2EB-823A-66AA-18DD-40E1BBFDD466}"/>
              </a:ext>
            </a:extLst>
          </p:cNvPr>
          <p:cNvSpPr/>
          <p:nvPr userDrawn="1"/>
        </p:nvSpPr>
        <p:spPr>
          <a:xfrm>
            <a:off x="7078456" y="971551"/>
            <a:ext cx="3234406" cy="28703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B72811-68B4-7C7F-6FF1-D1DA44F8B49F}"/>
              </a:ext>
            </a:extLst>
          </p:cNvPr>
          <p:cNvSpPr/>
          <p:nvPr userDrawn="1"/>
        </p:nvSpPr>
        <p:spPr>
          <a:xfrm>
            <a:off x="7078457" y="3989072"/>
            <a:ext cx="3234405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C4B1079-47B3-9630-ED50-E2C8BBB474D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787" y="1195874"/>
            <a:ext cx="283181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79E8FF5-9555-9BD2-0405-5019D02D6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787" y="1722902"/>
            <a:ext cx="283181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5D44CB3-1E9E-1B71-DA8E-D2F8B930FF1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71787" y="4213394"/>
            <a:ext cx="283181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A45444-EC22-DD9D-537F-9E2E2E7C0F0B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571787" y="4740422"/>
            <a:ext cx="283181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6D98A5C-D687-CC61-F6D4-D118B047CC2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19119" y="4213394"/>
            <a:ext cx="283181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8B6252ED-FBE4-E1FA-644E-39807294390B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3919119" y="4740422"/>
            <a:ext cx="283181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DC8C8AC-DEF5-3ABF-0E02-1BF1CAF5385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919119" y="1195874"/>
            <a:ext cx="283181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BC0F7D9A-9200-5866-033A-88B8239A47A3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3919119" y="1722902"/>
            <a:ext cx="283181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A1DD2D5-40E5-3248-D90D-156B5AB048B6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7279753" y="4213394"/>
            <a:ext cx="283181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02229E36-5192-6049-9580-89DFC13EF3DB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279753" y="4740422"/>
            <a:ext cx="283181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BD69851-6004-20A9-AFD1-35519BC163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9753" y="1195874"/>
            <a:ext cx="283181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56E8242E-C9DB-1C13-4DB9-B1FD3A21B477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7279753" y="1722902"/>
            <a:ext cx="283181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293BD657-D2E2-E208-6683-F8738B6A7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FD92FA-28D4-C7C4-90B8-E48DC89FBD54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758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986D16A-C1AC-DAB6-C30D-42023DC16021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101199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986D16A-C1AC-DAB6-C30D-42023DC160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Rectangle 64">
            <a:extLst>
              <a:ext uri="{FF2B5EF4-FFF2-40B4-BE49-F238E27FC236}">
                <a16:creationId xmlns:a16="http://schemas.microsoft.com/office/drawing/2014/main" id="{F6915496-FDC3-FE32-16C2-E8DE2595C77C}"/>
              </a:ext>
            </a:extLst>
          </p:cNvPr>
          <p:cNvSpPr/>
          <p:nvPr userDrawn="1"/>
        </p:nvSpPr>
        <p:spPr>
          <a:xfrm>
            <a:off x="7942980" y="398907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6619A43-5D41-AB68-7B66-74A01C008F65}"/>
              </a:ext>
            </a:extLst>
          </p:cNvPr>
          <p:cNvSpPr/>
          <p:nvPr userDrawn="1"/>
        </p:nvSpPr>
        <p:spPr>
          <a:xfrm>
            <a:off x="5414382" y="398907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AA12A1D-DD18-5AE0-1180-34BEDDA4D77E}"/>
              </a:ext>
            </a:extLst>
          </p:cNvPr>
          <p:cNvSpPr/>
          <p:nvPr userDrawn="1"/>
        </p:nvSpPr>
        <p:spPr>
          <a:xfrm>
            <a:off x="2885785" y="398907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15D478B-2AAA-EE49-11E5-8FE7A0802B12}"/>
              </a:ext>
            </a:extLst>
          </p:cNvPr>
          <p:cNvSpPr/>
          <p:nvPr userDrawn="1"/>
        </p:nvSpPr>
        <p:spPr>
          <a:xfrm>
            <a:off x="357189" y="398907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771E20B-B2A4-72D0-84A9-C03343226E7A}"/>
              </a:ext>
            </a:extLst>
          </p:cNvPr>
          <p:cNvSpPr/>
          <p:nvPr userDrawn="1"/>
        </p:nvSpPr>
        <p:spPr>
          <a:xfrm>
            <a:off x="2885785" y="97155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E69DDD7-B211-0944-297F-05D84CCA3D26}"/>
              </a:ext>
            </a:extLst>
          </p:cNvPr>
          <p:cNvSpPr/>
          <p:nvPr userDrawn="1"/>
        </p:nvSpPr>
        <p:spPr>
          <a:xfrm>
            <a:off x="5414382" y="97155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44860D9-3A1A-29BA-76D4-98290E51B3DE}"/>
              </a:ext>
            </a:extLst>
          </p:cNvPr>
          <p:cNvSpPr/>
          <p:nvPr userDrawn="1"/>
        </p:nvSpPr>
        <p:spPr>
          <a:xfrm>
            <a:off x="7942979" y="971552"/>
            <a:ext cx="2369883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6" name="Footer Placeholder 4">
            <a:extLst>
              <a:ext uri="{FF2B5EF4-FFF2-40B4-BE49-F238E27FC236}">
                <a16:creationId xmlns:a16="http://schemas.microsoft.com/office/drawing/2014/main" id="{6ABF0A35-EB55-E5A3-FAAC-92A377D44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28D43A-958F-9244-42A8-1F402E72DC36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447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44CEBA32-0B88-042B-FFC1-846C3DC118B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9858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CEBA32-0B88-042B-FFC1-846C3DC118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Rectangle 64">
            <a:extLst>
              <a:ext uri="{FF2B5EF4-FFF2-40B4-BE49-F238E27FC236}">
                <a16:creationId xmlns:a16="http://schemas.microsoft.com/office/drawing/2014/main" id="{F6915496-FDC3-FE32-16C2-E8DE2595C77C}"/>
              </a:ext>
            </a:extLst>
          </p:cNvPr>
          <p:cNvSpPr/>
          <p:nvPr userDrawn="1"/>
        </p:nvSpPr>
        <p:spPr>
          <a:xfrm>
            <a:off x="7942980" y="398907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6619A43-5D41-AB68-7B66-74A01C008F65}"/>
              </a:ext>
            </a:extLst>
          </p:cNvPr>
          <p:cNvSpPr/>
          <p:nvPr userDrawn="1"/>
        </p:nvSpPr>
        <p:spPr>
          <a:xfrm>
            <a:off x="5414382" y="398907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AA12A1D-DD18-5AE0-1180-34BEDDA4D77E}"/>
              </a:ext>
            </a:extLst>
          </p:cNvPr>
          <p:cNvSpPr/>
          <p:nvPr userDrawn="1"/>
        </p:nvSpPr>
        <p:spPr>
          <a:xfrm>
            <a:off x="2885785" y="398907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15D478B-2AAA-EE49-11E5-8FE7A0802B12}"/>
              </a:ext>
            </a:extLst>
          </p:cNvPr>
          <p:cNvSpPr/>
          <p:nvPr userDrawn="1"/>
        </p:nvSpPr>
        <p:spPr>
          <a:xfrm>
            <a:off x="357189" y="398907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AA79BE9-9D37-1864-2D5A-6F5287591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3263" y="1195874"/>
            <a:ext cx="193773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2EE6D5F4-0794-EFA6-46CC-72FA088C1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3263" y="1722902"/>
            <a:ext cx="193773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1B79FAE-505C-F912-F8CE-86FCDA45C02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71787" y="4213394"/>
            <a:ext cx="1939209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43" name="Content Placeholder 3">
            <a:extLst>
              <a:ext uri="{FF2B5EF4-FFF2-40B4-BE49-F238E27FC236}">
                <a16:creationId xmlns:a16="http://schemas.microsoft.com/office/drawing/2014/main" id="{B23E05D7-7F47-2CF1-E12F-E27E02C8A956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571787" y="4740422"/>
            <a:ext cx="1939209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771E20B-B2A4-72D0-84A9-C03343226E7A}"/>
              </a:ext>
            </a:extLst>
          </p:cNvPr>
          <p:cNvSpPr/>
          <p:nvPr userDrawn="1"/>
        </p:nvSpPr>
        <p:spPr>
          <a:xfrm>
            <a:off x="2885785" y="97155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E69DDD7-B211-0944-297F-05D84CCA3D26}"/>
              </a:ext>
            </a:extLst>
          </p:cNvPr>
          <p:cNvSpPr/>
          <p:nvPr userDrawn="1"/>
        </p:nvSpPr>
        <p:spPr>
          <a:xfrm>
            <a:off x="5414382" y="971552"/>
            <a:ext cx="2369882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44860D9-3A1A-29BA-76D4-98290E51B3DE}"/>
              </a:ext>
            </a:extLst>
          </p:cNvPr>
          <p:cNvSpPr/>
          <p:nvPr userDrawn="1"/>
        </p:nvSpPr>
        <p:spPr>
          <a:xfrm>
            <a:off x="7942979" y="971552"/>
            <a:ext cx="2369883" cy="2870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F6712B09-0714-3CDC-981A-C351D4DE7F52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101860" y="1195874"/>
            <a:ext cx="193773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51" name="Content Placeholder 3">
            <a:extLst>
              <a:ext uri="{FF2B5EF4-FFF2-40B4-BE49-F238E27FC236}">
                <a16:creationId xmlns:a16="http://schemas.microsoft.com/office/drawing/2014/main" id="{55C822F2-2873-9F8A-1BB9-13038B36363B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3101860" y="1722902"/>
            <a:ext cx="193773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3D97DD7-7216-5881-C0D0-ABC2EB3065C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5630457" y="1195874"/>
            <a:ext cx="193773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53" name="Content Placeholder 3">
            <a:extLst>
              <a:ext uri="{FF2B5EF4-FFF2-40B4-BE49-F238E27FC236}">
                <a16:creationId xmlns:a16="http://schemas.microsoft.com/office/drawing/2014/main" id="{3D4DD16A-513A-D728-7319-197143A4DFE4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5630457" y="1722902"/>
            <a:ext cx="193773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87FCB4F1-CEFF-2C13-C306-9CBE0A99C9B7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8159054" y="1195874"/>
            <a:ext cx="193773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55" name="Content Placeholder 3">
            <a:extLst>
              <a:ext uri="{FF2B5EF4-FFF2-40B4-BE49-F238E27FC236}">
                <a16:creationId xmlns:a16="http://schemas.microsoft.com/office/drawing/2014/main" id="{6D7E97E8-D799-E59D-6D6C-7D20DBA7DF33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8159054" y="1722902"/>
            <a:ext cx="1937733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C9B693A-93BB-63DA-DC82-902D9BB7114F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3101122" y="4213394"/>
            <a:ext cx="1939209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57" name="Content Placeholder 3">
            <a:extLst>
              <a:ext uri="{FF2B5EF4-FFF2-40B4-BE49-F238E27FC236}">
                <a16:creationId xmlns:a16="http://schemas.microsoft.com/office/drawing/2014/main" id="{83C2C04A-85E9-7C4D-F065-F3A134E46711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3101122" y="4740422"/>
            <a:ext cx="1939209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B59213A-33AD-E7C2-618A-A0FC2930F728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5629719" y="4213394"/>
            <a:ext cx="1939209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59" name="Content Placeholder 3">
            <a:extLst>
              <a:ext uri="{FF2B5EF4-FFF2-40B4-BE49-F238E27FC236}">
                <a16:creationId xmlns:a16="http://schemas.microsoft.com/office/drawing/2014/main" id="{A43CC07C-0E6F-9A91-574E-BA425F08A8C2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5629719" y="4740422"/>
            <a:ext cx="1939209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12AE3CC-500E-FCE1-EDAE-54715CAD455E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8158316" y="4213394"/>
            <a:ext cx="1939209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61" name="Content Placeholder 3">
            <a:extLst>
              <a:ext uri="{FF2B5EF4-FFF2-40B4-BE49-F238E27FC236}">
                <a16:creationId xmlns:a16="http://schemas.microsoft.com/office/drawing/2014/main" id="{A5056BFA-EE8D-2092-349E-A29B64F2F7CA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8158316" y="4740422"/>
            <a:ext cx="1939209" cy="189405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7E0FB5-511E-E29C-B170-9CB91027E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E1B56A-E811-C909-85C0-3642AFF7ED88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672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D6D2F27-F2D5-D5C5-D82D-7B66DF66E082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7203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6D2F27-F2D5-D5C5-D82D-7B66DF66E0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2"/>
            <a:ext cx="9955674" cy="58878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02E61B6-6E2A-62C7-E272-6259232EF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EE7BC-5661-BBC9-56F2-8B1507A04333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252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 userDrawn="1">
          <p15:clr>
            <a:srgbClr val="FBAE40"/>
          </p15:clr>
        </p15:guide>
        <p15:guide id="2" pos="336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6D6746AE-AE02-C0AE-B994-E9F7B23D3D2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03220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6746AE-AE02-C0AE-B994-E9F7B23D3D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2"/>
            <a:ext cx="9955674" cy="58878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AA79BE9-9D37-1864-2D5A-6F5287591CA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3263" y="1195874"/>
            <a:ext cx="9524262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2EE6D5F4-0794-EFA6-46CC-72FA088C1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3263" y="1722902"/>
            <a:ext cx="9524262" cy="4911578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8CBC3F2-AF5A-DE49-5E6A-D64DBB845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6DC564-20DE-EAD8-F32D-7F45771744F1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6906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0118C1A2-A654-8618-FFD3-061CCF190BAA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131018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118C1A2-A654-8618-FFD3-061CCF190B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2"/>
            <a:ext cx="4916041" cy="40055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18B4F8-7584-D800-01E4-840ED9227981}"/>
              </a:ext>
            </a:extLst>
          </p:cNvPr>
          <p:cNvSpPr/>
          <p:nvPr userDrawn="1"/>
        </p:nvSpPr>
        <p:spPr>
          <a:xfrm>
            <a:off x="357188" y="5122063"/>
            <a:ext cx="9955674" cy="17373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>
              <a:solidFill>
                <a:srgbClr val="7C1C9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A446A0-4382-733F-1B9E-C4D74B7E0E6D}"/>
              </a:ext>
            </a:extLst>
          </p:cNvPr>
          <p:cNvSpPr/>
          <p:nvPr userDrawn="1"/>
        </p:nvSpPr>
        <p:spPr>
          <a:xfrm>
            <a:off x="5396821" y="971552"/>
            <a:ext cx="4916041" cy="40055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9E135-9A1A-BDF2-E29C-CB57F1E001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787" y="1195874"/>
            <a:ext cx="4478195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71235-818D-B9F0-F27E-7278D5DB5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787" y="1722901"/>
            <a:ext cx="4478195" cy="304652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C6FB54A-8055-EF4F-063A-A605CE3AF01E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595655" y="1195874"/>
            <a:ext cx="451837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7AD6979-CD2D-8352-0DB6-E6884636AD82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5595655" y="1722901"/>
            <a:ext cx="4518373" cy="304652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D3D1E1B-681F-D876-BDEC-BA00F373C37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71788" y="5341847"/>
            <a:ext cx="4478194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Commentary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7C53F8B-476D-8E25-A411-4AF93E5F8F53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571787" y="5868875"/>
            <a:ext cx="9542241" cy="802089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C6E636F-00B0-4A43-F388-9535B9106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C202D7-86A0-6371-803E-226952FA4BC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2888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ED60E9D-4F46-09E8-7F1C-03302A26CF6C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6001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D60E9D-4F46-09E8-7F1C-03302A26CF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2"/>
            <a:ext cx="9955674" cy="40055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18B4F8-7584-D800-01E4-840ED9227981}"/>
              </a:ext>
            </a:extLst>
          </p:cNvPr>
          <p:cNvSpPr/>
          <p:nvPr userDrawn="1"/>
        </p:nvSpPr>
        <p:spPr>
          <a:xfrm>
            <a:off x="357188" y="5122063"/>
            <a:ext cx="9955674" cy="17373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9E135-9A1A-BDF2-E29C-CB57F1E001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787" y="1195874"/>
            <a:ext cx="9542241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71235-818D-B9F0-F27E-7278D5DB5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787" y="1722901"/>
            <a:ext cx="9542241" cy="3046525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>
                <a:solidFill>
                  <a:srgbClr val="7C1C91"/>
                </a:solidFill>
              </a:defRPr>
            </a:lvl4pPr>
            <a:lvl5pPr>
              <a:defRPr sz="1200">
                <a:solidFill>
                  <a:srgbClr val="7C1C9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D3D1E1B-681F-D876-BDEC-BA00F373C37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71788" y="5341847"/>
            <a:ext cx="2410404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Commentary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7C53F8B-476D-8E25-A411-4AF93E5F8F53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571787" y="5868875"/>
            <a:ext cx="9542241" cy="802089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281F12C-49C8-37A2-F8CB-FBFFEB0BF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1E0152-5F28-0642-06D5-0453818A664E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7091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6C7E9991-87C7-D050-5B2A-20CD11BC8472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8624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C7E9991-87C7-D050-5B2A-20CD11BC84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2853912"/>
            <a:ext cx="4916041" cy="40055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A446A0-4382-733F-1B9E-C4D74B7E0E6D}"/>
              </a:ext>
            </a:extLst>
          </p:cNvPr>
          <p:cNvSpPr/>
          <p:nvPr userDrawn="1"/>
        </p:nvSpPr>
        <p:spPr>
          <a:xfrm>
            <a:off x="5396821" y="2853912"/>
            <a:ext cx="4916041" cy="40055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9E135-9A1A-BDF2-E29C-CB57F1E001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787" y="3078234"/>
            <a:ext cx="4478195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71235-818D-B9F0-F27E-7278D5DB5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787" y="3605261"/>
            <a:ext cx="4478195" cy="3046525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>
                <a:solidFill>
                  <a:srgbClr val="7C1C91"/>
                </a:solidFill>
              </a:defRPr>
            </a:lvl4pPr>
            <a:lvl5pPr>
              <a:defRPr sz="1200">
                <a:solidFill>
                  <a:srgbClr val="7C1C9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C6FB54A-8055-EF4F-063A-A605CE3AF01E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595655" y="3078234"/>
            <a:ext cx="451837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7AD6979-CD2D-8352-0DB6-E6884636AD82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5595655" y="3605261"/>
            <a:ext cx="4518373" cy="3046525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>
                <a:solidFill>
                  <a:srgbClr val="7C1C91"/>
                </a:solidFill>
              </a:defRPr>
            </a:lvl4pPr>
            <a:lvl5pPr>
              <a:defRPr sz="1200">
                <a:solidFill>
                  <a:srgbClr val="7C1C9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0BA12F-BDA1-2B79-86CC-96CEF90090C3}"/>
              </a:ext>
            </a:extLst>
          </p:cNvPr>
          <p:cNvSpPr/>
          <p:nvPr userDrawn="1"/>
        </p:nvSpPr>
        <p:spPr>
          <a:xfrm>
            <a:off x="357188" y="971552"/>
            <a:ext cx="9955674" cy="17373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3C3888C-5697-E9D1-5B7D-8DD88C7004D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571788" y="1191336"/>
            <a:ext cx="4478194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Commentary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691E61D-BD14-4E1C-5E14-84D98848297C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571787" y="1718364"/>
            <a:ext cx="9542241" cy="802089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F7365B83-344E-806B-CAA5-9DE6B008F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8FB10E-8963-9E74-2270-2674906E8E81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1382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D5A8BCE0-3CC7-F11B-CE34-CBF44199C7E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82547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A8BCE0-3CC7-F11B-CE34-CBF44199C7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3"/>
            <a:ext cx="4916041" cy="28703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18B4F8-7584-D800-01E4-840ED9227981}"/>
              </a:ext>
            </a:extLst>
          </p:cNvPr>
          <p:cNvSpPr/>
          <p:nvPr userDrawn="1"/>
        </p:nvSpPr>
        <p:spPr>
          <a:xfrm>
            <a:off x="357188" y="3986903"/>
            <a:ext cx="9955674" cy="28703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A446A0-4382-733F-1B9E-C4D74B7E0E6D}"/>
              </a:ext>
            </a:extLst>
          </p:cNvPr>
          <p:cNvSpPr/>
          <p:nvPr userDrawn="1"/>
        </p:nvSpPr>
        <p:spPr>
          <a:xfrm>
            <a:off x="5396821" y="971553"/>
            <a:ext cx="4916041" cy="28703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9E135-9A1A-BDF2-E29C-CB57F1E001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787" y="1195874"/>
            <a:ext cx="4478195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71235-818D-B9F0-F27E-7278D5DB5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787" y="1722902"/>
            <a:ext cx="4478195" cy="1976262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>
                <a:solidFill>
                  <a:srgbClr val="7C1C91"/>
                </a:solidFill>
              </a:defRPr>
            </a:lvl4pPr>
            <a:lvl5pPr>
              <a:defRPr sz="1200">
                <a:solidFill>
                  <a:srgbClr val="7C1C9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C6FB54A-8055-EF4F-063A-A605CE3AF01E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595655" y="1195874"/>
            <a:ext cx="451837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7AD6979-CD2D-8352-0DB6-E6884636AD82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5595655" y="1722902"/>
            <a:ext cx="4518373" cy="1976262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>
                <a:solidFill>
                  <a:srgbClr val="7C1C91"/>
                </a:solidFill>
              </a:defRPr>
            </a:lvl4pPr>
            <a:lvl5pPr>
              <a:defRPr sz="1200">
                <a:solidFill>
                  <a:srgbClr val="7C1C9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D3D1E1B-681F-D876-BDEC-BA00F373C37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71788" y="4206687"/>
            <a:ext cx="4478194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7C53F8B-476D-8E25-A411-4AF93E5F8F53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571787" y="4733715"/>
            <a:ext cx="9542241" cy="1947640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1D674626-F0E7-9D60-1765-9030497CE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EF042E-CE87-A633-6BD9-71515A745A11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644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B8F11DE-4911-8AEF-D98A-E3962C412275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05902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B8F11DE-4911-8AEF-D98A-E3962C4122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05E4C-4ACA-A4D6-1EC8-6D132C468346}"/>
              </a:ext>
            </a:extLst>
          </p:cNvPr>
          <p:cNvSpPr/>
          <p:nvPr userDrawn="1"/>
        </p:nvSpPr>
        <p:spPr>
          <a:xfrm>
            <a:off x="357188" y="971553"/>
            <a:ext cx="9955674" cy="28703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18B4F8-7584-D800-01E4-840ED9227981}"/>
              </a:ext>
            </a:extLst>
          </p:cNvPr>
          <p:cNvSpPr/>
          <p:nvPr userDrawn="1"/>
        </p:nvSpPr>
        <p:spPr>
          <a:xfrm>
            <a:off x="357188" y="3986903"/>
            <a:ext cx="9955674" cy="28703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4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9E135-9A1A-BDF2-E29C-CB57F1E001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787" y="1195874"/>
            <a:ext cx="4478195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71235-818D-B9F0-F27E-7278D5DB5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787" y="1722902"/>
            <a:ext cx="9542241" cy="1976262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>
                <a:solidFill>
                  <a:srgbClr val="7C1C91"/>
                </a:solidFill>
              </a:defRPr>
            </a:lvl4pPr>
            <a:lvl5pPr>
              <a:defRPr sz="1200">
                <a:solidFill>
                  <a:srgbClr val="7C1C9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D3D1E1B-681F-D876-BDEC-BA00F373C37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71788" y="4206687"/>
            <a:ext cx="4478194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7C53F8B-476D-8E25-A411-4AF93E5F8F53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571787" y="4733715"/>
            <a:ext cx="9542241" cy="1947640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7CF05D1-C215-1CF8-36DC-8355A602D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8B3F0E-3698-35BA-B3B4-BEF071D38C79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7519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80A151C-B613-F6B2-2FE5-B1410C0FBF7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47926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0A151C-B613-F6B2-2FE5-B1410C0FBF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AA79BE9-9D37-1864-2D5A-6F5287591CA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3263" y="1195874"/>
            <a:ext cx="9524262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2EE6D5F4-0794-EFA6-46CC-72FA088C1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3263" y="1722902"/>
            <a:ext cx="9524262" cy="4911578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8CBC3F2-AF5A-DE49-5E6A-D64DBB845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4AA51A-C295-DA95-3336-8AFDEEE0179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7283830" y="1503984"/>
            <a:ext cx="6101590" cy="40944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B2A550-5695-97B0-7F62-A2B69E1ABB14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1449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489DCA4A-5CE9-112D-F736-E17DA0B1C6D2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58304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89DCA4A-5CE9-112D-F736-E17DA0B1C6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7204" y="7033480"/>
            <a:ext cx="2405658" cy="40248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5158C76A-E5A6-754B-9D8E-DDC11269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8" y="299192"/>
            <a:ext cx="9955674" cy="402483"/>
          </a:xfrm>
        </p:spPr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8CBC3F2-AF5A-DE49-5E6A-D64DBB845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</a:lstStyle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4AA51A-C295-DA95-3336-8AFDEEE0179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7283830" y="1503984"/>
            <a:ext cx="6101590" cy="4094488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A90F3AB-DE9B-006F-E1F9-112901836F0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787" y="1195874"/>
            <a:ext cx="451837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>
                <a:solidFill>
                  <a:srgbClr val="7C1C9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86EA8C8-C851-0D4D-4CB3-C6380B2DE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787" y="1722901"/>
            <a:ext cx="4518373" cy="4911577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>
                <a:solidFill>
                  <a:srgbClr val="7C1C91"/>
                </a:solidFill>
              </a:defRPr>
            </a:lvl4pPr>
            <a:lvl5pPr>
              <a:defRPr sz="1200">
                <a:solidFill>
                  <a:srgbClr val="7C1C9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6AB1594-B6B5-CC40-078F-0CA5917BE78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595655" y="1195874"/>
            <a:ext cx="4518373" cy="382029"/>
          </a:xfrm>
        </p:spPr>
        <p:txBody>
          <a:bodyPr anchor="t">
            <a:normAutofit/>
          </a:bodyPr>
          <a:lstStyle>
            <a:lvl1pPr marL="0" indent="0">
              <a:buNone/>
              <a:defRPr sz="1550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sub-header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7FACF322-4750-1D0A-EDC0-262AD09031FA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5595655" y="1722901"/>
            <a:ext cx="4518373" cy="4911577"/>
          </a:xfrm>
        </p:spPr>
        <p:txBody>
          <a:bodyPr>
            <a:normAutofit/>
          </a:bodyPr>
          <a:lstStyle>
            <a:lvl1pPr>
              <a:defRPr sz="1200">
                <a:solidFill>
                  <a:srgbClr val="7C1C91"/>
                </a:solidFill>
              </a:defRPr>
            </a:lvl1pPr>
            <a:lvl2pPr>
              <a:defRPr sz="1200">
                <a:solidFill>
                  <a:srgbClr val="7C1C91"/>
                </a:solidFill>
              </a:defRPr>
            </a:lvl2pPr>
            <a:lvl3pPr>
              <a:defRPr sz="1200">
                <a:solidFill>
                  <a:srgbClr val="7C1C91"/>
                </a:solidFill>
              </a:defRPr>
            </a:lvl3pPr>
            <a:lvl4pPr>
              <a:defRPr sz="1200">
                <a:solidFill>
                  <a:srgbClr val="7C1C91"/>
                </a:solidFill>
              </a:defRPr>
            </a:lvl4pPr>
            <a:lvl5pPr>
              <a:defRPr sz="1200">
                <a:solidFill>
                  <a:srgbClr val="7C1C9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BE1FA4-5E25-A1C2-BD68-E3C3EB0BA5D7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2696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16C79B2-6CD5-C9D6-4005-7975EF41C7E9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99220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25" imgH="424" progId="TCLayout.ActiveDocument.1">
                  <p:embed/>
                </p:oleObj>
              </mc:Choice>
              <mc:Fallback>
                <p:oleObj name="thinkcell Slide" r:id="rId3" imgW="425" imgH="42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16C79B2-6CD5-C9D6-4005-7975EF41C7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F657D2DC-259E-ECA4-F400-41E8E1CA8C6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5836425" y="1848425"/>
            <a:ext cx="6725873" cy="35906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98C1E9-613F-0FDD-36A7-21AA7CA75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>
            <a:lvl1pPr>
              <a:defRPr>
                <a:solidFill>
                  <a:srgbClr val="7C1C9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D6B82-5012-C8B3-9339-AF7206FBB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7C1C91"/>
                </a:solidFill>
              </a:defRPr>
            </a:lvl1pPr>
            <a:lvl2pPr>
              <a:defRPr>
                <a:solidFill>
                  <a:srgbClr val="7C1C91"/>
                </a:solidFill>
              </a:defRPr>
            </a:lvl2pPr>
            <a:lvl3pPr>
              <a:defRPr>
                <a:solidFill>
                  <a:srgbClr val="7C1C91"/>
                </a:solidFill>
              </a:defRPr>
            </a:lvl3pPr>
            <a:lvl4pPr>
              <a:defRPr>
                <a:solidFill>
                  <a:srgbClr val="7C1C91"/>
                </a:solidFill>
              </a:defRPr>
            </a:lvl4pPr>
            <a:lvl5pPr>
              <a:defRPr>
                <a:solidFill>
                  <a:srgbClr val="7C1C9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9C507A-9AD1-FD50-93EC-EA5B4E02BDBA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57188" y="7004765"/>
            <a:ext cx="8035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" b="1" i="0" err="1">
                <a:solidFill>
                  <a:srgbClr val="7B1B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Maziv.com</a:t>
            </a:r>
            <a:endParaRPr lang="en-US" sz="800" b="1" i="0">
              <a:solidFill>
                <a:srgbClr val="7B1B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998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F65B59F-1AD9-1F2D-0DB8-74A01C829EFE}"/>
              </a:ext>
            </a:extLst>
          </p:cNvPr>
          <p:cNvGraphicFramePr>
            <a:graphicFrameLocks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39999120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29" imgW="495" imgH="495" progId="TCLayout.ActiveDocument.1">
                  <p:embed/>
                </p:oleObj>
              </mc:Choice>
              <mc:Fallback>
                <p:oleObj name="thinkcell Slide" r:id="rId29" imgW="495" imgH="49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65B59F-1AD9-1F2D-0DB8-74A01C829E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7189" y="402484"/>
            <a:ext cx="9955674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7189" y="2012414"/>
            <a:ext cx="9955674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5497" y="703348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27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39" r:id="rId2"/>
    <p:sldLayoutId id="2147483692" r:id="rId3"/>
    <p:sldLayoutId id="2147483661" r:id="rId4"/>
    <p:sldLayoutId id="2147483674" r:id="rId5"/>
    <p:sldLayoutId id="2147483675" r:id="rId6"/>
    <p:sldLayoutId id="2147483676" r:id="rId7"/>
    <p:sldLayoutId id="2147483695" r:id="rId8"/>
    <p:sldLayoutId id="2147483677" r:id="rId9"/>
    <p:sldLayoutId id="2147483735" r:id="rId10"/>
    <p:sldLayoutId id="2147483679" r:id="rId11"/>
    <p:sldLayoutId id="2147483734" r:id="rId12"/>
    <p:sldLayoutId id="2147483684" r:id="rId13"/>
    <p:sldLayoutId id="2147483737" r:id="rId14"/>
    <p:sldLayoutId id="2147483736" r:id="rId15"/>
    <p:sldLayoutId id="2147483738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3" r:id="rId24"/>
    <p:sldLayoutId id="2147483694" r:id="rId25"/>
    <p:sldLayoutId id="2147483696" r:id="rId26"/>
  </p:sldLayoutIdLst>
  <p:hf hdr="0" dt="0"/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2650" b="1" kern="1200">
          <a:solidFill>
            <a:srgbClr val="4C1758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1600" kern="1200">
          <a:solidFill>
            <a:srgbClr val="4C1758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600" kern="1200">
          <a:solidFill>
            <a:srgbClr val="4C1758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600" kern="1200">
          <a:solidFill>
            <a:srgbClr val="4C1758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600" kern="1200">
          <a:solidFill>
            <a:srgbClr val="4C1758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600" kern="1200">
          <a:solidFill>
            <a:srgbClr val="4C1758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22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339E8-21C3-6E35-7CAF-D94DF44D7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5F2E1ED-4556-1E7B-80F4-59C3887D430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4" imgW="425" imgH="424" progId="TCLayout.ActiveDocument.1">
                  <p:embed/>
                </p:oleObj>
              </mc:Choice>
              <mc:Fallback>
                <p:oleObj name="thinkcell Slide" r:id="rId4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F2E1ED-4556-1E7B-80F4-59C3887D43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511BA00B-3E72-B409-8230-CAF754F27D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err="1"/>
              <a:t>Maziv</a:t>
            </a:r>
            <a:r>
              <a:rPr lang="en-US" dirty="0"/>
              <a:t> Budget Instructions</a:t>
            </a:r>
          </a:p>
          <a:p>
            <a:r>
              <a:rPr lang="en-US" dirty="0"/>
              <a:t>FY2028</a:t>
            </a:r>
          </a:p>
        </p:txBody>
      </p:sp>
    </p:spTree>
    <p:extLst>
      <p:ext uri="{BB962C8B-B14F-4D97-AF65-F5344CB8AC3E}">
        <p14:creationId xmlns:p14="http://schemas.microsoft.com/office/powerpoint/2010/main" val="2243837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FY2028 </a:t>
            </a:r>
            <a:r>
              <a:rPr lang="en-ZA" dirty="0"/>
              <a:t>B</a:t>
            </a:r>
            <a:r>
              <a:rPr dirty="0" err="1"/>
              <a:t>udget</a:t>
            </a:r>
            <a:r>
              <a:rPr lang="en-ZA" dirty="0"/>
              <a:t>:</a:t>
            </a:r>
            <a:r>
              <a:rPr dirty="0"/>
              <a:t> </a:t>
            </a:r>
            <a:r>
              <a:rPr lang="en-ZA" dirty="0"/>
              <a:t>P</a:t>
            </a:r>
            <a:r>
              <a:rPr dirty="0"/>
              <a:t>lan</a:t>
            </a:r>
            <a:r>
              <a:rPr lang="en-ZA" dirty="0"/>
              <a:t> |O</a:t>
            </a:r>
            <a:r>
              <a:rPr dirty="0"/>
              <a:t>ne </a:t>
            </a:r>
            <a:r>
              <a:rPr lang="en-ZA" dirty="0"/>
              <a:t>P</a:t>
            </a:r>
            <a:r>
              <a:rPr dirty="0" err="1"/>
              <a:t>rocess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marL="0" indent="0">
              <a:spcAft>
                <a:spcPts val="0"/>
              </a:spcAft>
              <a:buNone/>
            </a:pPr>
            <a:r>
              <a:rPr lang="en-ZA" sz="1400" dirty="0">
                <a:solidFill>
                  <a:srgbClr val="7C1C91"/>
                </a:solidFill>
              </a:rPr>
              <a:t>1. Plan </a:t>
            </a:r>
            <a:endParaRPr lang="en-ZA" sz="1400" b="1" i="0" dirty="0">
              <a:solidFill>
                <a:srgbClr val="7C1C9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lang="en-ZA" sz="1100" b="0" i="0" dirty="0">
                <a:solidFill>
                  <a:srgbClr val="3D4552"/>
                </a:solidFill>
              </a:rPr>
              <a:t>The FY2028 year of the Group ten-year plan is the budget target:</a:t>
            </a:r>
          </a:p>
          <a:p>
            <a:pPr>
              <a:spcAft>
                <a:spcPts val="600"/>
              </a:spcAft>
            </a:pPr>
            <a:r>
              <a:rPr lang="en-ZA" sz="1100" b="1" i="0" dirty="0">
                <a:solidFill>
                  <a:srgbClr val="3D4552"/>
                </a:solidFill>
              </a:rPr>
              <a:t>Set by: </a:t>
            </a:r>
            <a:r>
              <a:rPr lang="en-ZA" sz="1100" b="0" i="0" dirty="0">
                <a:solidFill>
                  <a:srgbClr val="3D4552"/>
                </a:solidFill>
              </a:rPr>
              <a:t>Group, top-down for each entity.</a:t>
            </a:r>
          </a:p>
          <a:p>
            <a:pPr>
              <a:spcAft>
                <a:spcPts val="600"/>
              </a:spcAft>
            </a:pPr>
            <a:r>
              <a:rPr lang="en-ZA" sz="1100" b="1" i="0" dirty="0">
                <a:solidFill>
                  <a:srgbClr val="3D4552"/>
                </a:solidFill>
              </a:rPr>
              <a:t>Measures: </a:t>
            </a:r>
            <a:r>
              <a:rPr lang="en-ZA" sz="1100" b="0" i="0" dirty="0">
                <a:solidFill>
                  <a:srgbClr val="3D4552"/>
                </a:solidFill>
              </a:rPr>
              <a:t>revenue growth, EBITDA, operating profit, headline earnings and capex.</a:t>
            </a:r>
          </a:p>
          <a:p>
            <a:pPr>
              <a:spcAft>
                <a:spcPts val="600"/>
              </a:spcAft>
            </a:pPr>
            <a:r>
              <a:rPr lang="en-ZA" sz="1100" b="1" i="0" dirty="0">
                <a:solidFill>
                  <a:srgbClr val="3D4552"/>
                </a:solidFill>
              </a:rPr>
              <a:t>Ownership: </a:t>
            </a:r>
            <a:r>
              <a:rPr lang="en-ZA" sz="1100" b="0" i="0" dirty="0">
                <a:solidFill>
                  <a:srgbClr val="3D4552"/>
                </a:solidFill>
              </a:rPr>
              <a:t>entities budget inside the target and decide how they reach it.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 wrap="square"/>
          <a:lstStyle/>
          <a:p>
            <a:pPr marL="0" indent="0">
              <a:spcAft>
                <a:spcPts val="0"/>
              </a:spcAft>
              <a:buNone/>
            </a:pPr>
            <a:r>
              <a:rPr lang="en-ZA" sz="1400" dirty="0">
                <a:solidFill>
                  <a:srgbClr val="7C1C91"/>
                </a:solidFill>
              </a:rPr>
              <a:t>3. I</a:t>
            </a:r>
            <a:r>
              <a:rPr lang="en-ZA" sz="1400" b="1" i="0" dirty="0">
                <a:solidFill>
                  <a:srgbClr val="7C1C91"/>
                </a:solidFill>
              </a:rPr>
              <a:t>nputs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6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lang="en-ZA" sz="1100" b="0" i="0" dirty="0">
                <a:solidFill>
                  <a:srgbClr val="3D4552"/>
                </a:solidFill>
              </a:rPr>
              <a:t>Use the Group assumptions as issued. Do not change them in your submission:</a:t>
            </a:r>
          </a:p>
          <a:p>
            <a:pPr lvl="1">
              <a:spcAft>
                <a:spcPts val="600"/>
              </a:spcAft>
            </a:pPr>
            <a:r>
              <a:rPr lang="en-ZA" sz="1100" b="1" i="0" dirty="0">
                <a:solidFill>
                  <a:srgbClr val="3D4552"/>
                </a:solidFill>
              </a:rPr>
              <a:t>Source: </a:t>
            </a:r>
            <a:r>
              <a:rPr lang="en-ZA" sz="1100" b="0" i="0" dirty="0">
                <a:solidFill>
                  <a:srgbClr val="3D4552"/>
                </a:solidFill>
              </a:rPr>
              <a:t>the Valuation</a:t>
            </a:r>
            <a:r>
              <a:rPr lang="en-ZA" sz="1100" dirty="0">
                <a:solidFill>
                  <a:srgbClr val="3D4552"/>
                </a:solidFill>
              </a:rPr>
              <a:t> – FY2027</a:t>
            </a:r>
            <a:endParaRPr lang="en-ZA" sz="1100" b="0" i="0" dirty="0">
              <a:solidFill>
                <a:srgbClr val="3D4552"/>
              </a:solidFill>
            </a:endParaRPr>
          </a:p>
          <a:p>
            <a:pPr>
              <a:spcAft>
                <a:spcPts val="600"/>
              </a:spcAft>
            </a:pPr>
            <a:r>
              <a:rPr lang="en-ZA" sz="1100" b="1" i="0" dirty="0">
                <a:solidFill>
                  <a:srgbClr val="3D4552"/>
                </a:solidFill>
              </a:rPr>
              <a:t>Exceptions: </a:t>
            </a:r>
            <a:r>
              <a:rPr lang="en-ZA" sz="1100" b="0" i="0" dirty="0">
                <a:solidFill>
                  <a:srgbClr val="3D4552"/>
                </a:solidFill>
              </a:rPr>
              <a:t>if an assumption does not fit your entity, tell Maziv Finance before you submit.</a:t>
            </a:r>
          </a:p>
          <a:p>
            <a:pPr>
              <a:spcAft>
                <a:spcPts val="600"/>
              </a:spcAft>
            </a:pPr>
            <a:r>
              <a:rPr lang="en-ZA" sz="1100" b="1" i="0" dirty="0">
                <a:solidFill>
                  <a:srgbClr val="3D4552"/>
                </a:solidFill>
              </a:rPr>
              <a:t>FX rate: </a:t>
            </a:r>
            <a:r>
              <a:rPr lang="en-ZA" sz="1100" b="0" i="0" dirty="0">
                <a:solidFill>
                  <a:srgbClr val="3D4552"/>
                </a:solidFill>
              </a:rPr>
              <a:t>to be confirmed by Group.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 wrap="square"/>
          <a:lstStyle/>
          <a:p>
            <a:pPr marL="0" indent="0">
              <a:spcAft>
                <a:spcPts val="0"/>
              </a:spcAft>
              <a:buNone/>
            </a:pPr>
            <a:r>
              <a:rPr lang="en-ZA" sz="1400" dirty="0">
                <a:solidFill>
                  <a:srgbClr val="7C1C91"/>
                </a:solidFill>
              </a:rPr>
              <a:t>2. Operating Leverage</a:t>
            </a:r>
            <a:endParaRPr lang="en-ZA" sz="1400" b="1" i="0" dirty="0">
              <a:solidFill>
                <a:srgbClr val="7C1C91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18"/>
          </p:nvPr>
        </p:nvSpPr>
        <p:spPr>
          <a:xfrm>
            <a:off x="5595655" y="1577903"/>
            <a:ext cx="4717207" cy="2168966"/>
          </a:xfrm>
        </p:spPr>
        <p:txBody>
          <a:bodyPr wrap="square"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ZA" sz="1100" b="0" i="0" dirty="0">
                <a:solidFill>
                  <a:srgbClr val="3D4552"/>
                </a:solidFill>
              </a:rPr>
              <a:t>Each entity budget shows operating leverage against FY2027:</a:t>
            </a:r>
          </a:p>
          <a:p>
            <a:pPr>
              <a:spcAft>
                <a:spcPts val="600"/>
              </a:spcAft>
            </a:pPr>
            <a:r>
              <a:rPr lang="en-ZA" sz="1100" b="1" i="0" dirty="0">
                <a:solidFill>
                  <a:srgbClr val="3D4552"/>
                </a:solidFill>
              </a:rPr>
              <a:t>Margin expansion: </a:t>
            </a:r>
            <a:r>
              <a:rPr lang="en-ZA" sz="1100" b="0" i="0" dirty="0">
                <a:solidFill>
                  <a:srgbClr val="3D4552"/>
                </a:solidFill>
              </a:rPr>
              <a:t>revenue grows faster (YoY) than operating costs.</a:t>
            </a:r>
          </a:p>
          <a:p>
            <a:pPr>
              <a:spcAft>
                <a:spcPts val="600"/>
              </a:spcAft>
            </a:pPr>
            <a:r>
              <a:rPr lang="en-ZA" sz="1100" b="1" i="0" dirty="0">
                <a:solidFill>
                  <a:srgbClr val="3D4552"/>
                </a:solidFill>
              </a:rPr>
              <a:t>Cost base: </a:t>
            </a:r>
            <a:r>
              <a:rPr lang="en-ZA" sz="1100" b="0" i="0" dirty="0">
                <a:solidFill>
                  <a:srgbClr val="3D4552"/>
                </a:solidFill>
              </a:rPr>
              <a:t>operating costs grow slower (YoY)  </a:t>
            </a:r>
          </a:p>
          <a:p>
            <a:pPr lvl="1">
              <a:spcAft>
                <a:spcPts val="600"/>
              </a:spcAft>
            </a:pPr>
            <a:r>
              <a:rPr lang="en-ZA" sz="1100" b="0" i="0" dirty="0">
                <a:solidFill>
                  <a:srgbClr val="3D4552"/>
                </a:solidFill>
              </a:rPr>
              <a:t>Review key unit of economics :</a:t>
            </a:r>
          </a:p>
          <a:p>
            <a:pPr lvl="1">
              <a:spcAft>
                <a:spcPts val="600"/>
              </a:spcAft>
            </a:pPr>
            <a:r>
              <a:rPr lang="en-ZA" sz="1100" dirty="0">
                <a:solidFill>
                  <a:schemeClr val="tx1"/>
                </a:solidFill>
              </a:rPr>
              <a:t>N</a:t>
            </a:r>
            <a:r>
              <a:rPr lang="en-ZA" sz="1100" b="0" i="0" dirty="0">
                <a:solidFill>
                  <a:schemeClr val="tx1"/>
                </a:solidFill>
              </a:rPr>
              <a:t>etwork volumes / capacity (</a:t>
            </a:r>
            <a:r>
              <a:rPr lang="en-ZA" sz="1100" dirty="0">
                <a:solidFill>
                  <a:schemeClr val="tx1"/>
                </a:solidFill>
              </a:rPr>
              <a:t>homes passed, active connections or Links)</a:t>
            </a:r>
            <a:endParaRPr lang="en-ZA" sz="1100" b="0" i="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ZA" sz="1100" b="1" i="0" dirty="0">
                <a:solidFill>
                  <a:srgbClr val="3D4552"/>
                </a:solidFill>
              </a:rPr>
              <a:t>Headcount: </a:t>
            </a:r>
            <a:r>
              <a:rPr lang="en-ZA" sz="1100" b="0" i="0" dirty="0">
                <a:solidFill>
                  <a:srgbClr val="3D4552"/>
                </a:solidFill>
              </a:rPr>
              <a:t>stays at FY2027 levels. Group reviews any increase and approves it only if it is tied to a strategic imperative.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/>
          </p:nvPr>
        </p:nvSpPr>
        <p:spPr/>
        <p:txBody>
          <a:bodyPr wrap="square"/>
          <a:lstStyle/>
          <a:p>
            <a:pPr marL="0" indent="0">
              <a:spcAft>
                <a:spcPts val="0"/>
              </a:spcAft>
              <a:buNone/>
            </a:pPr>
            <a:r>
              <a:rPr lang="en-ZA" sz="1400" dirty="0">
                <a:solidFill>
                  <a:srgbClr val="7C1C91"/>
                </a:solidFill>
              </a:rPr>
              <a:t>4. </a:t>
            </a:r>
            <a:r>
              <a:rPr lang="en-ZA" sz="1400" b="1" i="0" dirty="0">
                <a:solidFill>
                  <a:srgbClr val="7C1C91"/>
                </a:solidFill>
              </a:rPr>
              <a:t>Beyond </a:t>
            </a:r>
            <a:r>
              <a:rPr lang="en-ZA" sz="1400" dirty="0">
                <a:solidFill>
                  <a:srgbClr val="7C1C91"/>
                </a:solidFill>
              </a:rPr>
              <a:t>|</a:t>
            </a:r>
            <a:r>
              <a:rPr lang="en-ZA" sz="1400" b="1" i="0" dirty="0">
                <a:solidFill>
                  <a:srgbClr val="7C1C91"/>
                </a:solidFill>
              </a:rPr>
              <a:t>Target </a:t>
            </a:r>
            <a:r>
              <a:rPr lang="en-ZA" sz="1400" dirty="0">
                <a:solidFill>
                  <a:srgbClr val="7C1C91"/>
                </a:solidFill>
              </a:rPr>
              <a:t>and</a:t>
            </a:r>
            <a:r>
              <a:rPr lang="en-ZA" sz="1400" b="1" i="0" dirty="0">
                <a:solidFill>
                  <a:srgbClr val="7C1C91"/>
                </a:solidFill>
              </a:rPr>
              <a:t> </a:t>
            </a:r>
            <a:r>
              <a:rPr lang="en-ZA" sz="1400" dirty="0">
                <a:solidFill>
                  <a:srgbClr val="7C1C91"/>
                </a:solidFill>
              </a:rPr>
              <a:t>P</a:t>
            </a:r>
            <a:r>
              <a:rPr lang="en-ZA" sz="1400" b="1" i="0" dirty="0">
                <a:solidFill>
                  <a:srgbClr val="7C1C91"/>
                </a:solidFill>
              </a:rPr>
              <a:t>lan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20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lang="en-ZA" sz="1100" b="0" i="0" dirty="0">
                <a:solidFill>
                  <a:srgbClr val="3D4552"/>
                </a:solidFill>
              </a:rPr>
              <a:t>Submit spend outside the target as a separate strategic initiative, not in the base budget. Each initiative states:</a:t>
            </a:r>
          </a:p>
          <a:p>
            <a:pPr>
              <a:spcAft>
                <a:spcPts val="600"/>
              </a:spcAft>
            </a:pPr>
            <a:r>
              <a:rPr lang="en-ZA" sz="1100" b="1" i="0" dirty="0">
                <a:solidFill>
                  <a:srgbClr val="3D4552"/>
                </a:solidFill>
              </a:rPr>
              <a:t>Imperative: </a:t>
            </a:r>
            <a:r>
              <a:rPr lang="en-ZA" sz="1100" b="0" i="0" dirty="0">
                <a:solidFill>
                  <a:srgbClr val="3D4552"/>
                </a:solidFill>
              </a:rPr>
              <a:t>the strategic imperative it serves.</a:t>
            </a:r>
          </a:p>
          <a:p>
            <a:pPr>
              <a:spcAft>
                <a:spcPts val="600"/>
              </a:spcAft>
            </a:pPr>
            <a:r>
              <a:rPr lang="en-ZA" sz="1100" b="1" i="0" dirty="0">
                <a:solidFill>
                  <a:srgbClr val="3D4552"/>
                </a:solidFill>
              </a:rPr>
              <a:t>Ask: </a:t>
            </a:r>
            <a:r>
              <a:rPr lang="en-ZA" sz="1100" b="0" i="0" dirty="0">
                <a:solidFill>
                  <a:srgbClr val="3D4552"/>
                </a:solidFill>
              </a:rPr>
              <a:t>the capex and opex required.</a:t>
            </a:r>
          </a:p>
          <a:p>
            <a:pPr>
              <a:spcAft>
                <a:spcPts val="600"/>
              </a:spcAft>
            </a:pPr>
            <a:r>
              <a:rPr lang="en-ZA" sz="1100" b="1" i="0" dirty="0">
                <a:solidFill>
                  <a:srgbClr val="3D4552"/>
                </a:solidFill>
              </a:rPr>
              <a:t>Return: </a:t>
            </a:r>
            <a:r>
              <a:rPr lang="en-ZA" sz="1100" b="0" i="0" dirty="0">
                <a:solidFill>
                  <a:srgbClr val="3D4552"/>
                </a:solidFill>
              </a:rPr>
              <a:t>incremental revenue or network volumes, and the payback period.</a:t>
            </a:r>
          </a:p>
        </p:txBody>
      </p:sp>
    </p:spTree>
    <p:extLst>
      <p:ext uri="{BB962C8B-B14F-4D97-AF65-F5344CB8AC3E}">
        <p14:creationId xmlns:p14="http://schemas.microsoft.com/office/powerpoint/2010/main" val="2253059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Overview|</a:t>
            </a:r>
            <a:r>
              <a:rPr dirty="0"/>
              <a:t>FY2028 </a:t>
            </a:r>
            <a:r>
              <a:rPr lang="en-ZA" dirty="0"/>
              <a:t>T</a:t>
            </a:r>
            <a:r>
              <a:rPr dirty="0"/>
              <a:t>op-down </a:t>
            </a:r>
            <a:r>
              <a:rPr lang="en-ZA" dirty="0"/>
              <a:t>B</a:t>
            </a:r>
            <a:r>
              <a:rPr dirty="0" err="1"/>
              <a:t>udget</a:t>
            </a:r>
            <a:r>
              <a:rPr dirty="0"/>
              <a:t> works</a:t>
            </a:r>
          </a:p>
        </p:txBody>
      </p:sp>
      <p:sp>
        <p:nvSpPr>
          <p:cNvPr id="3" name="Step 1 arrow"/>
          <p:cNvSpPr/>
          <p:nvPr/>
        </p:nvSpPr>
        <p:spPr>
          <a:xfrm>
            <a:off x="566928" y="1280160"/>
            <a:ext cx="1874519" cy="685800"/>
          </a:xfrm>
          <a:prstGeom prst="homePlate">
            <a:avLst/>
          </a:prstGeom>
          <a:solidFill>
            <a:srgbClr val="7C1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FFFFFF"/>
                </a:solidFill>
              </a:rPr>
              <a:t>1</a:t>
            </a:r>
            <a:r>
              <a:rPr lang="en-ZA" sz="1200" b="1" i="0" dirty="0">
                <a:solidFill>
                  <a:srgbClr val="FFFFFF"/>
                </a:solidFill>
              </a:rPr>
              <a:t>.</a:t>
            </a:r>
            <a:r>
              <a:rPr sz="1200" b="1" i="0" dirty="0">
                <a:solidFill>
                  <a:srgbClr val="FFFFFF"/>
                </a:solidFill>
              </a:rPr>
              <a:t> Set the envelope</a:t>
            </a:r>
          </a:p>
        </p:txBody>
      </p:sp>
      <p:sp>
        <p:nvSpPr>
          <p:cNvPr id="4" name="Step 1 text"/>
          <p:cNvSpPr txBox="1"/>
          <p:nvPr/>
        </p:nvSpPr>
        <p:spPr>
          <a:xfrm>
            <a:off x="566928" y="2148840"/>
            <a:ext cx="1764792" cy="1371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200" b="1" i="0">
                <a:solidFill>
                  <a:srgbClr val="7C1C91"/>
                </a:solidFill>
              </a:rPr>
              <a:t>Oct to Nov 2026</a:t>
            </a:r>
          </a:p>
          <a:p>
            <a:pPr marL="0" indent="0">
              <a:spcAft>
                <a:spcPts val="0"/>
              </a:spcAft>
              <a:buNone/>
            </a:pPr>
            <a:r>
              <a:rPr sz="1200" b="0" i="0">
                <a:solidFill>
                  <a:srgbClr val="3D4552"/>
                </a:solidFill>
              </a:rPr>
              <a:t>Group sets assumptions, FX rate and the revenue, EBITDA and capex envelope per entity.</a:t>
            </a:r>
          </a:p>
        </p:txBody>
      </p:sp>
      <p:sp>
        <p:nvSpPr>
          <p:cNvPr id="5" name="Step 2 arrow"/>
          <p:cNvSpPr/>
          <p:nvPr/>
        </p:nvSpPr>
        <p:spPr>
          <a:xfrm>
            <a:off x="2514600" y="1280160"/>
            <a:ext cx="1874519" cy="685800"/>
          </a:xfrm>
          <a:prstGeom prst="chevron">
            <a:avLst/>
          </a:prstGeom>
          <a:solidFill>
            <a:srgbClr val="984D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FFFFFF"/>
                </a:solidFill>
              </a:rPr>
              <a:t>2</a:t>
            </a:r>
            <a:r>
              <a:rPr lang="en-ZA" sz="1200" b="1" i="0" dirty="0">
                <a:solidFill>
                  <a:srgbClr val="FFFFFF"/>
                </a:solidFill>
              </a:rPr>
              <a:t>.</a:t>
            </a:r>
            <a:r>
              <a:rPr sz="1200" b="1" i="0" dirty="0">
                <a:solidFill>
                  <a:srgbClr val="FFFFFF"/>
                </a:solidFill>
              </a:rPr>
              <a:t> </a:t>
            </a:r>
            <a:r>
              <a:rPr lang="en-ZA" sz="1200" b="1" i="0" dirty="0">
                <a:solidFill>
                  <a:srgbClr val="FFFFFF"/>
                </a:solidFill>
              </a:rPr>
              <a:t>B</a:t>
            </a:r>
            <a:r>
              <a:rPr sz="1200" b="1" i="0" dirty="0" err="1">
                <a:solidFill>
                  <a:srgbClr val="FFFFFF"/>
                </a:solidFill>
              </a:rPr>
              <a:t>udget</a:t>
            </a:r>
            <a:endParaRPr sz="1200" b="1" i="0" dirty="0">
              <a:solidFill>
                <a:srgbClr val="FFFFFF"/>
              </a:solidFill>
            </a:endParaRPr>
          </a:p>
        </p:txBody>
      </p:sp>
      <p:sp>
        <p:nvSpPr>
          <p:cNvPr id="6" name="Step 2 text"/>
          <p:cNvSpPr txBox="1"/>
          <p:nvPr/>
        </p:nvSpPr>
        <p:spPr>
          <a:xfrm>
            <a:off x="2514600" y="2148840"/>
            <a:ext cx="1764792" cy="12146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200" b="1" i="0" dirty="0">
                <a:solidFill>
                  <a:srgbClr val="7C1C91"/>
                </a:solidFill>
              </a:rPr>
              <a:t>Nov to Dec 2026</a:t>
            </a:r>
          </a:p>
          <a:p>
            <a:r>
              <a:rPr sz="1200" b="0" i="0" dirty="0">
                <a:solidFill>
                  <a:srgbClr val="3D4552"/>
                </a:solidFill>
              </a:rPr>
              <a:t>Strategy sessions on</a:t>
            </a:r>
            <a:r>
              <a:rPr lang="en-ZA" sz="1200" b="0" i="0" dirty="0">
                <a:solidFill>
                  <a:srgbClr val="3D4552"/>
                </a:solidFill>
              </a:rPr>
              <a:t> </a:t>
            </a:r>
            <a:r>
              <a:rPr lang="en-GB" sz="1200" dirty="0">
                <a:solidFill>
                  <a:srgbClr val="3D4552"/>
                </a:solidFill>
              </a:rPr>
              <a:t>11 and 12 Nov 2026.</a:t>
            </a:r>
          </a:p>
          <a:p>
            <a:r>
              <a:rPr lang="en-ZA" sz="1200" dirty="0">
                <a:solidFill>
                  <a:srgbClr val="3D4552"/>
                </a:solidFill>
              </a:rPr>
              <a:t>First Submission: </a:t>
            </a:r>
            <a:r>
              <a:rPr sz="1200" b="0" i="0" dirty="0">
                <a:solidFill>
                  <a:srgbClr val="3D4552"/>
                </a:solidFill>
              </a:rPr>
              <a:t>budget (the </a:t>
            </a:r>
            <a:r>
              <a:rPr lang="en-ZA" sz="1200" b="0" i="0" dirty="0">
                <a:solidFill>
                  <a:srgbClr val="3D4552"/>
                </a:solidFill>
              </a:rPr>
              <a:t>envelope</a:t>
            </a:r>
            <a:r>
              <a:rPr sz="1200" b="0" i="0" dirty="0">
                <a:solidFill>
                  <a:srgbClr val="3D4552"/>
                </a:solidFill>
              </a:rPr>
              <a:t>)</a:t>
            </a:r>
            <a:r>
              <a:rPr lang="en-ZA" sz="1200" b="0" i="0" dirty="0">
                <a:solidFill>
                  <a:srgbClr val="3D4552"/>
                </a:solidFill>
              </a:rPr>
              <a:t> 30 Nov 2026</a:t>
            </a:r>
            <a:endParaRPr sz="1200" b="0" i="0" dirty="0">
              <a:solidFill>
                <a:srgbClr val="3D4552"/>
              </a:solidFill>
            </a:endParaRPr>
          </a:p>
        </p:txBody>
      </p:sp>
      <p:sp>
        <p:nvSpPr>
          <p:cNvPr id="7" name="Step 3 arrow"/>
          <p:cNvSpPr/>
          <p:nvPr/>
        </p:nvSpPr>
        <p:spPr>
          <a:xfrm>
            <a:off x="4462272" y="1280160"/>
            <a:ext cx="1874519" cy="685800"/>
          </a:xfrm>
          <a:prstGeom prst="chevron">
            <a:avLst/>
          </a:prstGeom>
          <a:solidFill>
            <a:srgbClr val="7C1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FFFFFF"/>
                </a:solidFill>
              </a:rPr>
              <a:t>3</a:t>
            </a:r>
            <a:r>
              <a:rPr lang="en-ZA" sz="1200" b="1" i="0" dirty="0">
                <a:solidFill>
                  <a:srgbClr val="FFFFFF"/>
                </a:solidFill>
              </a:rPr>
              <a:t>.</a:t>
            </a:r>
            <a:r>
              <a:rPr sz="1200" b="1" i="0" dirty="0">
                <a:solidFill>
                  <a:srgbClr val="FFFFFF"/>
                </a:solidFill>
              </a:rPr>
              <a:t> Build to envelope</a:t>
            </a:r>
          </a:p>
        </p:txBody>
      </p:sp>
      <p:sp>
        <p:nvSpPr>
          <p:cNvPr id="8" name="Step 3 text"/>
          <p:cNvSpPr txBox="1"/>
          <p:nvPr/>
        </p:nvSpPr>
        <p:spPr>
          <a:xfrm>
            <a:off x="4462272" y="2148840"/>
            <a:ext cx="1764792" cy="103002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200" b="1" i="0" dirty="0">
                <a:solidFill>
                  <a:srgbClr val="7C1C91"/>
                </a:solidFill>
              </a:rPr>
              <a:t>Jan 2027</a:t>
            </a:r>
          </a:p>
          <a:p>
            <a:pPr marL="0" indent="0">
              <a:spcAft>
                <a:spcPts val="0"/>
              </a:spcAft>
              <a:buNone/>
            </a:pPr>
            <a:r>
              <a:rPr sz="1200" b="0" i="0" dirty="0">
                <a:solidFill>
                  <a:srgbClr val="3D4552"/>
                </a:solidFill>
              </a:rPr>
              <a:t>Entities build the detailed budget inside the envelope. </a:t>
            </a:r>
            <a:r>
              <a:rPr lang="en-ZA" sz="1200" dirty="0">
                <a:solidFill>
                  <a:srgbClr val="3D4552"/>
                </a:solidFill>
              </a:rPr>
              <a:t>Final</a:t>
            </a:r>
            <a:r>
              <a:rPr sz="1200" b="0" i="0" dirty="0">
                <a:solidFill>
                  <a:srgbClr val="3D4552"/>
                </a:solidFill>
              </a:rPr>
              <a:t> submission on 21 Jan.</a:t>
            </a:r>
          </a:p>
        </p:txBody>
      </p:sp>
      <p:sp>
        <p:nvSpPr>
          <p:cNvPr id="9" name="Step 4 arrow"/>
          <p:cNvSpPr/>
          <p:nvPr/>
        </p:nvSpPr>
        <p:spPr>
          <a:xfrm>
            <a:off x="6409944" y="1280160"/>
            <a:ext cx="1874519" cy="685800"/>
          </a:xfrm>
          <a:prstGeom prst="chevron">
            <a:avLst/>
          </a:prstGeom>
          <a:solidFill>
            <a:srgbClr val="984D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FFFFFF"/>
                </a:solidFill>
              </a:rPr>
              <a:t>4</a:t>
            </a:r>
            <a:r>
              <a:rPr lang="en-ZA" sz="1200" b="1" i="0" dirty="0">
                <a:solidFill>
                  <a:srgbClr val="FFFFFF"/>
                </a:solidFill>
              </a:rPr>
              <a:t>.</a:t>
            </a:r>
            <a:r>
              <a:rPr sz="1200" b="1" i="0" dirty="0">
                <a:solidFill>
                  <a:srgbClr val="FFFFFF"/>
                </a:solidFill>
              </a:rPr>
              <a:t> Close the gaps</a:t>
            </a:r>
          </a:p>
        </p:txBody>
      </p:sp>
      <p:sp>
        <p:nvSpPr>
          <p:cNvPr id="10" name="Step 4 text"/>
          <p:cNvSpPr txBox="1"/>
          <p:nvPr/>
        </p:nvSpPr>
        <p:spPr>
          <a:xfrm>
            <a:off x="6409944" y="2148840"/>
            <a:ext cx="1764792" cy="1371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200" b="1" i="0">
                <a:solidFill>
                  <a:srgbClr val="7C1C91"/>
                </a:solidFill>
              </a:rPr>
              <a:t>Late Jan to Feb 2027</a:t>
            </a:r>
          </a:p>
          <a:p>
            <a:pPr marL="0" indent="0">
              <a:spcAft>
                <a:spcPts val="0"/>
              </a:spcAft>
              <a:buNone/>
            </a:pPr>
            <a:r>
              <a:rPr sz="1200" b="0" i="0">
                <a:solidFill>
                  <a:srgbClr val="3D4552"/>
                </a:solidFill>
              </a:rPr>
              <a:t>Maziv Finance reviews gaps. Entities resubmit only the items with gaps.</a:t>
            </a:r>
          </a:p>
        </p:txBody>
      </p:sp>
      <p:sp>
        <p:nvSpPr>
          <p:cNvPr id="11" name="Step 5 arrow"/>
          <p:cNvSpPr/>
          <p:nvPr/>
        </p:nvSpPr>
        <p:spPr>
          <a:xfrm>
            <a:off x="8357615" y="1280160"/>
            <a:ext cx="1874519" cy="685800"/>
          </a:xfrm>
          <a:prstGeom prst="chevron">
            <a:avLst/>
          </a:prstGeom>
          <a:solidFill>
            <a:srgbClr val="984D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FFFFFF"/>
                </a:solidFill>
              </a:rPr>
              <a:t>5</a:t>
            </a:r>
            <a:r>
              <a:rPr lang="en-ZA" sz="1200" b="1" i="0" dirty="0">
                <a:solidFill>
                  <a:srgbClr val="FFFFFF"/>
                </a:solidFill>
              </a:rPr>
              <a:t>. </a:t>
            </a:r>
            <a:r>
              <a:rPr sz="1200" b="1" i="0" dirty="0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12" name="Step 5 text"/>
          <p:cNvSpPr txBox="1"/>
          <p:nvPr/>
        </p:nvSpPr>
        <p:spPr>
          <a:xfrm>
            <a:off x="8357615" y="2148840"/>
            <a:ext cx="1764792" cy="1371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200" b="1" i="0">
                <a:solidFill>
                  <a:srgbClr val="7C1C91"/>
                </a:solidFill>
              </a:rPr>
              <a:t>Feb to Mar 2027</a:t>
            </a:r>
          </a:p>
          <a:p>
            <a:pPr marL="0" indent="0">
              <a:spcAft>
                <a:spcPts val="0"/>
              </a:spcAft>
              <a:buNone/>
            </a:pPr>
            <a:r>
              <a:rPr sz="1200" b="0" i="0">
                <a:solidFill>
                  <a:srgbClr val="3D4552"/>
                </a:solidFill>
              </a:rPr>
              <a:t>Board budget presentation, then IC capex approval and Group budget approval.</a:t>
            </a:r>
          </a:p>
        </p:txBody>
      </p:sp>
      <p:sp>
        <p:nvSpPr>
          <p:cNvPr id="13" name="Rules panel"/>
          <p:cNvSpPr/>
          <p:nvPr/>
        </p:nvSpPr>
        <p:spPr>
          <a:xfrm>
            <a:off x="566928" y="3703320"/>
            <a:ext cx="9537192" cy="2880360"/>
          </a:xfrm>
          <a:prstGeom prst="rect">
            <a:avLst/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ules left"/>
          <p:cNvSpPr txBox="1"/>
          <p:nvPr/>
        </p:nvSpPr>
        <p:spPr>
          <a:xfrm>
            <a:off x="777240" y="3931920"/>
            <a:ext cx="4480560" cy="150195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sz="1400" b="1" i="0" dirty="0">
                <a:solidFill>
                  <a:srgbClr val="7C1C91"/>
                </a:solidFill>
              </a:rPr>
              <a:t>Rules for entities</a:t>
            </a:r>
            <a:endParaRPr lang="en-ZA" sz="1400" b="1" i="0" dirty="0">
              <a:solidFill>
                <a:srgbClr val="7C1C91"/>
              </a:solidFill>
            </a:endParaRP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200" b="0" i="0" dirty="0">
                <a:solidFill>
                  <a:srgbClr val="3D4552"/>
                </a:solidFill>
              </a:rPr>
              <a:t>The envelope is the target. You own how you reach it.</a:t>
            </a:r>
            <a:endParaRPr lang="en-ZA" sz="1200" b="0" i="0" dirty="0">
              <a:solidFill>
                <a:srgbClr val="3D4552"/>
              </a:solidFill>
            </a:endParaRP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200" b="0" i="0" dirty="0">
                <a:solidFill>
                  <a:srgbClr val="3D4552"/>
                </a:solidFill>
              </a:rPr>
              <a:t>Explain every gap to the envelope by driver: volume, price, cost and timing.</a:t>
            </a:r>
            <a:r>
              <a:rPr lang="en-ZA" sz="1200" b="0" i="0" dirty="0">
                <a:solidFill>
                  <a:srgbClr val="3D4552"/>
                </a:solidFill>
              </a:rPr>
              <a:t> </a:t>
            </a:r>
            <a:r>
              <a:rPr lang="en-ZA" sz="1200" b="0" i="0" dirty="0" err="1">
                <a:solidFill>
                  <a:srgbClr val="3D4552"/>
                </a:solidFill>
              </a:rPr>
              <a:t>Maziv</a:t>
            </a:r>
            <a:r>
              <a:rPr lang="en-ZA" sz="1200" b="0" i="0" dirty="0">
                <a:solidFill>
                  <a:srgbClr val="3D4552"/>
                </a:solidFill>
              </a:rPr>
              <a:t> to provide the template</a:t>
            </a:r>
            <a:endParaRPr lang="en-ZA" sz="1200" dirty="0">
              <a:solidFill>
                <a:srgbClr val="3D4552"/>
              </a:solidFill>
            </a:endParaRP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200" b="0" i="0" dirty="0">
                <a:solidFill>
                  <a:srgbClr val="3D4552"/>
                </a:solidFill>
              </a:rPr>
              <a:t>Spend outside the envelope goes in a separate strategic initiative submission.</a:t>
            </a:r>
          </a:p>
        </p:txBody>
      </p:sp>
      <p:sp>
        <p:nvSpPr>
          <p:cNvPr id="15" name="Rules right"/>
          <p:cNvSpPr txBox="1"/>
          <p:nvPr/>
        </p:nvSpPr>
        <p:spPr>
          <a:xfrm>
            <a:off x="5486400" y="3931920"/>
            <a:ext cx="4480560" cy="14506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sz="1400" b="1" i="0" dirty="0">
                <a:solidFill>
                  <a:srgbClr val="7C1C91"/>
                </a:solidFill>
              </a:rPr>
              <a:t>What Group does</a:t>
            </a:r>
          </a:p>
          <a:p>
            <a:pPr marL="171450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200" b="0" i="0" dirty="0">
                <a:solidFill>
                  <a:srgbClr val="3D4552"/>
                </a:solidFill>
              </a:rPr>
              <a:t>Sets the envelope from the FY2027 forecast, the ten-year plan and </a:t>
            </a:r>
            <a:r>
              <a:rPr lang="en-ZA" sz="1200" b="0" i="0" dirty="0">
                <a:solidFill>
                  <a:srgbClr val="3D4552"/>
                </a:solidFill>
              </a:rPr>
              <a:t> </a:t>
            </a:r>
            <a:r>
              <a:rPr sz="1200" b="0" i="0" dirty="0">
                <a:solidFill>
                  <a:srgbClr val="3D4552"/>
                </a:solidFill>
              </a:rPr>
              <a:t>the strategy sessions.</a:t>
            </a:r>
          </a:p>
          <a:p>
            <a:pPr marL="171450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200" b="0" i="0" dirty="0">
                <a:solidFill>
                  <a:srgbClr val="3D4552"/>
                </a:solidFill>
              </a:rPr>
              <a:t>Issues one template for the envelope reconciliation and the operating leverage schedule.</a:t>
            </a:r>
          </a:p>
          <a:p>
            <a:pPr marL="171450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200" b="0" i="0" dirty="0">
                <a:solidFill>
                  <a:srgbClr val="3D4552"/>
                </a:solidFill>
              </a:rPr>
              <a:t>Gives feedback on the first submission within six working days.</a:t>
            </a:r>
          </a:p>
        </p:txBody>
      </p:sp>
      <p:sp>
        <p:nvSpPr>
          <p:cNvPr id="16" name="Draft tag"/>
          <p:cNvSpPr txBox="1"/>
          <p:nvPr/>
        </p:nvSpPr>
        <p:spPr>
          <a:xfrm>
            <a:off x="6675120" y="6949440"/>
            <a:ext cx="3639312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sz="800" b="0" i="0">
                <a:solidFill>
                  <a:srgbClr val="8B9097"/>
                </a:solidFill>
              </a:rPr>
              <a:t>DRAFT for Group CFO review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84221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 err="1"/>
              <a:t>Maziv</a:t>
            </a:r>
            <a:r>
              <a:rPr lang="en-ZA" dirty="0"/>
              <a:t> |</a:t>
            </a:r>
            <a:r>
              <a:rPr dirty="0"/>
              <a:t>Budget owners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092765"/>
              </p:ext>
            </p:extLst>
          </p:nvPr>
        </p:nvGraphicFramePr>
        <p:xfrm>
          <a:off x="548638" y="1142999"/>
          <a:ext cx="9680583" cy="552909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45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4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989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00" b="1" i="0" dirty="0">
                          <a:solidFill>
                            <a:srgbClr val="FFFFFF"/>
                          </a:solidFill>
                        </a:rPr>
                        <a:t>Entity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1C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00" b="1" i="0" dirty="0">
                          <a:solidFill>
                            <a:srgbClr val="FFFFFF"/>
                          </a:solidFill>
                        </a:rPr>
                        <a:t>Person responsible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1C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807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00" b="1" i="0" dirty="0" err="1">
                          <a:solidFill>
                            <a:srgbClr val="1F2530"/>
                          </a:solidFill>
                        </a:rPr>
                        <a:t>Maziv</a:t>
                      </a:r>
                      <a:r>
                        <a:rPr sz="1000" b="1" i="0" dirty="0">
                          <a:solidFill>
                            <a:srgbClr val="1F2530"/>
                          </a:solidFill>
                        </a:rPr>
                        <a:t> consol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3D4552"/>
                          </a:solidFill>
                        </a:rPr>
                        <a:t>Zunaid Akoojee (ZA)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807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00" b="1" i="0" dirty="0" err="1">
                          <a:solidFill>
                            <a:srgbClr val="1F2530"/>
                          </a:solidFill>
                        </a:rPr>
                        <a:t>Maziv</a:t>
                      </a:r>
                      <a:endParaRPr sz="1000" b="1" i="0" dirty="0">
                        <a:solidFill>
                          <a:srgbClr val="1F2530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 i="0" dirty="0">
                          <a:solidFill>
                            <a:srgbClr val="3D4552"/>
                          </a:solidFill>
                        </a:rPr>
                        <a:t>Zunaid Akoojee (ZA)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807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00" b="1" i="0" dirty="0" err="1">
                          <a:solidFill>
                            <a:srgbClr val="1F2530"/>
                          </a:solidFill>
                        </a:rPr>
                        <a:t>Maziv</a:t>
                      </a:r>
                      <a:r>
                        <a:rPr sz="1000" b="1" i="0" dirty="0">
                          <a:solidFill>
                            <a:srgbClr val="1F2530"/>
                          </a:solidFill>
                        </a:rPr>
                        <a:t> </a:t>
                      </a:r>
                      <a:r>
                        <a:rPr sz="1000" b="1" i="0" dirty="0" err="1">
                          <a:solidFill>
                            <a:srgbClr val="1F2530"/>
                          </a:solidFill>
                        </a:rPr>
                        <a:t>PropCo</a:t>
                      </a:r>
                      <a:endParaRPr sz="1000" b="1" i="0" dirty="0">
                        <a:solidFill>
                          <a:srgbClr val="1F2530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 i="0" dirty="0">
                          <a:solidFill>
                            <a:srgbClr val="3D4552"/>
                          </a:solidFill>
                        </a:rPr>
                        <a:t>Zunaid Akoojee (ZA)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807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000" b="1" i="0" dirty="0" err="1">
                          <a:solidFill>
                            <a:srgbClr val="1F2530"/>
                          </a:solidFill>
                        </a:rPr>
                        <a:t>Maziv</a:t>
                      </a:r>
                      <a:r>
                        <a:rPr sz="1000" b="1" i="0" dirty="0">
                          <a:solidFill>
                            <a:srgbClr val="1F2530"/>
                          </a:solidFill>
                        </a:rPr>
                        <a:t> </a:t>
                      </a:r>
                      <a:r>
                        <a:rPr sz="1000" b="1" i="0" dirty="0" err="1">
                          <a:solidFill>
                            <a:srgbClr val="1F2530"/>
                          </a:solidFill>
                        </a:rPr>
                        <a:t>PrefCo</a:t>
                      </a:r>
                      <a:endParaRPr sz="1000" b="1" i="0" dirty="0">
                        <a:solidFill>
                          <a:srgbClr val="1F2530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 i="0" dirty="0">
                          <a:solidFill>
                            <a:srgbClr val="3D4552"/>
                          </a:solidFill>
                        </a:rPr>
                        <a:t>Zunaid Akoojee (ZA)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807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000" b="1" i="0" dirty="0" err="1">
                          <a:solidFill>
                            <a:srgbClr val="1F2530"/>
                          </a:solidFill>
                        </a:rPr>
                        <a:t>Maziv</a:t>
                      </a:r>
                      <a:r>
                        <a:rPr sz="1000" b="1" i="0" dirty="0">
                          <a:solidFill>
                            <a:srgbClr val="1F2530"/>
                          </a:solidFill>
                        </a:rPr>
                        <a:t> </a:t>
                      </a:r>
                      <a:r>
                        <a:rPr sz="1000" b="1" i="0" dirty="0" err="1">
                          <a:solidFill>
                            <a:srgbClr val="1F2530"/>
                          </a:solidFill>
                        </a:rPr>
                        <a:t>LoanCo</a:t>
                      </a:r>
                      <a:endParaRPr sz="1000" b="1" i="0" dirty="0">
                        <a:solidFill>
                          <a:srgbClr val="1F2530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 i="0" dirty="0">
                          <a:solidFill>
                            <a:srgbClr val="3D4552"/>
                          </a:solidFill>
                        </a:rPr>
                        <a:t>Zunaid Akoojee (ZA)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483491"/>
                  </a:ext>
                </a:extLst>
              </a:tr>
              <a:tr h="343807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00" b="1" i="0" dirty="0">
                          <a:solidFill>
                            <a:srgbClr val="1F2530"/>
                          </a:solidFill>
                        </a:rPr>
                        <a:t>DFA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000" b="0" i="0" dirty="0">
                          <a:solidFill>
                            <a:srgbClr val="3D4552"/>
                          </a:solidFill>
                        </a:rPr>
                        <a:t>Neelan Jina (NJ)</a:t>
                      </a:r>
                      <a:endParaRPr sz="1000" b="0" i="0" dirty="0">
                        <a:solidFill>
                          <a:srgbClr val="3D4552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807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00" b="1" i="0" dirty="0">
                          <a:solidFill>
                            <a:srgbClr val="1F2530"/>
                          </a:solidFill>
                        </a:rPr>
                        <a:t>Vumatel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000" b="0" i="0" dirty="0">
                          <a:solidFill>
                            <a:srgbClr val="3D4552"/>
                          </a:solidFill>
                        </a:rPr>
                        <a:t>Wayne Levitas (WL)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807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00" b="1" i="0" dirty="0">
                          <a:solidFill>
                            <a:srgbClr val="1F2530"/>
                          </a:solidFill>
                        </a:rPr>
                        <a:t>SADV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 i="0" dirty="0">
                          <a:solidFill>
                            <a:srgbClr val="3D4552"/>
                          </a:solidFill>
                        </a:rPr>
                        <a:t>Nancy Chisora (NC)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3807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00" b="1" i="0" dirty="0" err="1">
                          <a:solidFill>
                            <a:srgbClr val="1F2530"/>
                          </a:solidFill>
                        </a:rPr>
                        <a:t>VumaCam</a:t>
                      </a:r>
                      <a:r>
                        <a:rPr sz="1000" b="1" i="0" dirty="0">
                          <a:solidFill>
                            <a:srgbClr val="1F2530"/>
                          </a:solidFill>
                        </a:rPr>
                        <a:t> &amp; Centr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000" b="0" i="0" dirty="0" err="1">
                          <a:solidFill>
                            <a:srgbClr val="3D4552"/>
                          </a:solidFill>
                        </a:rPr>
                        <a:t>Lindwe Mzaidume</a:t>
                      </a:r>
                      <a:r>
                        <a:rPr lang="en-ZA" sz="1000" b="0" i="0" dirty="0">
                          <a:solidFill>
                            <a:srgbClr val="3D4552"/>
                          </a:solidFill>
                        </a:rPr>
                        <a:t> (LM)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3807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00" b="1" i="0" dirty="0" err="1">
                          <a:solidFill>
                            <a:srgbClr val="1F2530"/>
                          </a:solidFill>
                        </a:rPr>
                        <a:t>Britelink</a:t>
                      </a:r>
                      <a:r>
                        <a:rPr sz="1000" b="1" i="0" dirty="0">
                          <a:solidFill>
                            <a:srgbClr val="1F2530"/>
                          </a:solidFill>
                        </a:rPr>
                        <a:t> MCT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 i="0" dirty="0">
                          <a:solidFill>
                            <a:srgbClr val="3D4552"/>
                          </a:solidFill>
                        </a:rPr>
                        <a:t>Richard Osborne (RO)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3807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000" b="1" i="0" dirty="0">
                          <a:solidFill>
                            <a:srgbClr val="1F2530"/>
                          </a:solidFill>
                        </a:rPr>
                        <a:t>One Reach</a:t>
                      </a:r>
                      <a:endParaRPr sz="1000" b="1" i="0" dirty="0">
                        <a:solidFill>
                          <a:srgbClr val="1F2530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000" b="0" i="0" dirty="0">
                          <a:solidFill>
                            <a:srgbClr val="3D4552"/>
                          </a:solidFill>
                        </a:rPr>
                        <a:t>Wayne Levitas (WL)</a:t>
                      </a:r>
                      <a:endParaRPr sz="1000" b="0" i="0" dirty="0">
                        <a:solidFill>
                          <a:srgbClr val="3D4552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3807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00" b="1" i="0" dirty="0" err="1">
                          <a:solidFill>
                            <a:srgbClr val="1F2530"/>
                          </a:solidFill>
                        </a:rPr>
                        <a:t>Herotel</a:t>
                      </a:r>
                      <a:endParaRPr sz="1000" b="1" i="0" dirty="0">
                        <a:solidFill>
                          <a:srgbClr val="1F2530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 i="0" dirty="0">
                          <a:solidFill>
                            <a:srgbClr val="3D4552"/>
                          </a:solidFill>
                        </a:rPr>
                        <a:t>Lukas de Kock (</a:t>
                      </a:r>
                      <a:r>
                        <a:rPr sz="1000" b="0" i="0" dirty="0" err="1">
                          <a:solidFill>
                            <a:srgbClr val="3D4552"/>
                          </a:solidFill>
                        </a:rPr>
                        <a:t>LdK</a:t>
                      </a:r>
                      <a:r>
                        <a:rPr sz="1000" b="0" i="0" dirty="0">
                          <a:solidFill>
                            <a:srgbClr val="3D4552"/>
                          </a:solidFill>
                        </a:rPr>
                        <a:t>)</a:t>
                      </a:r>
                      <a:endParaRPr sz="1000" b="1" i="0" dirty="0">
                        <a:solidFill>
                          <a:srgbClr val="8F5F07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3807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00" b="1" i="0" dirty="0">
                          <a:solidFill>
                            <a:srgbClr val="1F2530"/>
                          </a:solidFill>
                        </a:rPr>
                        <a:t>Rise</a:t>
                      </a:r>
                      <a:r>
                        <a:rPr lang="en-ZA" sz="1000" b="1" i="0" dirty="0">
                          <a:solidFill>
                            <a:srgbClr val="1F2530"/>
                          </a:solidFill>
                        </a:rPr>
                        <a:t>  Group ( </a:t>
                      </a:r>
                      <a:r>
                        <a:rPr lang="en-ZA" sz="1000" b="1" i="0" dirty="0" err="1">
                          <a:solidFill>
                            <a:srgbClr val="1F2530"/>
                          </a:solidFill>
                        </a:rPr>
                        <a:t>Rise,Fworx,Connected</a:t>
                      </a:r>
                      <a:r>
                        <a:rPr lang="en-ZA" sz="1000" b="1" i="0" dirty="0">
                          <a:solidFill>
                            <a:srgbClr val="1F2530"/>
                          </a:solidFill>
                        </a:rPr>
                        <a:t> Space)</a:t>
                      </a:r>
                      <a:endParaRPr sz="1000" b="1" i="0" dirty="0">
                        <a:solidFill>
                          <a:srgbClr val="1F2530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007943" rtl="0" eaLnBrk="1" latinLnBrk="0" hangingPunct="1">
                        <a:spcAft>
                          <a:spcPts val="0"/>
                        </a:spcAft>
                        <a:buNone/>
                      </a:pPr>
                      <a:r>
                        <a:rPr lang="en-ZA" sz="1000" b="0" i="0" kern="1200" dirty="0">
                          <a:solidFill>
                            <a:srgbClr val="3D4552"/>
                          </a:solidFill>
                          <a:latin typeface="+mn-lt"/>
                          <a:ea typeface="+mn-ea"/>
                          <a:cs typeface="+mn-cs"/>
                        </a:rPr>
                        <a:t>Aimee Roux (AR)</a:t>
                      </a:r>
                      <a:endParaRPr sz="1000" b="0" i="0" kern="1200" dirty="0">
                        <a:solidFill>
                          <a:srgbClr val="3D455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3807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000" b="1" i="0" dirty="0">
                          <a:solidFill>
                            <a:srgbClr val="1F2530"/>
                          </a:solidFill>
                        </a:rPr>
                        <a:t>Axio </a:t>
                      </a:r>
                      <a:endParaRPr sz="1000" b="1" i="0" dirty="0">
                        <a:solidFill>
                          <a:srgbClr val="1F2530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007943" rtl="0" eaLnBrk="1" latinLnBrk="0" hangingPunct="1">
                        <a:spcAft>
                          <a:spcPts val="0"/>
                        </a:spcAft>
                        <a:buNone/>
                      </a:pPr>
                      <a:r>
                        <a:rPr lang="en-ZA" sz="1000" b="0" i="0" kern="1200" dirty="0">
                          <a:solidFill>
                            <a:srgbClr val="3D4552"/>
                          </a:solidFill>
                          <a:latin typeface="+mn-lt"/>
                          <a:ea typeface="+mn-ea"/>
                          <a:cs typeface="+mn-cs"/>
                        </a:rPr>
                        <a:t>Aimee Roux (AR)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3807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000" b="1" i="0" dirty="0">
                          <a:solidFill>
                            <a:srgbClr val="1F2530"/>
                          </a:solidFill>
                        </a:rPr>
                        <a:t>Vuma </a:t>
                      </a:r>
                      <a:r>
                        <a:rPr lang="en-ZA" sz="1000" b="1" i="0" dirty="0" err="1">
                          <a:solidFill>
                            <a:srgbClr val="1F2530"/>
                          </a:solidFill>
                        </a:rPr>
                        <a:t>InfraCo</a:t>
                      </a:r>
                      <a:r>
                        <a:rPr lang="en-ZA" sz="1000" b="1" i="0" dirty="0">
                          <a:solidFill>
                            <a:srgbClr val="1F2530"/>
                          </a:solidFill>
                        </a:rPr>
                        <a:t> </a:t>
                      </a:r>
                      <a:endParaRPr sz="1000" b="1" i="0" dirty="0">
                        <a:solidFill>
                          <a:srgbClr val="1F2530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000" b="0" i="0" dirty="0" err="1">
                          <a:solidFill>
                            <a:srgbClr val="3D4552"/>
                          </a:solidFill>
                        </a:rPr>
                        <a:t>Lindwe Mzaidume</a:t>
                      </a:r>
                      <a:r>
                        <a:rPr lang="en-ZA" sz="1000" b="0" i="0" dirty="0">
                          <a:solidFill>
                            <a:srgbClr val="3D4552"/>
                          </a:solidFill>
                        </a:rPr>
                        <a:t> (LM)</a:t>
                      </a:r>
                      <a:endParaRPr sz="1000" b="0" i="0" dirty="0">
                        <a:solidFill>
                          <a:srgbClr val="3D4552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2822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240EE-6273-2FF4-ADB5-7E833FCCE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B3427-22D8-4455-AC65-576AF6485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 err="1"/>
              <a:t>Maziv</a:t>
            </a:r>
            <a:r>
              <a:rPr lang="en-ZA" dirty="0"/>
              <a:t> | </a:t>
            </a:r>
            <a:r>
              <a:rPr dirty="0"/>
              <a:t>Key </a:t>
            </a:r>
            <a:r>
              <a:rPr lang="en-ZA" dirty="0"/>
              <a:t>D</a:t>
            </a:r>
            <a:r>
              <a:rPr dirty="0" err="1"/>
              <a:t>ates</a:t>
            </a:r>
            <a:r>
              <a:rPr lang="en-ZA" dirty="0"/>
              <a:t>|M</a:t>
            </a:r>
            <a:r>
              <a:rPr dirty="0" err="1"/>
              <a:t>eetings</a:t>
            </a:r>
            <a:r>
              <a:rPr dirty="0"/>
              <a:t> and </a:t>
            </a:r>
            <a:r>
              <a:rPr lang="en-ZA" dirty="0"/>
              <a:t>S</a:t>
            </a:r>
            <a:r>
              <a:rPr dirty="0" err="1"/>
              <a:t>essions</a:t>
            </a:r>
            <a:endParaRPr dirty="0"/>
          </a:p>
        </p:txBody>
      </p:sp>
      <p:graphicFrame>
        <p:nvGraphicFramePr>
          <p:cNvPr id="3" name="Table">
            <a:extLst>
              <a:ext uri="{FF2B5EF4-FFF2-40B4-BE49-F238E27FC236}">
                <a16:creationId xmlns:a16="http://schemas.microsoft.com/office/drawing/2014/main" id="{63736AB7-CB2B-4D2C-8462-2D7E08C59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984165"/>
              </p:ext>
            </p:extLst>
          </p:nvPr>
        </p:nvGraphicFramePr>
        <p:xfrm>
          <a:off x="411126" y="1170433"/>
          <a:ext cx="9901736" cy="5662763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404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4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2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183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Objective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65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 i="0" dirty="0" err="1">
                          <a:solidFill>
                            <a:srgbClr val="1F2530"/>
                          </a:solidFill>
                        </a:rPr>
                        <a:t>Maziv</a:t>
                      </a:r>
                      <a:r>
                        <a:rPr sz="1100" b="1" i="0" dirty="0">
                          <a:solidFill>
                            <a:srgbClr val="1F2530"/>
                          </a:solidFill>
                        </a:rPr>
                        <a:t> internal strategy sessions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 dirty="0">
                          <a:solidFill>
                            <a:srgbClr val="3D4552"/>
                          </a:solidFill>
                        </a:rPr>
                        <a:t>11 and 12 Nov 2026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 dirty="0">
                          <a:solidFill>
                            <a:srgbClr val="3D4552"/>
                          </a:solidFill>
                        </a:rPr>
                        <a:t>Review strategy and business plans; agree the envelope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65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100" b="1" i="0" dirty="0" err="1">
                          <a:solidFill>
                            <a:srgbClr val="1F2530"/>
                          </a:solidFill>
                        </a:rPr>
                        <a:t>Maziv</a:t>
                      </a:r>
                      <a:r>
                        <a:rPr lang="en-ZA" sz="1100" b="1" i="0" dirty="0">
                          <a:solidFill>
                            <a:srgbClr val="1F2530"/>
                          </a:solidFill>
                        </a:rPr>
                        <a:t> Straw/Plan Budget – Updates </a:t>
                      </a:r>
                      <a:endParaRPr sz="1100" b="1" i="0" dirty="0">
                        <a:solidFill>
                          <a:srgbClr val="1F2530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100" b="0" i="0" dirty="0">
                          <a:solidFill>
                            <a:srgbClr val="3D4552"/>
                          </a:solidFill>
                        </a:rPr>
                        <a:t>16 Nov 2026</a:t>
                      </a:r>
                      <a:endParaRPr sz="1100" b="0" i="0" dirty="0">
                        <a:solidFill>
                          <a:srgbClr val="3D4552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100" b="0" i="0" dirty="0">
                          <a:solidFill>
                            <a:srgbClr val="3D4552"/>
                          </a:solidFill>
                        </a:rPr>
                        <a:t>Update - Envelope based on strategy</a:t>
                      </a:r>
                      <a:endParaRPr sz="1100" b="0" i="0" dirty="0">
                        <a:solidFill>
                          <a:srgbClr val="3D4552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65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100" b="1" i="0" dirty="0">
                          <a:solidFill>
                            <a:srgbClr val="1F2530"/>
                          </a:solidFill>
                        </a:rPr>
                        <a:t>All Opco Budget</a:t>
                      </a:r>
                      <a:endParaRPr sz="1100" b="1" i="0" dirty="0">
                        <a:solidFill>
                          <a:srgbClr val="1F2530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100" b="0" i="0" dirty="0">
                          <a:solidFill>
                            <a:srgbClr val="3D4552"/>
                          </a:solidFill>
                        </a:rPr>
                        <a:t>30 Nov 2026</a:t>
                      </a:r>
                      <a:endParaRPr sz="1100" b="0" i="0" dirty="0">
                        <a:solidFill>
                          <a:srgbClr val="3D4552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100" b="0" i="0" dirty="0">
                          <a:solidFill>
                            <a:srgbClr val="3D4552"/>
                          </a:solidFill>
                        </a:rPr>
                        <a:t>First Submission FY2028</a:t>
                      </a:r>
                      <a:endParaRPr sz="1100" b="0" i="0" dirty="0">
                        <a:solidFill>
                          <a:srgbClr val="3D4552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422930"/>
                  </a:ext>
                </a:extLst>
              </a:tr>
              <a:tr h="442965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100" b="1" i="0" dirty="0">
                          <a:solidFill>
                            <a:srgbClr val="1F2530"/>
                          </a:solidFill>
                        </a:rPr>
                        <a:t>Group CFO review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100" b="0" i="0" dirty="0">
                          <a:solidFill>
                            <a:srgbClr val="3D4552"/>
                          </a:solidFill>
                        </a:rPr>
                        <a:t>2 Dec 2026</a:t>
                      </a:r>
                      <a:endParaRPr sz="1100" b="0" i="0" dirty="0">
                        <a:solidFill>
                          <a:srgbClr val="3D4552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100" b="0" i="0" dirty="0">
                          <a:solidFill>
                            <a:srgbClr val="3D4552"/>
                          </a:solidFill>
                        </a:rPr>
                        <a:t>FY2027 Valuation vs FY2028 Budget</a:t>
                      </a:r>
                      <a:endParaRPr sz="1100" b="0" i="0" dirty="0">
                        <a:solidFill>
                          <a:srgbClr val="3D4552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478527"/>
                  </a:ext>
                </a:extLst>
              </a:tr>
              <a:tr h="442965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100" b="1" i="0" dirty="0">
                          <a:solidFill>
                            <a:srgbClr val="1F2530"/>
                          </a:solidFill>
                        </a:rPr>
                        <a:t>All Opco Budget - Final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100" b="0" i="0" dirty="0">
                          <a:solidFill>
                            <a:srgbClr val="3D4552"/>
                          </a:solidFill>
                        </a:rPr>
                        <a:t>29 </a:t>
                      </a:r>
                      <a:r>
                        <a:rPr sz="1100" b="0" i="0" dirty="0">
                          <a:solidFill>
                            <a:srgbClr val="3D4552"/>
                          </a:solidFill>
                        </a:rPr>
                        <a:t>Jan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100" b="0" i="0" dirty="0">
                          <a:solidFill>
                            <a:srgbClr val="3D4552"/>
                          </a:solidFill>
                        </a:rPr>
                        <a:t>Final</a:t>
                      </a:r>
                      <a:r>
                        <a:rPr sz="1100" b="0" i="0" dirty="0">
                          <a:solidFill>
                            <a:srgbClr val="3D4552"/>
                          </a:solidFill>
                        </a:rPr>
                        <a:t> submission</a:t>
                      </a:r>
                      <a:r>
                        <a:rPr lang="en-ZA" sz="1100" b="0" i="0" dirty="0">
                          <a:solidFill>
                            <a:srgbClr val="3D4552"/>
                          </a:solidFill>
                        </a:rPr>
                        <a:t> FY2028</a:t>
                      </a:r>
                      <a:endParaRPr sz="1100" b="0" i="0" dirty="0">
                        <a:solidFill>
                          <a:srgbClr val="3D4552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965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100" b="1" i="0" dirty="0">
                          <a:solidFill>
                            <a:srgbClr val="1F2530"/>
                          </a:solidFill>
                        </a:rPr>
                        <a:t>All Opco -  Budget Presentation  </a:t>
                      </a:r>
                      <a:endParaRPr sz="1100" b="1" i="0" dirty="0">
                        <a:solidFill>
                          <a:srgbClr val="1F2530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100" b="0" i="0" dirty="0">
                          <a:solidFill>
                            <a:srgbClr val="3D4552"/>
                          </a:solidFill>
                        </a:rPr>
                        <a:t>3 Feb 2027</a:t>
                      </a:r>
                      <a:endParaRPr sz="1100" b="0" i="0" dirty="0">
                        <a:solidFill>
                          <a:srgbClr val="3D4552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100" b="0" i="0" dirty="0">
                          <a:solidFill>
                            <a:srgbClr val="3D4552"/>
                          </a:solidFill>
                        </a:rPr>
                        <a:t>Full Budget Presentation by CFO and team</a:t>
                      </a:r>
                      <a:endParaRPr sz="1100" b="0" i="0" dirty="0">
                        <a:solidFill>
                          <a:srgbClr val="3D4552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17188"/>
                  </a:ext>
                </a:extLst>
              </a:tr>
              <a:tr h="442965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 i="0" dirty="0" err="1">
                          <a:solidFill>
                            <a:srgbClr val="1F2530"/>
                          </a:solidFill>
                        </a:rPr>
                        <a:t>Maziv</a:t>
                      </a:r>
                      <a:r>
                        <a:rPr sz="1100" b="1" i="0" dirty="0">
                          <a:solidFill>
                            <a:srgbClr val="1F2530"/>
                          </a:solidFill>
                        </a:rPr>
                        <a:t> Board strategy session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100" b="0" i="0" dirty="0">
                          <a:solidFill>
                            <a:srgbClr val="3D4552"/>
                          </a:solidFill>
                        </a:rPr>
                        <a:t>9 </a:t>
                      </a:r>
                      <a:r>
                        <a:rPr sz="1100" b="0" i="0" dirty="0">
                          <a:solidFill>
                            <a:srgbClr val="3D4552"/>
                          </a:solidFill>
                        </a:rPr>
                        <a:t>Feb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 dirty="0">
                          <a:solidFill>
                            <a:srgbClr val="3D4552"/>
                          </a:solidFill>
                        </a:rPr>
                        <a:t>Strategy</a:t>
                      </a:r>
                      <a:r>
                        <a:rPr lang="en-ZA" sz="1100" b="0" i="0" dirty="0">
                          <a:solidFill>
                            <a:srgbClr val="3D4552"/>
                          </a:solidFill>
                        </a:rPr>
                        <a:t> / Information Session</a:t>
                      </a:r>
                      <a:endParaRPr sz="1100" b="0" i="0" dirty="0">
                        <a:solidFill>
                          <a:srgbClr val="3D4552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965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100" b="1" i="0" dirty="0">
                          <a:solidFill>
                            <a:srgbClr val="1F2530"/>
                          </a:solidFill>
                        </a:rPr>
                        <a:t>All </a:t>
                      </a:r>
                      <a:r>
                        <a:rPr sz="1100" b="1" i="0" dirty="0" err="1">
                          <a:solidFill>
                            <a:srgbClr val="1F2530"/>
                          </a:solidFill>
                        </a:rPr>
                        <a:t>OpCo</a:t>
                      </a:r>
                      <a:r>
                        <a:rPr sz="1100" b="1" i="0" dirty="0">
                          <a:solidFill>
                            <a:srgbClr val="1F2530"/>
                          </a:solidFill>
                        </a:rPr>
                        <a:t> Boards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100" b="0" i="0" dirty="0">
                          <a:solidFill>
                            <a:srgbClr val="3D4552"/>
                          </a:solidFill>
                        </a:rPr>
                        <a:t>21 Feb 2027 to 1 Mar 2027</a:t>
                      </a:r>
                      <a:endParaRPr sz="1100" b="0" i="0" dirty="0">
                        <a:solidFill>
                          <a:srgbClr val="3D4552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 dirty="0" err="1">
                          <a:solidFill>
                            <a:srgbClr val="3D4552"/>
                          </a:solidFill>
                        </a:rPr>
                        <a:t>OpCo</a:t>
                      </a:r>
                      <a:r>
                        <a:rPr sz="1100" b="0" i="0" dirty="0">
                          <a:solidFill>
                            <a:srgbClr val="3D4552"/>
                          </a:solidFill>
                        </a:rPr>
                        <a:t> budget approval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965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 i="0" dirty="0" err="1">
                          <a:solidFill>
                            <a:srgbClr val="1F2530"/>
                          </a:solidFill>
                        </a:rPr>
                        <a:t>Maziv</a:t>
                      </a:r>
                      <a:r>
                        <a:rPr sz="1100" b="1" i="0" dirty="0">
                          <a:solidFill>
                            <a:srgbClr val="1F2530"/>
                          </a:solidFill>
                        </a:rPr>
                        <a:t> Board budget presentation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100" b="0" i="0" dirty="0">
                          <a:solidFill>
                            <a:srgbClr val="3D4552"/>
                          </a:solidFill>
                        </a:rPr>
                        <a:t>9 </a:t>
                      </a:r>
                      <a:r>
                        <a:rPr sz="1100" b="0" i="0" dirty="0">
                          <a:solidFill>
                            <a:srgbClr val="3D4552"/>
                          </a:solidFill>
                        </a:rPr>
                        <a:t>Mar</a:t>
                      </a:r>
                      <a:r>
                        <a:rPr lang="en-ZA" sz="1100" b="0" i="0" dirty="0">
                          <a:solidFill>
                            <a:srgbClr val="3D4552"/>
                          </a:solidFill>
                        </a:rPr>
                        <a:t> </a:t>
                      </a:r>
                      <a:r>
                        <a:rPr sz="1100" b="0" i="0" dirty="0">
                          <a:solidFill>
                            <a:srgbClr val="3D4552"/>
                          </a:solidFill>
                        </a:rPr>
                        <a:t>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100" b="0" i="0" dirty="0">
                          <a:solidFill>
                            <a:srgbClr val="3D4552"/>
                          </a:solidFill>
                        </a:rPr>
                        <a:t>Information Session</a:t>
                      </a:r>
                      <a:endParaRPr sz="1100" b="0" i="0" dirty="0">
                        <a:solidFill>
                          <a:srgbClr val="3D4552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965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 i="0" dirty="0">
                          <a:solidFill>
                            <a:srgbClr val="1F2530"/>
                          </a:solidFill>
                        </a:rPr>
                        <a:t>Audit and risk committee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100" b="0" i="0" dirty="0">
                          <a:solidFill>
                            <a:srgbClr val="3D4552"/>
                          </a:solidFill>
                        </a:rPr>
                        <a:t>16 Mar 2027</a:t>
                      </a:r>
                      <a:endParaRPr sz="1100" b="0" i="0" dirty="0">
                        <a:solidFill>
                          <a:srgbClr val="3D4552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endParaRPr sz="1100" b="0" i="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2965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F2530"/>
                          </a:solidFill>
                        </a:rPr>
                        <a:t>Investment committee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100" b="0" i="0" dirty="0">
                          <a:solidFill>
                            <a:srgbClr val="3D4552"/>
                          </a:solidFill>
                        </a:rPr>
                        <a:t>16 Mar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3D4552"/>
                          </a:solidFill>
                        </a:rPr>
                        <a:t>Capex approval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2965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100" b="1" i="0" dirty="0">
                          <a:solidFill>
                            <a:schemeClr val="tx1"/>
                          </a:solidFill>
                        </a:rPr>
                        <a:t>Board meetings (</a:t>
                      </a:r>
                      <a:r>
                        <a:rPr sz="1100" b="1" i="0" dirty="0" err="1">
                          <a:solidFill>
                            <a:schemeClr val="tx1"/>
                          </a:solidFill>
                        </a:rPr>
                        <a:t>Maziv</a:t>
                      </a:r>
                      <a:r>
                        <a:rPr lang="en-ZA" sz="1100" b="1" i="0" dirty="0">
                          <a:solidFill>
                            <a:schemeClr val="tx1"/>
                          </a:solidFill>
                        </a:rPr>
                        <a:t> Group)</a:t>
                      </a:r>
                      <a:endParaRPr sz="1100" b="1" i="0" dirty="0">
                        <a:solidFill>
                          <a:schemeClr val="tx1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100" b="0" i="0" dirty="0">
                          <a:solidFill>
                            <a:srgbClr val="3D4552"/>
                          </a:solidFill>
                        </a:rPr>
                        <a:t>24 </a:t>
                      </a:r>
                      <a:r>
                        <a:rPr sz="1100" b="0" i="0" dirty="0">
                          <a:solidFill>
                            <a:srgbClr val="3D4552"/>
                          </a:solidFill>
                        </a:rPr>
                        <a:t>Mar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100" b="0" i="0" dirty="0">
                          <a:solidFill>
                            <a:srgbClr val="3D4552"/>
                          </a:solidFill>
                        </a:rPr>
                        <a:t>Group budget approval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687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Key deliverables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522264"/>
              </p:ext>
            </p:extLst>
          </p:nvPr>
        </p:nvGraphicFramePr>
        <p:xfrm>
          <a:off x="548640" y="1170432"/>
          <a:ext cx="9764222" cy="5407579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5222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0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9420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</a:rPr>
                        <a:t>Responsible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243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1F2530"/>
                          </a:solidFill>
                        </a:rPr>
                        <a:t>Group budget instructions and Group assumptions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3D4552"/>
                          </a:solidFill>
                        </a:rPr>
                        <a:t>Maziv Finance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050" b="0" i="0" dirty="0">
                          <a:solidFill>
                            <a:srgbClr val="3D4552"/>
                          </a:solidFill>
                        </a:rPr>
                        <a:t>Mon 26 Oct 2026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243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 dirty="0">
                          <a:solidFill>
                            <a:srgbClr val="1F2530"/>
                          </a:solidFill>
                        </a:rPr>
                        <a:t>Strategy </a:t>
                      </a:r>
                      <a:r>
                        <a:rPr lang="en-ZA" sz="1050" b="1" i="0" dirty="0">
                          <a:solidFill>
                            <a:srgbClr val="1F2530"/>
                          </a:solidFill>
                        </a:rPr>
                        <a:t>S</a:t>
                      </a:r>
                      <a:r>
                        <a:rPr sz="1050" b="1" i="0" dirty="0" err="1">
                          <a:solidFill>
                            <a:srgbClr val="1F2530"/>
                          </a:solidFill>
                        </a:rPr>
                        <a:t>ession</a:t>
                      </a:r>
                      <a:endParaRPr sz="1050" b="1" i="0" dirty="0">
                        <a:solidFill>
                          <a:srgbClr val="1F2530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3D4552"/>
                          </a:solidFill>
                        </a:rPr>
                        <a:t>Maziv Finance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050" b="0" i="0" dirty="0">
                          <a:solidFill>
                            <a:srgbClr val="3D4552"/>
                          </a:solidFill>
                        </a:rPr>
                        <a:t>Wed 11 – Thu 12 Nov 2026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243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900" b="1" i="0" dirty="0">
                          <a:solidFill>
                            <a:srgbClr val="7C1C91"/>
                          </a:solidFill>
                        </a:rPr>
                        <a:t>NEW  </a:t>
                      </a:r>
                      <a:r>
                        <a:rPr sz="1050" b="1" i="0" dirty="0">
                          <a:solidFill>
                            <a:srgbClr val="1F2530"/>
                          </a:solidFill>
                        </a:rPr>
                        <a:t>Top-down envelope per entity, with templates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3D4552"/>
                          </a:solidFill>
                        </a:rPr>
                        <a:t>Maziv Finance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050" b="0" i="0" dirty="0">
                          <a:solidFill>
                            <a:srgbClr val="3D4552"/>
                          </a:solidFill>
                        </a:rPr>
                        <a:t>Mon</a:t>
                      </a: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 </a:t>
                      </a:r>
                      <a:r>
                        <a:rPr lang="en-ZA" sz="1050" b="0" i="0" dirty="0">
                          <a:solidFill>
                            <a:srgbClr val="3D4552"/>
                          </a:solidFill>
                        </a:rPr>
                        <a:t>1</a:t>
                      </a: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6 Nov 2026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243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 dirty="0">
                          <a:solidFill>
                            <a:srgbClr val="1F2530"/>
                          </a:solidFill>
                        </a:rPr>
                        <a:t>First budget submission (inside the envelope)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3D4552"/>
                          </a:solidFill>
                        </a:rPr>
                        <a:t>OpCo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050" b="0" i="0" dirty="0">
                          <a:solidFill>
                            <a:srgbClr val="3D4552"/>
                          </a:solidFill>
                        </a:rPr>
                        <a:t>Mon 30 Nov 2026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85243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 dirty="0">
                          <a:solidFill>
                            <a:srgbClr val="1F2530"/>
                          </a:solidFill>
                        </a:rPr>
                        <a:t>December flash submission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3D4552"/>
                          </a:solidFill>
                        </a:rPr>
                        <a:t>OpCo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Thu 7 Jan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243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1F2530"/>
                          </a:solidFill>
                        </a:rPr>
                        <a:t>December actual submission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3D4552"/>
                          </a:solidFill>
                        </a:rPr>
                        <a:t>OpCo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Mon 11 Jan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243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 dirty="0">
                          <a:solidFill>
                            <a:srgbClr val="1F2530"/>
                          </a:solidFill>
                        </a:rPr>
                        <a:t>December forecast submission</a:t>
                      </a:r>
                      <a:r>
                        <a:rPr lang="en-ZA" sz="1050" b="1" i="0" dirty="0">
                          <a:solidFill>
                            <a:srgbClr val="1F2530"/>
                          </a:solidFill>
                        </a:rPr>
                        <a:t> *Budget starting point</a:t>
                      </a:r>
                      <a:endParaRPr sz="1050" b="1" i="0" dirty="0">
                        <a:solidFill>
                          <a:srgbClr val="1F2530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3D4552"/>
                          </a:solidFill>
                        </a:rPr>
                        <a:t>OpCo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050" b="0" i="0" dirty="0">
                          <a:solidFill>
                            <a:srgbClr val="3D4552"/>
                          </a:solidFill>
                        </a:rPr>
                        <a:t>Wed</a:t>
                      </a: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 1</a:t>
                      </a:r>
                      <a:r>
                        <a:rPr lang="en-ZA" sz="1050" b="0" i="0" dirty="0">
                          <a:solidFill>
                            <a:srgbClr val="3D4552"/>
                          </a:solidFill>
                        </a:rPr>
                        <a:t>3</a:t>
                      </a: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 Jan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243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 dirty="0">
                          <a:solidFill>
                            <a:srgbClr val="1F2530"/>
                          </a:solidFill>
                        </a:rPr>
                        <a:t>December CFO pack submission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3D4552"/>
                          </a:solidFill>
                        </a:rPr>
                        <a:t>OpCo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050" b="0" i="0" dirty="0">
                          <a:solidFill>
                            <a:srgbClr val="3D4552"/>
                          </a:solidFill>
                        </a:rPr>
                        <a:t>Thu</a:t>
                      </a: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 1</a:t>
                      </a:r>
                      <a:r>
                        <a:rPr lang="en-ZA" sz="1050" b="0" i="0" dirty="0">
                          <a:solidFill>
                            <a:srgbClr val="3D4552"/>
                          </a:solidFill>
                        </a:rPr>
                        <a:t>4</a:t>
                      </a: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 Jan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243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 dirty="0">
                          <a:solidFill>
                            <a:srgbClr val="1F2530"/>
                          </a:solidFill>
                        </a:rPr>
                        <a:t>Fi</a:t>
                      </a:r>
                      <a:r>
                        <a:rPr lang="en-ZA" sz="1050" b="1" i="0" dirty="0" err="1">
                          <a:solidFill>
                            <a:srgbClr val="1F2530"/>
                          </a:solidFill>
                        </a:rPr>
                        <a:t>nal</a:t>
                      </a:r>
                      <a:r>
                        <a:rPr sz="1050" b="1" i="0" dirty="0">
                          <a:solidFill>
                            <a:srgbClr val="1F2530"/>
                          </a:solidFill>
                        </a:rPr>
                        <a:t> budget submission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3D4552"/>
                          </a:solidFill>
                        </a:rPr>
                        <a:t>OpCo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050" b="0" i="0" dirty="0">
                          <a:solidFill>
                            <a:srgbClr val="3D4552"/>
                          </a:solidFill>
                        </a:rPr>
                        <a:t>Fri</a:t>
                      </a: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 </a:t>
                      </a:r>
                      <a:r>
                        <a:rPr lang="en-ZA" sz="1050" b="0" i="0" dirty="0">
                          <a:solidFill>
                            <a:srgbClr val="3D4552"/>
                          </a:solidFill>
                        </a:rPr>
                        <a:t>29</a:t>
                      </a: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 Jan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243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 dirty="0">
                          <a:solidFill>
                            <a:srgbClr val="1F2530"/>
                          </a:solidFill>
                        </a:rPr>
                        <a:t>Budget </a:t>
                      </a:r>
                      <a:r>
                        <a:rPr lang="en-ZA" sz="1050" b="1" i="0" dirty="0">
                          <a:solidFill>
                            <a:srgbClr val="1F2530"/>
                          </a:solidFill>
                        </a:rPr>
                        <a:t>Presentation - CFO</a:t>
                      </a:r>
                      <a:endParaRPr sz="1050" b="1" i="0" dirty="0">
                        <a:solidFill>
                          <a:srgbClr val="1F2530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 dirty="0" err="1">
                          <a:solidFill>
                            <a:srgbClr val="3D4552"/>
                          </a:solidFill>
                        </a:rPr>
                        <a:t>OpCo</a:t>
                      </a:r>
                      <a:endParaRPr sz="1050" b="0" i="0" dirty="0">
                        <a:solidFill>
                          <a:srgbClr val="3D4552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en-ZA" sz="1050" b="0" i="0" dirty="0">
                          <a:solidFill>
                            <a:srgbClr val="3D4552"/>
                          </a:solidFill>
                        </a:rPr>
                        <a:t>Wed</a:t>
                      </a: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 </a:t>
                      </a:r>
                      <a:r>
                        <a:rPr lang="en-ZA" sz="1050" b="0" i="0" dirty="0">
                          <a:solidFill>
                            <a:srgbClr val="3D4552"/>
                          </a:solidFill>
                        </a:rPr>
                        <a:t>3</a:t>
                      </a: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 </a:t>
                      </a:r>
                      <a:r>
                        <a:rPr lang="en-ZA" sz="1050" b="0" i="0" dirty="0">
                          <a:solidFill>
                            <a:srgbClr val="3D4552"/>
                          </a:solidFill>
                        </a:rPr>
                        <a:t>Feb</a:t>
                      </a: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243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900" b="1" i="0" dirty="0">
                          <a:solidFill>
                            <a:srgbClr val="7C1C91"/>
                          </a:solidFill>
                        </a:rPr>
                        <a:t>NEW  </a:t>
                      </a:r>
                      <a:r>
                        <a:rPr sz="1050" b="1" i="0" dirty="0">
                          <a:solidFill>
                            <a:srgbClr val="1F2530"/>
                          </a:solidFill>
                        </a:rPr>
                        <a:t>Gap resubmission (gap items only)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3D4552"/>
                          </a:solidFill>
                        </a:rPr>
                        <a:t>OpCo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Fri 5 Feb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5243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1F2530"/>
                          </a:solidFill>
                        </a:rPr>
                        <a:t>Final consolidation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3D4552"/>
                          </a:solidFill>
                        </a:rPr>
                        <a:t>Maziv Finance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Wed 10 Feb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5243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 dirty="0">
                          <a:solidFill>
                            <a:srgbClr val="1F2530"/>
                          </a:solidFill>
                        </a:rPr>
                        <a:t>Board budget presentation submission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3D4552"/>
                          </a:solidFill>
                        </a:rPr>
                        <a:t>Maziv Finance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One week before Board (</a:t>
                      </a:r>
                      <a:r>
                        <a:rPr lang="en-ZA" sz="1050" b="0" i="0" dirty="0">
                          <a:solidFill>
                            <a:srgbClr val="3D4552"/>
                          </a:solidFill>
                        </a:rPr>
                        <a:t> 24 Mar 2027</a:t>
                      </a: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594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Deliverable formats and requirements (every submission)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907339"/>
              </p:ext>
            </p:extLst>
          </p:nvPr>
        </p:nvGraphicFramePr>
        <p:xfrm>
          <a:off x="548640" y="1170431"/>
          <a:ext cx="9555481" cy="503827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4928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5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1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278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624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 dirty="0">
                          <a:solidFill>
                            <a:srgbClr val="1F2530"/>
                          </a:solidFill>
                        </a:rPr>
                        <a:t>Valuation model (Vumatel, DFA, SADV, Vuma</a:t>
                      </a:r>
                      <a:r>
                        <a:rPr lang="en-ZA" sz="1050" b="1" i="0" dirty="0" err="1">
                          <a:solidFill>
                            <a:srgbClr val="1F2530"/>
                          </a:solidFill>
                        </a:rPr>
                        <a:t>tel</a:t>
                      </a:r>
                      <a:r>
                        <a:rPr sz="1050" b="1" i="0" dirty="0">
                          <a:solidFill>
                            <a:srgbClr val="1F2530"/>
                          </a:solidFill>
                        </a:rPr>
                        <a:t>, Rise</a:t>
                      </a:r>
                      <a:r>
                        <a:rPr lang="en-ZA" sz="1050" b="1" i="0" dirty="0">
                          <a:solidFill>
                            <a:srgbClr val="1F2530"/>
                          </a:solidFill>
                        </a:rPr>
                        <a:t> Group, </a:t>
                      </a:r>
                      <a:r>
                        <a:rPr lang="en-ZA" sz="1050" b="1" i="0" dirty="0" err="1">
                          <a:solidFill>
                            <a:srgbClr val="1F2530"/>
                          </a:solidFill>
                        </a:rPr>
                        <a:t>Herotel</a:t>
                      </a:r>
                      <a:r>
                        <a:rPr sz="1050" b="1" i="0" dirty="0">
                          <a:solidFill>
                            <a:srgbClr val="1F2530"/>
                          </a:solidFill>
                        </a:rPr>
                        <a:t>): monthly, 10-year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 dirty="0" err="1">
                          <a:solidFill>
                            <a:srgbClr val="3D4552"/>
                          </a:solidFill>
                        </a:rPr>
                        <a:t>Finnivo</a:t>
                      </a: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 valuation model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Directly in </a:t>
                      </a:r>
                      <a:r>
                        <a:rPr sz="1050" b="0" i="0" dirty="0" err="1">
                          <a:solidFill>
                            <a:srgbClr val="3D4552"/>
                          </a:solidFill>
                        </a:rPr>
                        <a:t>Finnivo</a:t>
                      </a:r>
                      <a:endParaRPr sz="1050" b="0" i="0" dirty="0">
                        <a:solidFill>
                          <a:srgbClr val="3D4552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624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 dirty="0">
                          <a:solidFill>
                            <a:srgbClr val="1F2530"/>
                          </a:solidFill>
                        </a:rPr>
                        <a:t>10-year model update (</a:t>
                      </a:r>
                      <a:r>
                        <a:rPr lang="en-ZA" sz="1050" b="1" i="0" dirty="0" err="1">
                          <a:solidFill>
                            <a:srgbClr val="1F2530"/>
                          </a:solidFill>
                        </a:rPr>
                        <a:t>Maziv</a:t>
                      </a:r>
                      <a:r>
                        <a:rPr lang="en-ZA" sz="1050" b="1" i="0" dirty="0">
                          <a:solidFill>
                            <a:srgbClr val="1F2530"/>
                          </a:solidFill>
                        </a:rPr>
                        <a:t>, Propco, </a:t>
                      </a:r>
                      <a:r>
                        <a:rPr sz="1050" b="1" i="0" dirty="0" err="1">
                          <a:solidFill>
                            <a:srgbClr val="1F2530"/>
                          </a:solidFill>
                        </a:rPr>
                        <a:t>LoanCo</a:t>
                      </a:r>
                      <a:r>
                        <a:rPr sz="1050" b="1" i="0" dirty="0">
                          <a:solidFill>
                            <a:srgbClr val="1F2530"/>
                          </a:solidFill>
                        </a:rPr>
                        <a:t>): monthly, 10-year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3D4552"/>
                          </a:solidFill>
                        </a:rPr>
                        <a:t>Excel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Upload into </a:t>
                      </a:r>
                      <a:r>
                        <a:rPr sz="1050" b="0" i="0" dirty="0" err="1">
                          <a:solidFill>
                            <a:srgbClr val="3D4552"/>
                          </a:solidFill>
                        </a:rPr>
                        <a:t>Finnivo</a:t>
                      </a:r>
                      <a:endParaRPr sz="1050" b="0" i="0" dirty="0">
                        <a:solidFill>
                          <a:srgbClr val="3D4552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624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1F2530"/>
                          </a:solidFill>
                        </a:rPr>
                        <a:t>Expense schedule (detailed)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3D4552"/>
                          </a:solidFill>
                        </a:rPr>
                        <a:t>Excel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Existing template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624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1F2530"/>
                          </a:solidFill>
                        </a:rPr>
                        <a:t>Salary cost breakdown: headcount and cost by department, capex and opex split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3D4552"/>
                          </a:solidFill>
                        </a:rPr>
                        <a:t>Excel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3D4552"/>
                          </a:solidFill>
                        </a:rPr>
                        <a:t>Entity specific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624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900" b="1" i="0" dirty="0">
                          <a:solidFill>
                            <a:srgbClr val="7C1C91"/>
                          </a:solidFill>
                        </a:rPr>
                        <a:t>NEW  </a:t>
                      </a:r>
                      <a:r>
                        <a:rPr sz="1050" b="1" i="0" dirty="0">
                          <a:solidFill>
                            <a:srgbClr val="1F2530"/>
                          </a:solidFill>
                        </a:rPr>
                        <a:t>Envelope reconciliation: budget against the envelope, by driver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3D4552"/>
                          </a:solidFill>
                        </a:rPr>
                        <a:t>Excel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3D4552"/>
                          </a:solidFill>
                        </a:rPr>
                        <a:t>Template from Maziv Finance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624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900" b="1" i="0" dirty="0">
                          <a:solidFill>
                            <a:srgbClr val="7C1C91"/>
                          </a:solidFill>
                        </a:rPr>
                        <a:t>NEW  </a:t>
                      </a:r>
                      <a:r>
                        <a:rPr sz="1050" b="1" i="0" dirty="0">
                          <a:solidFill>
                            <a:srgbClr val="1F2530"/>
                          </a:solidFill>
                        </a:rPr>
                        <a:t>Operating leverage schedule: revenue, cost base, scale and headcount, FY2027 forecast to FY2028 budget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3D4552"/>
                          </a:solidFill>
                        </a:rPr>
                        <a:t>Excel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3D4552"/>
                          </a:solidFill>
                        </a:rPr>
                        <a:t>Template from Maziv Finance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9624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7C1C91"/>
                          </a:solidFill>
                        </a:rPr>
                        <a:t>NEW  </a:t>
                      </a:r>
                      <a:r>
                        <a:rPr sz="1050" b="1" i="0">
                          <a:solidFill>
                            <a:srgbClr val="1F2530"/>
                          </a:solidFill>
                        </a:rPr>
                        <a:t>Strategic initiative submission: imperative, revenue or scale, capex and opex, payback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3D4552"/>
                          </a:solidFill>
                        </a:rPr>
                        <a:t>Excel and PowerPoint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Template from </a:t>
                      </a:r>
                      <a:r>
                        <a:rPr sz="1050" b="0" i="0" dirty="0" err="1">
                          <a:solidFill>
                            <a:srgbClr val="3D4552"/>
                          </a:solidFill>
                        </a:rPr>
                        <a:t>Maziv</a:t>
                      </a: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 Finance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9624"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1F2530"/>
                          </a:solidFill>
                        </a:rPr>
                        <a:t>Budget presentation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3D4552"/>
                          </a:solidFill>
                        </a:rPr>
                        <a:t>PowerPoint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Template from </a:t>
                      </a:r>
                      <a:r>
                        <a:rPr sz="1050" b="0" i="0" dirty="0" err="1">
                          <a:solidFill>
                            <a:srgbClr val="3D4552"/>
                          </a:solidFill>
                        </a:rPr>
                        <a:t>Maziv</a:t>
                      </a:r>
                      <a:r>
                        <a:rPr sz="1050" b="0" i="0" dirty="0">
                          <a:solidFill>
                            <a:srgbClr val="3D4552"/>
                          </a:solidFill>
                        </a:rPr>
                        <a:t> Finance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68166" y="6482121"/>
            <a:ext cx="9555480" cy="19389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900" b="0" i="1" dirty="0">
                <a:solidFill>
                  <a:srgbClr val="8B9097"/>
                </a:solidFill>
              </a:rPr>
              <a:t>Send all </a:t>
            </a:r>
            <a:r>
              <a:rPr sz="900" b="0" i="1" dirty="0" err="1">
                <a:solidFill>
                  <a:srgbClr val="8B9097"/>
                </a:solidFill>
              </a:rPr>
              <a:t>Finnivo</a:t>
            </a:r>
            <a:r>
              <a:rPr sz="900" b="0" i="1" dirty="0">
                <a:solidFill>
                  <a:srgbClr val="8B9097"/>
                </a:solidFill>
              </a:rPr>
              <a:t> queries through Chandre (chandre.duvenhage@maziv.com), the FY2026 contact. </a:t>
            </a:r>
            <a:r>
              <a:rPr sz="900" b="0" i="1" dirty="0" err="1">
                <a:solidFill>
                  <a:srgbClr val="8B9097"/>
                </a:solidFill>
              </a:rPr>
              <a:t>Maziv</a:t>
            </a:r>
            <a:r>
              <a:rPr sz="900" b="0" i="1" dirty="0">
                <a:solidFill>
                  <a:srgbClr val="8B9097"/>
                </a:solidFill>
              </a:rPr>
              <a:t> Finance manages </a:t>
            </a:r>
            <a:r>
              <a:rPr sz="900" b="0" i="1" dirty="0" err="1">
                <a:solidFill>
                  <a:srgbClr val="8B9097"/>
                </a:solidFill>
              </a:rPr>
              <a:t>Finnivo</a:t>
            </a:r>
            <a:r>
              <a:rPr sz="900" b="0" i="1" dirty="0">
                <a:solidFill>
                  <a:srgbClr val="8B9097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Group assumptions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696125"/>
              </p:ext>
            </p:extLst>
          </p:nvPr>
        </p:nvGraphicFramePr>
        <p:xfrm>
          <a:off x="548640" y="1170432"/>
          <a:ext cx="9573768" cy="53949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3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Assumption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FFFFFF"/>
                          </a:solidFill>
                        </a:rPr>
                        <a:t>FY202</a:t>
                      </a:r>
                      <a:r>
                        <a:rPr lang="en-ZA" sz="1200" b="1" i="0" dirty="0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7C1C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1F2530"/>
                          </a:solidFill>
                        </a:rPr>
                        <a:t>Inflation (CPI)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3D4552"/>
                          </a:solidFill>
                        </a:rPr>
                        <a:t>4.5%*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1F2530"/>
                          </a:solidFill>
                        </a:rPr>
                        <a:t>Salary increases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3D4552"/>
                          </a:solidFill>
                          <a:highlight>
                            <a:srgbClr val="FFFF00"/>
                          </a:highlight>
                        </a:rPr>
                        <a:t>4.5%*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1F2530"/>
                          </a:solidFill>
                        </a:rPr>
                        <a:t>USD/ZAR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0" i="0" dirty="0">
                          <a:solidFill>
                            <a:srgbClr val="3D4552"/>
                          </a:solidFill>
                        </a:rPr>
                        <a:t>To be confirmed by Group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1F2530"/>
                          </a:solidFill>
                        </a:rPr>
                        <a:t>Opening balance sheet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ZA" sz="1200" b="0" i="0" dirty="0">
                          <a:solidFill>
                            <a:srgbClr val="3D4552"/>
                          </a:solidFill>
                        </a:rPr>
                        <a:t>31 Dec 2026 actual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1F2530"/>
                          </a:solidFill>
                        </a:rPr>
                        <a:t>Covenant group interest costs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0" i="0" dirty="0">
                          <a:solidFill>
                            <a:srgbClr val="3D4552"/>
                          </a:solidFill>
                        </a:rPr>
                        <a:t>Zunaid Akoojee (ZA) </a:t>
                      </a:r>
                      <a:r>
                        <a:rPr sz="1200" b="0" i="0" dirty="0">
                          <a:solidFill>
                            <a:srgbClr val="3D4552"/>
                          </a:solidFill>
                        </a:rPr>
                        <a:t>to send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1F2530"/>
                          </a:solidFill>
                        </a:rPr>
                        <a:t>Management fee (</a:t>
                      </a:r>
                      <a:r>
                        <a:rPr sz="1200" b="1" i="0" dirty="0" err="1">
                          <a:solidFill>
                            <a:srgbClr val="1F2530"/>
                          </a:solidFill>
                        </a:rPr>
                        <a:t>Maziv</a:t>
                      </a:r>
                      <a:r>
                        <a:rPr sz="1200" b="1" i="0" dirty="0">
                          <a:solidFill>
                            <a:srgbClr val="1F2530"/>
                          </a:solidFill>
                        </a:rPr>
                        <a:t>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0" i="0" dirty="0">
                          <a:solidFill>
                            <a:srgbClr val="3D4552"/>
                          </a:solidFill>
                        </a:rPr>
                        <a:t>Zunaid Akoojee (ZA) to send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1F2530"/>
                          </a:solidFill>
                        </a:rPr>
                        <a:t>Tax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3D4552"/>
                          </a:solidFill>
                        </a:rPr>
                        <a:t>Calculate and accrue all tax charges monthly. Put cash outflows in the correct periods.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1F2530"/>
                          </a:solidFill>
                        </a:rPr>
                        <a:t>Intercompany loans and interest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3D4552"/>
                          </a:solidFill>
                        </a:rPr>
                        <a:t>Agree with the counterparty before each submission. CFO, Finance Exec</a:t>
                      </a:r>
                      <a:r>
                        <a:rPr lang="en-ZA" sz="1200" b="0" i="0" dirty="0" err="1">
                          <a:solidFill>
                            <a:srgbClr val="3D4552"/>
                          </a:solidFill>
                        </a:rPr>
                        <a:t>utive</a:t>
                      </a:r>
                      <a:r>
                        <a:rPr lang="en-ZA" sz="1200" b="0" i="0" dirty="0">
                          <a:solidFill>
                            <a:srgbClr val="3D4552"/>
                          </a:solidFill>
                        </a:rPr>
                        <a:t> </a:t>
                      </a:r>
                      <a:r>
                        <a:rPr sz="1200" b="0" i="0" dirty="0">
                          <a:solidFill>
                            <a:srgbClr val="3D4552"/>
                          </a:solidFill>
                        </a:rPr>
                        <a:t>is responsible.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1F2530"/>
                          </a:solidFill>
                        </a:rPr>
                        <a:t>Intercompany transactions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3D4552"/>
                          </a:solidFill>
                        </a:rPr>
                        <a:t>Agree with the counterparty before each submission. The invoicing entity makes sure the cost is in the other entity's budget.</a:t>
                      </a:r>
                      <a:r>
                        <a:rPr lang="en-ZA" sz="1200" b="0" i="0" dirty="0">
                          <a:solidFill>
                            <a:srgbClr val="3D4552"/>
                          </a:solidFill>
                        </a:rPr>
                        <a:t> Submit to </a:t>
                      </a:r>
                      <a:r>
                        <a:rPr lang="en-ZA" sz="1200" b="0" i="0" dirty="0" err="1">
                          <a:solidFill>
                            <a:srgbClr val="3D4552"/>
                          </a:solidFill>
                        </a:rPr>
                        <a:t>Maziv</a:t>
                      </a:r>
                      <a:r>
                        <a:rPr lang="en-ZA" sz="1200" b="0" i="0" dirty="0">
                          <a:solidFill>
                            <a:srgbClr val="3D4552"/>
                          </a:solidFill>
                        </a:rPr>
                        <a:t> Group Finance</a:t>
                      </a:r>
                      <a:endParaRPr sz="1200" b="0" i="0" dirty="0">
                        <a:solidFill>
                          <a:srgbClr val="3D4552"/>
                        </a:solidFill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1F2530"/>
                          </a:solidFill>
                        </a:rPr>
                        <a:t>Intercompany margin (BMCT)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3D4552"/>
                          </a:solidFill>
                        </a:rPr>
                        <a:t>The invoicing entity sends the margin calculation to </a:t>
                      </a:r>
                      <a:r>
                        <a:rPr sz="1200" b="0" i="0" dirty="0" err="1">
                          <a:solidFill>
                            <a:srgbClr val="3D4552"/>
                          </a:solidFill>
                        </a:rPr>
                        <a:t>Maziv</a:t>
                      </a:r>
                      <a:r>
                        <a:rPr sz="1200" b="0" i="0" dirty="0">
                          <a:solidFill>
                            <a:srgbClr val="3D4552"/>
                          </a:solidFill>
                        </a:rPr>
                        <a:t> Finance with each submission.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3815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764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 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01522909781638936977E+00&quot;&gt;&lt;m_msothmcolidx val=&quot;0&quot;/&gt;&lt;m_rgb r=&quot;7C&quot; g=&quot;1C&quot; b=&quot;91&quot;/&gt;&lt;/elem&gt;&lt;elem m_fUsage=&quot;3.38662713260943881721E-01&quot;&gt;&lt;m_msothmcolidx val=&quot;0&quot;/&gt;&lt;m_rgb r=&quot;4C&quot; g=&quot;17&quot; b=&quot;58&quot;/&gt;&lt;/elem&gt;&lt;elem m_fUsage=&quot;1.22760555895306835983E-01&quot;&gt;&lt;m_msothmcolidx val=&quot;0&quot;/&gt;&lt;m_rgb r=&quot;00&quot; g=&quot;AC&quot; b=&quot;84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  <wetp:taskpane dockstate="right" visibility="0" width="536" row="6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3783A020-0497-4E72-9797-4243145504F2}">
  <we:reference id="wa200010215" version="2.0.0.0" store="en-GB" storeType="OMEX"/>
  <we:alternateReferences>
    <we:reference id="WA200010215" version="2.0.0.0" store="" storeType="OMEX"/>
  </we:alternateReferences>
  <we:properties>
    <we:property name="bps.codex_control.document_id" value="&quot;ab2d3779-ade4-4a7a-a5af-756f014131cb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81D0E93-7149-4D4D-BEB8-B4C4B14D4C71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ca3bf03b-5bc4-44bd-9587-97e01d0ee79f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C1346BFA-F3C4-4A75-A6EC-00F03ECCDAA3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ef2d9c2-bafd-4a1a-b7a3-3d469dc4b10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f8d769-7f94-463a-abb8-f2f98e32c3f7">
      <Terms xmlns="http://schemas.microsoft.com/office/infopath/2007/PartnerControls"/>
    </lcf76f155ced4ddcb4097134ff3c332f>
    <TaxCatchAll xmlns="66f2e6d5-5aad-40a1-ab75-74a0e6b7d60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104B18F3DBD547BD22A1E297CD76EC" ma:contentTypeVersion="16" ma:contentTypeDescription="Create a new document." ma:contentTypeScope="" ma:versionID="85f979d2ffa097b2b439c405cbec810e">
  <xsd:schema xmlns:xsd="http://www.w3.org/2001/XMLSchema" xmlns:xs="http://www.w3.org/2001/XMLSchema" xmlns:p="http://schemas.microsoft.com/office/2006/metadata/properties" xmlns:ns2="06f8d769-7f94-463a-abb8-f2f98e32c3f7" xmlns:ns3="66f2e6d5-5aad-40a1-ab75-74a0e6b7d603" targetNamespace="http://schemas.microsoft.com/office/2006/metadata/properties" ma:root="true" ma:fieldsID="483335024d94f5303f5799b3f31cf4e6" ns2:_="" ns3:_="">
    <xsd:import namespace="06f8d769-7f94-463a-abb8-f2f98e32c3f7"/>
    <xsd:import namespace="66f2e6d5-5aad-40a1-ab75-74a0e6b7d6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f8d769-7f94-463a-abb8-f2f98e32c3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964171eb-2878-4ea8-98ef-7d8a5713f5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f2e6d5-5aad-40a1-ab75-74a0e6b7d603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744b4b07-0f9a-47da-ba24-fc7df77d74e7}" ma:internalName="TaxCatchAll" ma:showField="CatchAllData" ma:web="66f2e6d5-5aad-40a1-ab75-74a0e6b7d6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F4C561-E5A9-4E84-9D28-DA91A9B093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E3472D-0C26-41BF-90BA-26F571CFDFB9}">
  <ds:schemaRefs>
    <ds:schemaRef ds:uri="06f8d769-7f94-463a-abb8-f2f98e32c3f7"/>
    <ds:schemaRef ds:uri="66f2e6d5-5aad-40a1-ab75-74a0e6b7d603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BB60D9DA-8AF5-4A78-95CE-82932D50127F}">
  <ds:schemaRefs>
    <ds:schemaRef ds:uri="06f8d769-7f94-463a-abb8-f2f98e32c3f7"/>
    <ds:schemaRef ds:uri="66f2e6d5-5aad-40a1-ab75-74a0e6b7d60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3328</TotalTime>
  <Words>1237</Words>
  <Application>Microsoft Office PowerPoint</Application>
  <PresentationFormat>Custom</PresentationFormat>
  <Paragraphs>219</Paragraphs>
  <Slides>8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thinkcell Slide</vt:lpstr>
      <vt:lpstr>PowerPoint Presentation</vt:lpstr>
      <vt:lpstr>FY2028 Budget: Plan |One Process</vt:lpstr>
      <vt:lpstr>Overview|FY2028 Top-down Budget works</vt:lpstr>
      <vt:lpstr>Maziv |Budget owners</vt:lpstr>
      <vt:lpstr>Maziv | Key Dates|Meetings and Sessions</vt:lpstr>
      <vt:lpstr>Key deliverables</vt:lpstr>
      <vt:lpstr>Deliverable formats and requirements (every submission)</vt:lpstr>
      <vt:lpstr>Group assumptions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SJ Naude</dc:creator>
  <cp:lastModifiedBy>Daniel Smiles</cp:lastModifiedBy>
  <cp:revision>14</cp:revision>
  <cp:lastPrinted>2026-07-20T12:45:41Z</cp:lastPrinted>
  <dcterms:created xsi:type="dcterms:W3CDTF">2022-11-08T09:43:57Z</dcterms:created>
  <dcterms:modified xsi:type="dcterms:W3CDTF">2026-10-27T13:58:40Z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0x0101009B104B18F3DBD547BD22A1E297CD76EC</vt:lpwstr>
  </property>
  <property fmtid="{D5CDD505-2E9C-101B-9397-08002B2CF9AE}" pid="3" name="MediaServiceImageTags">
    <vt:lpwstr/>
  </property>
</Properties>
</file>