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6" d="100"/>
          <a:sy n="96" d="100"/>
        </p:scale>
        <p:origin x="60" y="20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yron Billett" userId="827adecc-dc65-4ba2-a2c7-4cc4eeee30b3" providerId="ADAL" clId="{017BA878-90EC-479D-86CF-CEA2518AB154}"/>
    <pc:docChg chg="undo custSel modSld">
      <pc:chgData name="Byron Billett" userId="827adecc-dc65-4ba2-a2c7-4cc4eeee30b3" providerId="ADAL" clId="{017BA878-90EC-479D-86CF-CEA2518AB154}" dt="2026-10-27T16:06:37.446" v="588" actId="113"/>
      <pc:docMkLst>
        <pc:docMk/>
      </pc:docMkLst>
      <pc:sldChg chg="addSp delSp modSp mod">
        <pc:chgData name="Byron Billett" userId="827adecc-dc65-4ba2-a2c7-4cc4eeee30b3" providerId="ADAL" clId="{017BA878-90EC-479D-86CF-CEA2518AB154}" dt="2026-10-27T16:02:53.015" v="524" actId="20577"/>
        <pc:sldMkLst>
          <pc:docMk/>
          <pc:sldMk cId="0" sldId="257"/>
        </pc:sldMkLst>
        <pc:spChg chg="mod">
          <ac:chgData name="Byron Billett" userId="827adecc-dc65-4ba2-a2c7-4cc4eeee30b3" providerId="ADAL" clId="{017BA878-90EC-479D-86CF-CEA2518AB154}" dt="2026-10-27T16:02:39.016" v="519" actId="20577"/>
          <ac:spMkLst>
            <pc:docMk/>
            <pc:sldMk cId="0" sldId="257"/>
            <ac:spMk id="4" creationId="{00000000-0000-0000-0000-000000000000}"/>
          </ac:spMkLst>
        </pc:spChg>
        <pc:spChg chg="del">
          <ac:chgData name="Byron Billett" userId="827adecc-dc65-4ba2-a2c7-4cc4eeee30b3" providerId="ADAL" clId="{017BA878-90EC-479D-86CF-CEA2518AB154}" dt="2026-10-27T15:59:22.426" v="139" actId="478"/>
          <ac:spMkLst>
            <pc:docMk/>
            <pc:sldMk cId="0" sldId="257"/>
            <ac:spMk id="10" creationId="{00000000-0000-0000-0000-000000000000}"/>
          </ac:spMkLst>
        </pc:spChg>
        <pc:spChg chg="del">
          <ac:chgData name="Byron Billett" userId="827adecc-dc65-4ba2-a2c7-4cc4eeee30b3" providerId="ADAL" clId="{017BA878-90EC-479D-86CF-CEA2518AB154}" dt="2026-10-27T15:59:22.426" v="139" actId="478"/>
          <ac:spMkLst>
            <pc:docMk/>
            <pc:sldMk cId="0" sldId="257"/>
            <ac:spMk id="11" creationId="{00000000-0000-0000-0000-000000000000}"/>
          </ac:spMkLst>
        </pc:spChg>
        <pc:spChg chg="del">
          <ac:chgData name="Byron Billett" userId="827adecc-dc65-4ba2-a2c7-4cc4eeee30b3" providerId="ADAL" clId="{017BA878-90EC-479D-86CF-CEA2518AB154}" dt="2026-10-27T15:59:22.426" v="139" actId="478"/>
          <ac:spMkLst>
            <pc:docMk/>
            <pc:sldMk cId="0" sldId="257"/>
            <ac:spMk id="12" creationId="{00000000-0000-0000-0000-000000000000}"/>
          </ac:spMkLst>
        </pc:spChg>
        <pc:spChg chg="del">
          <ac:chgData name="Byron Billett" userId="827adecc-dc65-4ba2-a2c7-4cc4eeee30b3" providerId="ADAL" clId="{017BA878-90EC-479D-86CF-CEA2518AB154}" dt="2026-10-27T15:59:22.426" v="139" actId="478"/>
          <ac:spMkLst>
            <pc:docMk/>
            <pc:sldMk cId="0" sldId="257"/>
            <ac:spMk id="13" creationId="{00000000-0000-0000-0000-000000000000}"/>
          </ac:spMkLst>
        </pc:spChg>
        <pc:spChg chg="del">
          <ac:chgData name="Byron Billett" userId="827adecc-dc65-4ba2-a2c7-4cc4eeee30b3" providerId="ADAL" clId="{017BA878-90EC-479D-86CF-CEA2518AB154}" dt="2026-10-27T15:59:22.426" v="139" actId="478"/>
          <ac:spMkLst>
            <pc:docMk/>
            <pc:sldMk cId="0" sldId="257"/>
            <ac:spMk id="14" creationId="{00000000-0000-0000-0000-000000000000}"/>
          </ac:spMkLst>
        </pc:spChg>
        <pc:spChg chg="mod">
          <ac:chgData name="Byron Billett" userId="827adecc-dc65-4ba2-a2c7-4cc4eeee30b3" providerId="ADAL" clId="{017BA878-90EC-479D-86CF-CEA2518AB154}" dt="2026-10-27T15:59:37.217" v="236" actId="1037"/>
          <ac:spMkLst>
            <pc:docMk/>
            <pc:sldMk cId="0" sldId="257"/>
            <ac:spMk id="15" creationId="{00000000-0000-0000-0000-000000000000}"/>
          </ac:spMkLst>
        </pc:spChg>
        <pc:spChg chg="mod">
          <ac:chgData name="Byron Billett" userId="827adecc-dc65-4ba2-a2c7-4cc4eeee30b3" providerId="ADAL" clId="{017BA878-90EC-479D-86CF-CEA2518AB154}" dt="2026-10-27T15:59:37.217" v="236" actId="1037"/>
          <ac:spMkLst>
            <pc:docMk/>
            <pc:sldMk cId="0" sldId="257"/>
            <ac:spMk id="16" creationId="{00000000-0000-0000-0000-000000000000}"/>
          </ac:spMkLst>
        </pc:spChg>
        <pc:spChg chg="mod">
          <ac:chgData name="Byron Billett" userId="827adecc-dc65-4ba2-a2c7-4cc4eeee30b3" providerId="ADAL" clId="{017BA878-90EC-479D-86CF-CEA2518AB154}" dt="2026-10-27T16:01:59.220" v="498" actId="255"/>
          <ac:spMkLst>
            <pc:docMk/>
            <pc:sldMk cId="0" sldId="257"/>
            <ac:spMk id="18" creationId="{00000000-0000-0000-0000-000000000000}"/>
          </ac:spMkLst>
        </pc:spChg>
        <pc:spChg chg="mod">
          <ac:chgData name="Byron Billett" userId="827adecc-dc65-4ba2-a2c7-4cc4eeee30b3" providerId="ADAL" clId="{017BA878-90EC-479D-86CF-CEA2518AB154}" dt="2026-10-27T15:59:37.217" v="236" actId="1037"/>
          <ac:spMkLst>
            <pc:docMk/>
            <pc:sldMk cId="0" sldId="257"/>
            <ac:spMk id="20" creationId="{00000000-0000-0000-0000-000000000000}"/>
          </ac:spMkLst>
        </pc:spChg>
        <pc:spChg chg="mod">
          <ac:chgData name="Byron Billett" userId="827adecc-dc65-4ba2-a2c7-4cc4eeee30b3" providerId="ADAL" clId="{017BA878-90EC-479D-86CF-CEA2518AB154}" dt="2026-10-27T16:02:10.567" v="504" actId="255"/>
          <ac:spMkLst>
            <pc:docMk/>
            <pc:sldMk cId="0" sldId="257"/>
            <ac:spMk id="23" creationId="{00000000-0000-0000-0000-000000000000}"/>
          </ac:spMkLst>
        </pc:spChg>
        <pc:spChg chg="mod">
          <ac:chgData name="Byron Billett" userId="827adecc-dc65-4ba2-a2c7-4cc4eeee30b3" providerId="ADAL" clId="{017BA878-90EC-479D-86CF-CEA2518AB154}" dt="2026-10-27T15:59:37.217" v="236" actId="1037"/>
          <ac:spMkLst>
            <pc:docMk/>
            <pc:sldMk cId="0" sldId="257"/>
            <ac:spMk id="24" creationId="{00000000-0000-0000-0000-000000000000}"/>
          </ac:spMkLst>
        </pc:spChg>
        <pc:spChg chg="mod">
          <ac:chgData name="Byron Billett" userId="827adecc-dc65-4ba2-a2c7-4cc4eeee30b3" providerId="ADAL" clId="{017BA878-90EC-479D-86CF-CEA2518AB154}" dt="2026-10-27T15:59:54.536" v="322" actId="1038"/>
          <ac:spMkLst>
            <pc:docMk/>
            <pc:sldMk cId="0" sldId="257"/>
            <ac:spMk id="25" creationId="{00000000-0000-0000-0000-000000000000}"/>
          </ac:spMkLst>
        </pc:spChg>
        <pc:spChg chg="mod">
          <ac:chgData name="Byron Billett" userId="827adecc-dc65-4ba2-a2c7-4cc4eeee30b3" providerId="ADAL" clId="{017BA878-90EC-479D-86CF-CEA2518AB154}" dt="2026-10-27T15:59:54.536" v="322" actId="1038"/>
          <ac:spMkLst>
            <pc:docMk/>
            <pc:sldMk cId="0" sldId="257"/>
            <ac:spMk id="26" creationId="{00000000-0000-0000-0000-000000000000}"/>
          </ac:spMkLst>
        </pc:spChg>
        <pc:spChg chg="mod">
          <ac:chgData name="Byron Billett" userId="827adecc-dc65-4ba2-a2c7-4cc4eeee30b3" providerId="ADAL" clId="{017BA878-90EC-479D-86CF-CEA2518AB154}" dt="2026-10-27T15:59:54.536" v="322" actId="1038"/>
          <ac:spMkLst>
            <pc:docMk/>
            <pc:sldMk cId="0" sldId="257"/>
            <ac:spMk id="27" creationId="{00000000-0000-0000-0000-000000000000}"/>
          </ac:spMkLst>
        </pc:spChg>
        <pc:spChg chg="mod">
          <ac:chgData name="Byron Billett" userId="827adecc-dc65-4ba2-a2c7-4cc4eeee30b3" providerId="ADAL" clId="{017BA878-90EC-479D-86CF-CEA2518AB154}" dt="2026-10-27T16:02:25.232" v="506" actId="255"/>
          <ac:spMkLst>
            <pc:docMk/>
            <pc:sldMk cId="0" sldId="257"/>
            <ac:spMk id="28" creationId="{00000000-0000-0000-0000-000000000000}"/>
          </ac:spMkLst>
        </pc:spChg>
        <pc:spChg chg="mod">
          <ac:chgData name="Byron Billett" userId="827adecc-dc65-4ba2-a2c7-4cc4eeee30b3" providerId="ADAL" clId="{017BA878-90EC-479D-86CF-CEA2518AB154}" dt="2026-10-27T15:59:54.536" v="322" actId="1038"/>
          <ac:spMkLst>
            <pc:docMk/>
            <pc:sldMk cId="0" sldId="257"/>
            <ac:spMk id="29" creationId="{00000000-0000-0000-0000-000000000000}"/>
          </ac:spMkLst>
        </pc:spChg>
        <pc:spChg chg="add del">
          <ac:chgData name="Byron Billett" userId="827adecc-dc65-4ba2-a2c7-4cc4eeee30b3" providerId="ADAL" clId="{017BA878-90EC-479D-86CF-CEA2518AB154}" dt="2026-10-27T15:59:59.121" v="325" actId="22"/>
          <ac:spMkLst>
            <pc:docMk/>
            <pc:sldMk cId="0" sldId="257"/>
            <ac:spMk id="56" creationId="{377FF94B-5580-7ACC-745D-42D1ADE743A9}"/>
          </ac:spMkLst>
        </pc:spChg>
        <pc:spChg chg="add mod">
          <ac:chgData name="Byron Billett" userId="827adecc-dc65-4ba2-a2c7-4cc4eeee30b3" providerId="ADAL" clId="{017BA878-90EC-479D-86CF-CEA2518AB154}" dt="2026-10-27T16:00:14.299" v="417" actId="1035"/>
          <ac:spMkLst>
            <pc:docMk/>
            <pc:sldMk cId="0" sldId="257"/>
            <ac:spMk id="58" creationId="{FB07F15C-7F7F-B8C6-88A8-F705BD0CD8FF}"/>
          </ac:spMkLst>
        </pc:spChg>
        <pc:spChg chg="add mod">
          <ac:chgData name="Byron Billett" userId="827adecc-dc65-4ba2-a2c7-4cc4eeee30b3" providerId="ADAL" clId="{017BA878-90EC-479D-86CF-CEA2518AB154}" dt="2026-10-27T16:00:14.299" v="417" actId="1035"/>
          <ac:spMkLst>
            <pc:docMk/>
            <pc:sldMk cId="0" sldId="257"/>
            <ac:spMk id="60" creationId="{1649A53E-BDB7-747D-B995-56F4D971A5C7}"/>
          </ac:spMkLst>
        </pc:spChg>
        <pc:spChg chg="add mod">
          <ac:chgData name="Byron Billett" userId="827adecc-dc65-4ba2-a2c7-4cc4eeee30b3" providerId="ADAL" clId="{017BA878-90EC-479D-86CF-CEA2518AB154}" dt="2026-10-27T16:00:28.036" v="459" actId="20577"/>
          <ac:spMkLst>
            <pc:docMk/>
            <pc:sldMk cId="0" sldId="257"/>
            <ac:spMk id="62" creationId="{0EBBF9A4-6107-1603-A3C9-C21E74638AE1}"/>
          </ac:spMkLst>
        </pc:spChg>
        <pc:spChg chg="add mod">
          <ac:chgData name="Byron Billett" userId="827adecc-dc65-4ba2-a2c7-4cc4eeee30b3" providerId="ADAL" clId="{017BA878-90EC-479D-86CF-CEA2518AB154}" dt="2026-10-27T16:02:53.015" v="524" actId="20577"/>
          <ac:spMkLst>
            <pc:docMk/>
            <pc:sldMk cId="0" sldId="257"/>
            <ac:spMk id="64" creationId="{CDA6230A-0E45-DA34-28A6-DF04840D6F72}"/>
          </ac:spMkLst>
        </pc:spChg>
        <pc:spChg chg="add mod">
          <ac:chgData name="Byron Billett" userId="827adecc-dc65-4ba2-a2c7-4cc4eeee30b3" providerId="ADAL" clId="{017BA878-90EC-479D-86CF-CEA2518AB154}" dt="2026-10-27T16:00:39.086" v="482" actId="20577"/>
          <ac:spMkLst>
            <pc:docMk/>
            <pc:sldMk cId="0" sldId="257"/>
            <ac:spMk id="66" creationId="{E4CE209D-CE71-A5B8-0384-831A5FC77FDC}"/>
          </ac:spMkLst>
        </pc:spChg>
      </pc:sldChg>
      <pc:sldChg chg="modSp mod">
        <pc:chgData name="Byron Billett" userId="827adecc-dc65-4ba2-a2c7-4cc4eeee30b3" providerId="ADAL" clId="{017BA878-90EC-479D-86CF-CEA2518AB154}" dt="2026-10-27T15:57:49.456" v="138" actId="20577"/>
        <pc:sldMkLst>
          <pc:docMk/>
          <pc:sldMk cId="0" sldId="258"/>
        </pc:sldMkLst>
        <pc:graphicFrameChg chg="modGraphic">
          <ac:chgData name="Byron Billett" userId="827adecc-dc65-4ba2-a2c7-4cc4eeee30b3" providerId="ADAL" clId="{017BA878-90EC-479D-86CF-CEA2518AB154}" dt="2026-10-27T15:57:49.456" v="138" actId="20577"/>
          <ac:graphicFrameMkLst>
            <pc:docMk/>
            <pc:sldMk cId="0" sldId="258"/>
            <ac:graphicFrameMk id="17" creationId="{00000000-0000-0000-0000-000000000000}"/>
          </ac:graphicFrameMkLst>
        </pc:graphicFrameChg>
      </pc:sldChg>
      <pc:sldChg chg="modSp mod">
        <pc:chgData name="Byron Billett" userId="827adecc-dc65-4ba2-a2c7-4cc4eeee30b3" providerId="ADAL" clId="{017BA878-90EC-479D-86CF-CEA2518AB154}" dt="2026-10-27T15:49:32.417" v="39" actId="20577"/>
        <pc:sldMkLst>
          <pc:docMk/>
          <pc:sldMk cId="0" sldId="259"/>
        </pc:sldMkLst>
        <pc:spChg chg="mod">
          <ac:chgData name="Byron Billett" userId="827adecc-dc65-4ba2-a2c7-4cc4eeee30b3" providerId="ADAL" clId="{017BA878-90EC-479D-86CF-CEA2518AB154}" dt="2026-10-27T15:49:32.417" v="39" actId="20577"/>
          <ac:spMkLst>
            <pc:docMk/>
            <pc:sldMk cId="0" sldId="259"/>
            <ac:spMk id="19" creationId="{00000000-0000-0000-0000-000000000000}"/>
          </ac:spMkLst>
        </pc:spChg>
      </pc:sldChg>
      <pc:sldChg chg="modSp mod">
        <pc:chgData name="Byron Billett" userId="827adecc-dc65-4ba2-a2c7-4cc4eeee30b3" providerId="ADAL" clId="{017BA878-90EC-479D-86CF-CEA2518AB154}" dt="2026-10-27T16:04:20.486" v="569" actId="20577"/>
        <pc:sldMkLst>
          <pc:docMk/>
          <pc:sldMk cId="0" sldId="260"/>
        </pc:sldMkLst>
        <pc:spChg chg="mod">
          <ac:chgData name="Byron Billett" userId="827adecc-dc65-4ba2-a2c7-4cc4eeee30b3" providerId="ADAL" clId="{017BA878-90EC-479D-86CF-CEA2518AB154}" dt="2026-10-27T16:03:17.767" v="526" actId="20577"/>
          <ac:spMkLst>
            <pc:docMk/>
            <pc:sldMk cId="0" sldId="260"/>
            <ac:spMk id="12" creationId="{00000000-0000-0000-0000-000000000000}"/>
          </ac:spMkLst>
        </pc:spChg>
        <pc:spChg chg="mod">
          <ac:chgData name="Byron Billett" userId="827adecc-dc65-4ba2-a2c7-4cc4eeee30b3" providerId="ADAL" clId="{017BA878-90EC-479D-86CF-CEA2518AB154}" dt="2026-10-27T16:03:52.626" v="565" actId="20577"/>
          <ac:spMkLst>
            <pc:docMk/>
            <pc:sldMk cId="0" sldId="260"/>
            <ac:spMk id="13" creationId="{00000000-0000-0000-0000-000000000000}"/>
          </ac:spMkLst>
        </pc:spChg>
        <pc:spChg chg="mod">
          <ac:chgData name="Byron Billett" userId="827adecc-dc65-4ba2-a2c7-4cc4eeee30b3" providerId="ADAL" clId="{017BA878-90EC-479D-86CF-CEA2518AB154}" dt="2026-10-27T16:04:20.486" v="569" actId="20577"/>
          <ac:spMkLst>
            <pc:docMk/>
            <pc:sldMk cId="0" sldId="260"/>
            <ac:spMk id="17" creationId="{00000000-0000-0000-0000-000000000000}"/>
          </ac:spMkLst>
        </pc:spChg>
      </pc:sldChg>
      <pc:sldChg chg="modSp mod">
        <pc:chgData name="Byron Billett" userId="827adecc-dc65-4ba2-a2c7-4cc4eeee30b3" providerId="ADAL" clId="{017BA878-90EC-479D-86CF-CEA2518AB154}" dt="2026-10-27T15:53:37.800" v="96" actId="20577"/>
        <pc:sldMkLst>
          <pc:docMk/>
          <pc:sldMk cId="0" sldId="265"/>
        </pc:sldMkLst>
        <pc:graphicFrameChg chg="modGraphic">
          <ac:chgData name="Byron Billett" userId="827adecc-dc65-4ba2-a2c7-4cc4eeee30b3" providerId="ADAL" clId="{017BA878-90EC-479D-86CF-CEA2518AB154}" dt="2026-10-27T15:53:37.800" v="96" actId="20577"/>
          <ac:graphicFrameMkLst>
            <pc:docMk/>
            <pc:sldMk cId="0" sldId="265"/>
            <ac:graphicFrameMk id="11" creationId="{00000000-0000-0000-0000-000000000000}"/>
          </ac:graphicFrameMkLst>
        </pc:graphicFrameChg>
      </pc:sldChg>
      <pc:sldChg chg="modSp mod">
        <pc:chgData name="Byron Billett" userId="827adecc-dc65-4ba2-a2c7-4cc4eeee30b3" providerId="ADAL" clId="{017BA878-90EC-479D-86CF-CEA2518AB154}" dt="2026-10-27T16:06:37.446" v="588" actId="113"/>
        <pc:sldMkLst>
          <pc:docMk/>
          <pc:sldMk cId="0" sldId="267"/>
        </pc:sldMkLst>
        <pc:spChg chg="mod">
          <ac:chgData name="Byron Billett" userId="827adecc-dc65-4ba2-a2c7-4cc4eeee30b3" providerId="ADAL" clId="{017BA878-90EC-479D-86CF-CEA2518AB154}" dt="2026-10-27T15:55:08.186" v="113" actId="20577"/>
          <ac:spMkLst>
            <pc:docMk/>
            <pc:sldMk cId="0" sldId="267"/>
            <ac:spMk id="13" creationId="{00000000-0000-0000-0000-000000000000}"/>
          </ac:spMkLst>
        </pc:spChg>
        <pc:spChg chg="mod">
          <ac:chgData name="Byron Billett" userId="827adecc-dc65-4ba2-a2c7-4cc4eeee30b3" providerId="ADAL" clId="{017BA878-90EC-479D-86CF-CEA2518AB154}" dt="2026-10-27T16:06:37.446" v="588" actId="113"/>
          <ac:spMkLst>
            <pc:docMk/>
            <pc:sldMk cId="0" sldId="267"/>
            <ac:spMk id="1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37085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61B55"/>
        </a:solidFill>
        <a:effectLst/>
      </p:bgPr>
    </p:bg>
    <p:spTree>
      <p:nvGrpSpPr>
        <p:cNvPr id="1" name=""/>
        <p:cNvGrpSpPr/>
        <p:nvPr/>
      </p:nvGrpSpPr>
      <p:grpSpPr>
        <a:xfrm>
          <a:off x="0" y="0"/>
          <a:ext cx="0" cy="0"/>
          <a:chOff x="0" y="0"/>
          <a:chExt cx="0" cy="0"/>
        </a:xfrm>
      </p:grpSpPr>
      <p:sp>
        <p:nvSpPr>
          <p:cNvPr id="2" name="Shape 0"/>
          <p:cNvSpPr/>
          <p:nvPr/>
        </p:nvSpPr>
        <p:spPr>
          <a:xfrm>
            <a:off x="0" y="0"/>
            <a:ext cx="365760" cy="6858000"/>
          </a:xfrm>
          <a:prstGeom prst="rect">
            <a:avLst/>
          </a:prstGeom>
          <a:solidFill>
            <a:srgbClr val="C09CCD"/>
          </a:solidFill>
          <a:ln/>
        </p:spPr>
        <p:txBody>
          <a:bodyPr/>
          <a:lstStyle/>
          <a:p>
            <a:endParaRPr lang="en-ZA"/>
          </a:p>
        </p:txBody>
      </p:sp>
      <p:sp>
        <p:nvSpPr>
          <p:cNvPr id="3" name="Text 1"/>
          <p:cNvSpPr/>
          <p:nvPr/>
        </p:nvSpPr>
        <p:spPr>
          <a:xfrm>
            <a:off x="1005840" y="2103120"/>
            <a:ext cx="10058400" cy="365760"/>
          </a:xfrm>
          <a:prstGeom prst="rect">
            <a:avLst/>
          </a:prstGeom>
          <a:noFill/>
          <a:ln/>
        </p:spPr>
        <p:txBody>
          <a:bodyPr wrap="square" rtlCol="0" anchor="ctr"/>
          <a:lstStyle/>
          <a:p>
            <a:pPr marL="0" indent="0">
              <a:buNone/>
            </a:pPr>
            <a:r>
              <a:rPr lang="en-US" sz="1400" b="1" dirty="0">
                <a:solidFill>
                  <a:srgbClr val="C09CCD"/>
                </a:solidFill>
                <a:latin typeface="Calibri" pitchFamily="34" charset="0"/>
                <a:ea typeface="Calibri" pitchFamily="34" charset="-122"/>
                <a:cs typeface="Calibri" pitchFamily="34" charset="-120"/>
              </a:rPr>
              <a:t>GROUP BUDGET INSTRUCTIONS  •  ALL GROUP COMPANIES</a:t>
            </a:r>
            <a:endParaRPr lang="en-US" sz="1400" dirty="0"/>
          </a:p>
        </p:txBody>
      </p:sp>
      <p:sp>
        <p:nvSpPr>
          <p:cNvPr id="4" name="Text 2"/>
          <p:cNvSpPr/>
          <p:nvPr/>
        </p:nvSpPr>
        <p:spPr>
          <a:xfrm>
            <a:off x="1005840" y="2560320"/>
            <a:ext cx="10058400" cy="146304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FY2028 Budget Instructions</a:t>
            </a:r>
            <a:endParaRPr lang="en-US" sz="3600" dirty="0"/>
          </a:p>
        </p:txBody>
      </p:sp>
      <p:sp>
        <p:nvSpPr>
          <p:cNvPr id="5" name="Text 3"/>
          <p:cNvSpPr/>
          <p:nvPr/>
        </p:nvSpPr>
        <p:spPr>
          <a:xfrm>
            <a:off x="1005840" y="4114800"/>
            <a:ext cx="10058400" cy="731520"/>
          </a:xfrm>
          <a:prstGeom prst="rect">
            <a:avLst/>
          </a:prstGeom>
          <a:noFill/>
          <a:ln/>
        </p:spPr>
        <p:txBody>
          <a:bodyPr wrap="square" rtlCol="0" anchor="ctr"/>
          <a:lstStyle/>
          <a:p>
            <a:pPr marL="0" indent="0">
              <a:buNone/>
            </a:pPr>
            <a:r>
              <a:rPr lang="en-US" sz="1800" dirty="0">
                <a:solidFill>
                  <a:srgbClr val="FFFFFF">
                    <a:alpha val="80000"/>
                  </a:srgbClr>
                </a:solidFill>
                <a:latin typeface="Calibri" pitchFamily="34" charset="0"/>
                <a:ea typeface="Calibri" pitchFamily="34" charset="-122"/>
                <a:cs typeface="Calibri" pitchFamily="34" charset="-120"/>
              </a:rPr>
              <a:t>Process, deadlines, submission requirements and Group assumptions</a:t>
            </a:r>
            <a:endParaRPr lang="en-US" sz="1800" dirty="0"/>
          </a:p>
        </p:txBody>
      </p:sp>
      <p:sp>
        <p:nvSpPr>
          <p:cNvPr id="6" name="Text 4"/>
          <p:cNvSpPr/>
          <p:nvPr/>
        </p:nvSpPr>
        <p:spPr>
          <a:xfrm>
            <a:off x="1005840" y="6309360"/>
            <a:ext cx="6400800" cy="274320"/>
          </a:xfrm>
          <a:prstGeom prst="rect">
            <a:avLst/>
          </a:prstGeom>
          <a:noFill/>
          <a:ln/>
        </p:spPr>
        <p:txBody>
          <a:bodyPr wrap="square" rtlCol="0" anchor="ctr"/>
          <a:lstStyle/>
          <a:p>
            <a:pPr marL="0" indent="0">
              <a:buNone/>
            </a:pPr>
            <a:r>
              <a:rPr lang="en-US" sz="900" dirty="0">
                <a:solidFill>
                  <a:srgbClr val="FFFFFF">
                    <a:alpha val="60000"/>
                  </a:srgbClr>
                </a:solidFill>
                <a:latin typeface="Calibri" pitchFamily="34" charset="0"/>
                <a:ea typeface="Calibri" pitchFamily="34" charset="-122"/>
                <a:cs typeface="Calibri" pitchFamily="34" charset="-120"/>
              </a:rPr>
              <a:t>Issued 27 October 2026   |   Strictly confidential   |   v1.0</a:t>
            </a:r>
            <a:endParaRPr lang="en-US" sz="900" dirty="0"/>
          </a:p>
        </p:txBody>
      </p:sp>
      <p:pic>
        <p:nvPicPr>
          <p:cNvPr id="7" name="Image 0" descr="maziv_logo_landscape_white.png"/>
          <p:cNvPicPr>
            <a:picLocks noChangeAspect="1"/>
          </p:cNvPicPr>
          <p:nvPr/>
        </p:nvPicPr>
        <p:blipFill>
          <a:blip r:embed="rId3"/>
          <a:stretch>
            <a:fillRect/>
          </a:stretch>
        </p:blipFill>
        <p:spPr>
          <a:xfrm>
            <a:off x="8362188" y="457200"/>
            <a:ext cx="3555187" cy="1645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461B55"/>
          </a:solidFill>
          <a:ln/>
        </p:spPr>
        <p:txBody>
          <a:bodyPr/>
          <a:lstStyle/>
          <a:p>
            <a:endParaRPr lang="en-ZA"/>
          </a:p>
        </p:txBody>
      </p:sp>
      <p:sp>
        <p:nvSpPr>
          <p:cNvPr id="3" name="Shape 1"/>
          <p:cNvSpPr/>
          <p:nvPr/>
        </p:nvSpPr>
        <p:spPr>
          <a:xfrm>
            <a:off x="0" y="548640"/>
            <a:ext cx="12191695" cy="36576"/>
          </a:xfrm>
          <a:prstGeom prst="rect">
            <a:avLst/>
          </a:prstGeom>
          <a:solidFill>
            <a:srgbClr val="C09CCD"/>
          </a:solidFill>
          <a:ln/>
        </p:spPr>
        <p:txBody>
          <a:bodyPr/>
          <a:lstStyle/>
          <a:p>
            <a:endParaRPr lang="en-ZA"/>
          </a:p>
        </p:txBody>
      </p:sp>
      <p:sp>
        <p:nvSpPr>
          <p:cNvPr id="4" name="Text 2"/>
          <p:cNvSpPr/>
          <p:nvPr/>
        </p:nvSpPr>
        <p:spPr>
          <a:xfrm>
            <a:off x="365760" y="73152"/>
            <a:ext cx="9144000" cy="41148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FY2028 Budget Instructions at a Glance</a:t>
            </a:r>
            <a:endParaRPr lang="en-US" sz="2400" dirty="0"/>
          </a:p>
        </p:txBody>
      </p:sp>
      <p:sp>
        <p:nvSpPr>
          <p:cNvPr id="5" name="Text 3"/>
          <p:cNvSpPr/>
          <p:nvPr/>
        </p:nvSpPr>
        <p:spPr>
          <a:xfrm>
            <a:off x="9601200" y="73152"/>
            <a:ext cx="2377440" cy="411480"/>
          </a:xfrm>
          <a:prstGeom prst="rect">
            <a:avLst/>
          </a:prstGeom>
          <a:noFill/>
          <a:ln/>
        </p:spPr>
        <p:txBody>
          <a:bodyPr wrap="square" rtlCol="0" anchor="ctr"/>
          <a:lstStyle/>
          <a:p>
            <a:pPr marL="0" indent="0" algn="r">
              <a:buNone/>
            </a:pPr>
            <a:r>
              <a:rPr lang="en-US" sz="1100" dirty="0">
                <a:solidFill>
                  <a:srgbClr val="FFFFFF">
                    <a:alpha val="70000"/>
                  </a:srgbClr>
                </a:solidFill>
                <a:latin typeface="Calibri" pitchFamily="34" charset="0"/>
                <a:ea typeface="Calibri" pitchFamily="34" charset="-122"/>
                <a:cs typeface="Calibri" pitchFamily="34" charset="-120"/>
              </a:rPr>
              <a:t>OVERVIEW</a:t>
            </a:r>
            <a:endParaRPr lang="en-US" sz="1100" dirty="0"/>
          </a:p>
        </p:txBody>
      </p:sp>
      <p:sp>
        <p:nvSpPr>
          <p:cNvPr id="6" name="Shape 4"/>
          <p:cNvSpPr/>
          <p:nvPr/>
        </p:nvSpPr>
        <p:spPr>
          <a:xfrm>
            <a:off x="365760" y="6455664"/>
            <a:ext cx="11460175" cy="10973"/>
          </a:xfrm>
          <a:prstGeom prst="rect">
            <a:avLst/>
          </a:prstGeom>
          <a:solidFill>
            <a:srgbClr val="D1D1D1"/>
          </a:solidFill>
          <a:ln/>
        </p:spPr>
        <p:txBody>
          <a:bodyPr/>
          <a:lstStyle/>
          <a:p>
            <a:endParaRPr lang="en-ZA"/>
          </a:p>
        </p:txBody>
      </p:sp>
      <p:sp>
        <p:nvSpPr>
          <p:cNvPr id="7" name="Text 5"/>
          <p:cNvSpPr/>
          <p:nvPr/>
        </p:nvSpPr>
        <p:spPr>
          <a:xfrm>
            <a:off x="365760" y="6492240"/>
            <a:ext cx="6400800" cy="256032"/>
          </a:xfrm>
          <a:prstGeom prst="rect">
            <a:avLst/>
          </a:prstGeom>
          <a:noFill/>
          <a:ln/>
        </p:spPr>
        <p:txBody>
          <a:bodyPr wrap="square" rtlCol="0" anchor="ctr"/>
          <a:lstStyle/>
          <a:p>
            <a:pPr marL="0" indent="0">
              <a:buNone/>
            </a:pPr>
            <a:r>
              <a:rPr lang="en-US" sz="900" i="1" dirty="0">
                <a:solidFill>
                  <a:srgbClr val="747474"/>
                </a:solidFill>
                <a:latin typeface="Calibri" pitchFamily="34" charset="0"/>
                <a:ea typeface="Calibri" pitchFamily="34" charset="-122"/>
                <a:cs typeface="Calibri" pitchFamily="34" charset="-120"/>
              </a:rPr>
              <a:t>Maziv Group  •  FY2028 Budget Instructions  •  Strictly confidential</a:t>
            </a:r>
            <a:endParaRPr lang="en-US" sz="900" dirty="0"/>
          </a:p>
        </p:txBody>
      </p:sp>
      <p:sp>
        <p:nvSpPr>
          <p:cNvPr id="8" name="Text 6"/>
          <p:cNvSpPr/>
          <p:nvPr/>
        </p:nvSpPr>
        <p:spPr>
          <a:xfrm>
            <a:off x="6949440" y="6492240"/>
            <a:ext cx="3200400" cy="256032"/>
          </a:xfrm>
          <a:prstGeom prst="rect">
            <a:avLst/>
          </a:prstGeom>
          <a:noFill/>
          <a:ln/>
        </p:spPr>
        <p:txBody>
          <a:bodyPr wrap="square" rtlCol="0" anchor="ctr"/>
          <a:lstStyle/>
          <a:p>
            <a:pPr marL="0" indent="0" algn="r">
              <a:buNone/>
            </a:pPr>
            <a:r>
              <a:rPr lang="en-US" sz="900" dirty="0">
                <a:solidFill>
                  <a:srgbClr val="747474"/>
                </a:solidFill>
                <a:latin typeface="Calibri" pitchFamily="34" charset="0"/>
                <a:ea typeface="Calibri" pitchFamily="34" charset="-122"/>
                <a:cs typeface="Calibri" pitchFamily="34" charset="-120"/>
              </a:rPr>
              <a:t>OVERVIEW  •  2 / 13</a:t>
            </a:r>
            <a:endParaRPr lang="en-US" sz="900" dirty="0"/>
          </a:p>
        </p:txBody>
      </p:sp>
      <p:pic>
        <p:nvPicPr>
          <p:cNvPr id="9" name="Image 0" descr="maziv_logo_transparent.png"/>
          <p:cNvPicPr>
            <a:picLocks noChangeAspect="1"/>
          </p:cNvPicPr>
          <p:nvPr/>
        </p:nvPicPr>
        <p:blipFill>
          <a:blip r:embed="rId3"/>
          <a:stretch>
            <a:fillRect/>
          </a:stretch>
        </p:blipFill>
        <p:spPr>
          <a:xfrm>
            <a:off x="11005170" y="6519672"/>
            <a:ext cx="820765" cy="146304"/>
          </a:xfrm>
          <a:prstGeom prst="rect">
            <a:avLst/>
          </a:prstGeom>
        </p:spPr>
      </p:pic>
      <p:sp>
        <p:nvSpPr>
          <p:cNvPr id="15" name="Shape 12"/>
          <p:cNvSpPr/>
          <p:nvPr/>
        </p:nvSpPr>
        <p:spPr>
          <a:xfrm>
            <a:off x="400611" y="822960"/>
            <a:ext cx="2693594" cy="1143000"/>
          </a:xfrm>
          <a:prstGeom prst="rect">
            <a:avLst/>
          </a:prstGeom>
          <a:solidFill>
            <a:srgbClr val="FFFFFF"/>
          </a:solidFill>
          <a:ln w="12700">
            <a:solidFill>
              <a:srgbClr val="D1D1D1"/>
            </a:solidFill>
            <a:prstDash val="solid"/>
          </a:ln>
        </p:spPr>
        <p:txBody>
          <a:bodyPr/>
          <a:lstStyle/>
          <a:p>
            <a:endParaRPr lang="en-ZA"/>
          </a:p>
        </p:txBody>
      </p:sp>
      <p:sp>
        <p:nvSpPr>
          <p:cNvPr id="16" name="Shape 13"/>
          <p:cNvSpPr/>
          <p:nvPr/>
        </p:nvSpPr>
        <p:spPr>
          <a:xfrm>
            <a:off x="400611" y="822960"/>
            <a:ext cx="2693594" cy="36576"/>
          </a:xfrm>
          <a:prstGeom prst="rect">
            <a:avLst/>
          </a:prstGeom>
          <a:solidFill>
            <a:srgbClr val="C09CCD"/>
          </a:solidFill>
          <a:ln/>
        </p:spPr>
        <p:txBody>
          <a:bodyPr/>
          <a:lstStyle/>
          <a:p>
            <a:endParaRPr lang="en-ZA"/>
          </a:p>
        </p:txBody>
      </p:sp>
      <p:sp>
        <p:nvSpPr>
          <p:cNvPr id="17" name="Text 14"/>
          <p:cNvSpPr/>
          <p:nvPr/>
        </p:nvSpPr>
        <p:spPr>
          <a:xfrm>
            <a:off x="565203" y="914400"/>
            <a:ext cx="2364410" cy="256032"/>
          </a:xfrm>
          <a:prstGeom prst="rect">
            <a:avLst/>
          </a:prstGeom>
          <a:noFill/>
          <a:ln/>
        </p:spPr>
        <p:txBody>
          <a:bodyPr wrap="square" rtlCol="0" anchor="ctr"/>
          <a:lstStyle/>
          <a:p>
            <a:pPr marL="0" indent="0">
              <a:buNone/>
            </a:pPr>
            <a:r>
              <a:rPr lang="en-US" sz="1000" dirty="0">
                <a:solidFill>
                  <a:srgbClr val="747474"/>
                </a:solidFill>
                <a:latin typeface="Calibri" pitchFamily="34" charset="0"/>
                <a:ea typeface="Calibri" pitchFamily="34" charset="-122"/>
                <a:cs typeface="Calibri" pitchFamily="34" charset="-120"/>
              </a:rPr>
              <a:t>First submission</a:t>
            </a:r>
            <a:endParaRPr lang="en-US" sz="1000" dirty="0"/>
          </a:p>
        </p:txBody>
      </p:sp>
      <p:sp>
        <p:nvSpPr>
          <p:cNvPr id="18" name="Text 15"/>
          <p:cNvSpPr/>
          <p:nvPr/>
        </p:nvSpPr>
        <p:spPr>
          <a:xfrm>
            <a:off x="565203" y="1152144"/>
            <a:ext cx="2364410" cy="502920"/>
          </a:xfrm>
          <a:prstGeom prst="rect">
            <a:avLst/>
          </a:prstGeom>
          <a:noFill/>
          <a:ln/>
        </p:spPr>
        <p:txBody>
          <a:bodyPr wrap="square" rtlCol="0" anchor="ctr"/>
          <a:lstStyle/>
          <a:p>
            <a:pPr marL="0" indent="0">
              <a:buNone/>
            </a:pPr>
            <a:r>
              <a:rPr lang="en-US" sz="2000" b="1" dirty="0">
                <a:solidFill>
                  <a:srgbClr val="461B55"/>
                </a:solidFill>
                <a:latin typeface="Calibri" pitchFamily="34" charset="0"/>
                <a:ea typeface="Calibri" pitchFamily="34" charset="-122"/>
                <a:cs typeface="Calibri" pitchFamily="34" charset="-120"/>
              </a:rPr>
              <a:t>Mon 30 Nov 2026</a:t>
            </a:r>
            <a:endParaRPr lang="en-US" sz="2000" dirty="0"/>
          </a:p>
        </p:txBody>
      </p:sp>
      <p:sp>
        <p:nvSpPr>
          <p:cNvPr id="19" name="Text 16"/>
          <p:cNvSpPr/>
          <p:nvPr/>
        </p:nvSpPr>
        <p:spPr>
          <a:xfrm>
            <a:off x="565203" y="1636776"/>
            <a:ext cx="2364410" cy="256032"/>
          </a:xfrm>
          <a:prstGeom prst="rect">
            <a:avLst/>
          </a:prstGeom>
          <a:noFill/>
          <a:ln/>
        </p:spPr>
        <p:txBody>
          <a:bodyPr wrap="square" rtlCol="0" anchor="ctr"/>
          <a:lstStyle/>
          <a:p>
            <a:pPr marL="0" indent="0">
              <a:buNone/>
            </a:pPr>
            <a:r>
              <a:rPr lang="en-US" sz="900" i="1" dirty="0">
                <a:solidFill>
                  <a:srgbClr val="747474"/>
                </a:solidFill>
                <a:latin typeface="Calibri" pitchFamily="34" charset="0"/>
                <a:ea typeface="Calibri" pitchFamily="34" charset="-122"/>
                <a:cs typeface="Calibri" pitchFamily="34" charset="-120"/>
              </a:rPr>
              <a:t>All entities  •  2026</a:t>
            </a:r>
            <a:endParaRPr lang="en-US" sz="900" dirty="0"/>
          </a:p>
        </p:txBody>
      </p:sp>
      <p:sp>
        <p:nvSpPr>
          <p:cNvPr id="20" name="Shape 17"/>
          <p:cNvSpPr/>
          <p:nvPr/>
        </p:nvSpPr>
        <p:spPr>
          <a:xfrm>
            <a:off x="3322805" y="822960"/>
            <a:ext cx="2693594" cy="1143000"/>
          </a:xfrm>
          <a:prstGeom prst="rect">
            <a:avLst/>
          </a:prstGeom>
          <a:solidFill>
            <a:srgbClr val="FFFFFF"/>
          </a:solidFill>
          <a:ln w="12700">
            <a:solidFill>
              <a:srgbClr val="D1D1D1"/>
            </a:solidFill>
            <a:prstDash val="solid"/>
          </a:ln>
        </p:spPr>
        <p:txBody>
          <a:bodyPr/>
          <a:lstStyle/>
          <a:p>
            <a:endParaRPr lang="en-ZA"/>
          </a:p>
        </p:txBody>
      </p:sp>
      <p:sp>
        <p:nvSpPr>
          <p:cNvPr id="21" name="Shape 18"/>
          <p:cNvSpPr/>
          <p:nvPr/>
        </p:nvSpPr>
        <p:spPr>
          <a:xfrm>
            <a:off x="3322805" y="822960"/>
            <a:ext cx="2693594" cy="36576"/>
          </a:xfrm>
          <a:prstGeom prst="rect">
            <a:avLst/>
          </a:prstGeom>
          <a:solidFill>
            <a:srgbClr val="C09CCD"/>
          </a:solidFill>
          <a:ln/>
        </p:spPr>
        <p:txBody>
          <a:bodyPr/>
          <a:lstStyle/>
          <a:p>
            <a:endParaRPr lang="en-ZA"/>
          </a:p>
        </p:txBody>
      </p:sp>
      <p:sp>
        <p:nvSpPr>
          <p:cNvPr id="22" name="Text 19"/>
          <p:cNvSpPr/>
          <p:nvPr/>
        </p:nvSpPr>
        <p:spPr>
          <a:xfrm>
            <a:off x="3487397" y="914400"/>
            <a:ext cx="2364410" cy="256032"/>
          </a:xfrm>
          <a:prstGeom prst="rect">
            <a:avLst/>
          </a:prstGeom>
          <a:noFill/>
          <a:ln/>
        </p:spPr>
        <p:txBody>
          <a:bodyPr wrap="square" rtlCol="0" anchor="ctr"/>
          <a:lstStyle/>
          <a:p>
            <a:pPr marL="0" indent="0">
              <a:buNone/>
            </a:pPr>
            <a:r>
              <a:rPr lang="en-US" sz="1000" dirty="0">
                <a:solidFill>
                  <a:srgbClr val="747474"/>
                </a:solidFill>
                <a:latin typeface="Calibri" pitchFamily="34" charset="0"/>
                <a:ea typeface="Calibri" pitchFamily="34" charset="-122"/>
                <a:cs typeface="Calibri" pitchFamily="34" charset="-120"/>
              </a:rPr>
              <a:t>Final submission</a:t>
            </a:r>
            <a:endParaRPr lang="en-US" sz="1000" dirty="0"/>
          </a:p>
        </p:txBody>
      </p:sp>
      <p:sp>
        <p:nvSpPr>
          <p:cNvPr id="23" name="Text 20"/>
          <p:cNvSpPr/>
          <p:nvPr/>
        </p:nvSpPr>
        <p:spPr>
          <a:xfrm>
            <a:off x="3487397" y="1152144"/>
            <a:ext cx="2364410" cy="502920"/>
          </a:xfrm>
          <a:prstGeom prst="rect">
            <a:avLst/>
          </a:prstGeom>
          <a:noFill/>
          <a:ln/>
        </p:spPr>
        <p:txBody>
          <a:bodyPr wrap="square" rtlCol="0" anchor="ctr"/>
          <a:lstStyle/>
          <a:p>
            <a:pPr marL="0" indent="0">
              <a:buNone/>
            </a:pPr>
            <a:r>
              <a:rPr lang="en-US" sz="2000" b="1" dirty="0">
                <a:solidFill>
                  <a:srgbClr val="461B55"/>
                </a:solidFill>
                <a:latin typeface="Calibri" pitchFamily="34" charset="0"/>
                <a:ea typeface="Calibri" pitchFamily="34" charset="-122"/>
                <a:cs typeface="Calibri" pitchFamily="34" charset="-120"/>
              </a:rPr>
              <a:t>Fri 29 Jan 2027</a:t>
            </a:r>
            <a:endParaRPr lang="en-US" sz="2000" dirty="0"/>
          </a:p>
        </p:txBody>
      </p:sp>
      <p:sp>
        <p:nvSpPr>
          <p:cNvPr id="24" name="Text 21"/>
          <p:cNvSpPr/>
          <p:nvPr/>
        </p:nvSpPr>
        <p:spPr>
          <a:xfrm>
            <a:off x="3487397" y="1636776"/>
            <a:ext cx="2364410" cy="256032"/>
          </a:xfrm>
          <a:prstGeom prst="rect">
            <a:avLst/>
          </a:prstGeom>
          <a:noFill/>
          <a:ln/>
        </p:spPr>
        <p:txBody>
          <a:bodyPr wrap="square" rtlCol="0" anchor="ctr"/>
          <a:lstStyle/>
          <a:p>
            <a:pPr marL="0" indent="0">
              <a:buNone/>
            </a:pPr>
            <a:r>
              <a:rPr lang="en-US" sz="900" i="1" dirty="0">
                <a:solidFill>
                  <a:srgbClr val="747474"/>
                </a:solidFill>
                <a:latin typeface="Calibri" pitchFamily="34" charset="0"/>
                <a:ea typeface="Calibri" pitchFamily="34" charset="-122"/>
                <a:cs typeface="Calibri" pitchFamily="34" charset="-120"/>
              </a:rPr>
              <a:t>All entities  •  2027</a:t>
            </a:r>
            <a:endParaRPr lang="en-US" sz="900" dirty="0"/>
          </a:p>
        </p:txBody>
      </p:sp>
      <p:sp>
        <p:nvSpPr>
          <p:cNvPr id="25" name="Shape 22"/>
          <p:cNvSpPr/>
          <p:nvPr/>
        </p:nvSpPr>
        <p:spPr>
          <a:xfrm>
            <a:off x="9062759" y="822960"/>
            <a:ext cx="2693594" cy="1143000"/>
          </a:xfrm>
          <a:prstGeom prst="rect">
            <a:avLst/>
          </a:prstGeom>
          <a:solidFill>
            <a:srgbClr val="FFFFFF"/>
          </a:solidFill>
          <a:ln w="12700">
            <a:solidFill>
              <a:srgbClr val="D1D1D1"/>
            </a:solidFill>
            <a:prstDash val="solid"/>
          </a:ln>
        </p:spPr>
        <p:txBody>
          <a:bodyPr/>
          <a:lstStyle/>
          <a:p>
            <a:endParaRPr lang="en-ZA"/>
          </a:p>
        </p:txBody>
      </p:sp>
      <p:sp>
        <p:nvSpPr>
          <p:cNvPr id="26" name="Shape 23"/>
          <p:cNvSpPr/>
          <p:nvPr/>
        </p:nvSpPr>
        <p:spPr>
          <a:xfrm>
            <a:off x="9062759" y="822960"/>
            <a:ext cx="2693594" cy="36576"/>
          </a:xfrm>
          <a:prstGeom prst="rect">
            <a:avLst/>
          </a:prstGeom>
          <a:solidFill>
            <a:srgbClr val="C09CCD"/>
          </a:solidFill>
          <a:ln/>
        </p:spPr>
        <p:txBody>
          <a:bodyPr/>
          <a:lstStyle/>
          <a:p>
            <a:endParaRPr lang="en-ZA"/>
          </a:p>
        </p:txBody>
      </p:sp>
      <p:sp>
        <p:nvSpPr>
          <p:cNvPr id="27" name="Text 24"/>
          <p:cNvSpPr/>
          <p:nvPr/>
        </p:nvSpPr>
        <p:spPr>
          <a:xfrm>
            <a:off x="9227351" y="914400"/>
            <a:ext cx="2364410" cy="256032"/>
          </a:xfrm>
          <a:prstGeom prst="rect">
            <a:avLst/>
          </a:prstGeom>
          <a:noFill/>
          <a:ln/>
        </p:spPr>
        <p:txBody>
          <a:bodyPr wrap="square" rtlCol="0" anchor="ctr"/>
          <a:lstStyle/>
          <a:p>
            <a:pPr marL="0" indent="0">
              <a:buNone/>
            </a:pPr>
            <a:r>
              <a:rPr lang="en-US" sz="1000" dirty="0">
                <a:solidFill>
                  <a:srgbClr val="747474"/>
                </a:solidFill>
                <a:latin typeface="Calibri" pitchFamily="34" charset="0"/>
                <a:ea typeface="Calibri" pitchFamily="34" charset="-122"/>
                <a:cs typeface="Calibri" pitchFamily="34" charset="-120"/>
              </a:rPr>
              <a:t>Group budget Board approval</a:t>
            </a:r>
            <a:endParaRPr lang="en-US" sz="1000" dirty="0"/>
          </a:p>
        </p:txBody>
      </p:sp>
      <p:sp>
        <p:nvSpPr>
          <p:cNvPr id="28" name="Text 25"/>
          <p:cNvSpPr/>
          <p:nvPr/>
        </p:nvSpPr>
        <p:spPr>
          <a:xfrm>
            <a:off x="9227351" y="1152144"/>
            <a:ext cx="2364410" cy="502920"/>
          </a:xfrm>
          <a:prstGeom prst="rect">
            <a:avLst/>
          </a:prstGeom>
          <a:noFill/>
          <a:ln/>
        </p:spPr>
        <p:txBody>
          <a:bodyPr wrap="square" rtlCol="0" anchor="ctr"/>
          <a:lstStyle/>
          <a:p>
            <a:pPr marL="0" indent="0">
              <a:buNone/>
            </a:pPr>
            <a:r>
              <a:rPr lang="en-US" sz="2000" b="1" dirty="0">
                <a:solidFill>
                  <a:srgbClr val="461B55"/>
                </a:solidFill>
                <a:latin typeface="Calibri" pitchFamily="34" charset="0"/>
                <a:ea typeface="Calibri" pitchFamily="34" charset="-122"/>
                <a:cs typeface="Calibri" pitchFamily="34" charset="-120"/>
              </a:rPr>
              <a:t>Wed 24 Mar</a:t>
            </a:r>
            <a:endParaRPr lang="en-US" sz="2000" dirty="0"/>
          </a:p>
        </p:txBody>
      </p:sp>
      <p:sp>
        <p:nvSpPr>
          <p:cNvPr id="29" name="Text 26"/>
          <p:cNvSpPr/>
          <p:nvPr/>
        </p:nvSpPr>
        <p:spPr>
          <a:xfrm>
            <a:off x="9227351" y="1636776"/>
            <a:ext cx="2364410" cy="256032"/>
          </a:xfrm>
          <a:prstGeom prst="rect">
            <a:avLst/>
          </a:prstGeom>
          <a:noFill/>
          <a:ln/>
        </p:spPr>
        <p:txBody>
          <a:bodyPr wrap="square" rtlCol="0" anchor="ctr"/>
          <a:lstStyle/>
          <a:p>
            <a:pPr marL="0" indent="0">
              <a:buNone/>
            </a:pPr>
            <a:r>
              <a:rPr lang="en-US" sz="900" i="1" dirty="0">
                <a:solidFill>
                  <a:srgbClr val="747474"/>
                </a:solidFill>
                <a:latin typeface="Calibri" pitchFamily="34" charset="0"/>
                <a:ea typeface="Calibri" pitchFamily="34" charset="-122"/>
                <a:cs typeface="Calibri" pitchFamily="34" charset="-120"/>
              </a:rPr>
              <a:t>Maziv Board  •  2027</a:t>
            </a:r>
            <a:endParaRPr lang="en-US" sz="900" dirty="0"/>
          </a:p>
        </p:txBody>
      </p:sp>
      <p:sp>
        <p:nvSpPr>
          <p:cNvPr id="30" name="Text 27"/>
          <p:cNvSpPr/>
          <p:nvPr/>
        </p:nvSpPr>
        <p:spPr>
          <a:xfrm>
            <a:off x="365760" y="2148840"/>
            <a:ext cx="5486400" cy="274320"/>
          </a:xfrm>
          <a:prstGeom prst="rect">
            <a:avLst/>
          </a:prstGeom>
          <a:noFill/>
          <a:ln/>
        </p:spPr>
        <p:txBody>
          <a:bodyPr wrap="square" rtlCol="0" anchor="ctr"/>
          <a:lstStyle/>
          <a:p>
            <a:pPr marL="0" indent="0">
              <a:buNone/>
            </a:pPr>
            <a:r>
              <a:rPr lang="en-US" sz="1100" b="1" dirty="0">
                <a:solidFill>
                  <a:srgbClr val="747474"/>
                </a:solidFill>
                <a:latin typeface="Calibri" pitchFamily="34" charset="0"/>
                <a:ea typeface="Calibri" pitchFamily="34" charset="-122"/>
                <a:cs typeface="Calibri" pitchFamily="34" charset="-120"/>
              </a:rPr>
              <a:t>What is different this year</a:t>
            </a:r>
            <a:endParaRPr lang="en-US" sz="1100" dirty="0"/>
          </a:p>
        </p:txBody>
      </p:sp>
      <p:sp>
        <p:nvSpPr>
          <p:cNvPr id="31" name="Shape 28"/>
          <p:cNvSpPr/>
          <p:nvPr/>
        </p:nvSpPr>
        <p:spPr>
          <a:xfrm>
            <a:off x="365760" y="2468880"/>
            <a:ext cx="2693594" cy="2286000"/>
          </a:xfrm>
          <a:prstGeom prst="rect">
            <a:avLst/>
          </a:prstGeom>
          <a:solidFill>
            <a:srgbClr val="FFFFFF"/>
          </a:solidFill>
          <a:ln w="12700">
            <a:solidFill>
              <a:srgbClr val="D1D1D1"/>
            </a:solidFill>
            <a:prstDash val="solid"/>
          </a:ln>
        </p:spPr>
        <p:txBody>
          <a:bodyPr/>
          <a:lstStyle/>
          <a:p>
            <a:endParaRPr lang="en-ZA"/>
          </a:p>
        </p:txBody>
      </p:sp>
      <p:sp>
        <p:nvSpPr>
          <p:cNvPr id="32" name="Shape 29"/>
          <p:cNvSpPr/>
          <p:nvPr/>
        </p:nvSpPr>
        <p:spPr>
          <a:xfrm>
            <a:off x="548640" y="2651760"/>
            <a:ext cx="457200" cy="457200"/>
          </a:xfrm>
          <a:prstGeom prst="ellipse">
            <a:avLst/>
          </a:prstGeom>
          <a:solidFill>
            <a:srgbClr val="C09CCD"/>
          </a:solidFill>
          <a:ln/>
        </p:spPr>
        <p:txBody>
          <a:bodyPr/>
          <a:lstStyle/>
          <a:p>
            <a:endParaRPr lang="en-ZA"/>
          </a:p>
        </p:txBody>
      </p:sp>
      <p:sp>
        <p:nvSpPr>
          <p:cNvPr id="33" name="Text 30"/>
          <p:cNvSpPr/>
          <p:nvPr/>
        </p:nvSpPr>
        <p:spPr>
          <a:xfrm>
            <a:off x="548640" y="2651760"/>
            <a:ext cx="457200" cy="45720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34" name="Text 31"/>
          <p:cNvSpPr/>
          <p:nvPr/>
        </p:nvSpPr>
        <p:spPr>
          <a:xfrm>
            <a:off x="1143000" y="2651760"/>
            <a:ext cx="1779194" cy="457200"/>
          </a:xfrm>
          <a:prstGeom prst="rect">
            <a:avLst/>
          </a:prstGeom>
          <a:noFill/>
          <a:ln/>
        </p:spPr>
        <p:txBody>
          <a:bodyPr wrap="square" rtlCol="0" anchor="ctr"/>
          <a:lstStyle/>
          <a:p>
            <a:pPr marL="0" indent="0">
              <a:buNone/>
            </a:pPr>
            <a:r>
              <a:rPr lang="en-US" sz="1400" b="1" dirty="0">
                <a:solidFill>
                  <a:srgbClr val="461B55"/>
                </a:solidFill>
                <a:latin typeface="Calibri" pitchFamily="34" charset="0"/>
                <a:ea typeface="Calibri" pitchFamily="34" charset="-122"/>
                <a:cs typeface="Calibri" pitchFamily="34" charset="-120"/>
              </a:rPr>
              <a:t>Top-down envelope</a:t>
            </a:r>
            <a:endParaRPr lang="en-US" sz="1400" dirty="0"/>
          </a:p>
        </p:txBody>
      </p:sp>
      <p:sp>
        <p:nvSpPr>
          <p:cNvPr id="35" name="Text 32"/>
          <p:cNvSpPr/>
          <p:nvPr/>
        </p:nvSpPr>
        <p:spPr>
          <a:xfrm>
            <a:off x="548640" y="3246120"/>
            <a:ext cx="2327834" cy="1417320"/>
          </a:xfrm>
          <a:prstGeom prst="rect">
            <a:avLst/>
          </a:prstGeom>
          <a:noFill/>
          <a:ln/>
        </p:spPr>
        <p:txBody>
          <a:bodyPr wrap="square" rtlCol="0" anchor="t"/>
          <a:lstStyle/>
          <a:p>
            <a:pPr marL="0" indent="0">
              <a:buNone/>
            </a:pPr>
            <a:r>
              <a:rPr lang="en-US" sz="1200" dirty="0">
                <a:solidFill>
                  <a:srgbClr val="1F2937"/>
                </a:solidFill>
                <a:latin typeface="Calibri" pitchFamily="34" charset="0"/>
                <a:ea typeface="Calibri" pitchFamily="34" charset="-122"/>
                <a:cs typeface="Calibri" pitchFamily="34" charset="-120"/>
              </a:rPr>
              <a:t>Group sets each entity’s revenue, EBITDA, operating profit, headline earnings and capex envelope from the ten-year plan. You own how you reach it.</a:t>
            </a:r>
            <a:endParaRPr lang="en-US" sz="1200" dirty="0"/>
          </a:p>
        </p:txBody>
      </p:sp>
      <p:sp>
        <p:nvSpPr>
          <p:cNvPr id="36" name="Shape 33"/>
          <p:cNvSpPr/>
          <p:nvPr/>
        </p:nvSpPr>
        <p:spPr>
          <a:xfrm>
            <a:off x="3287954" y="2468880"/>
            <a:ext cx="2693594" cy="2286000"/>
          </a:xfrm>
          <a:prstGeom prst="rect">
            <a:avLst/>
          </a:prstGeom>
          <a:solidFill>
            <a:srgbClr val="FFFFFF"/>
          </a:solidFill>
          <a:ln w="12700">
            <a:solidFill>
              <a:srgbClr val="D1D1D1"/>
            </a:solidFill>
            <a:prstDash val="solid"/>
          </a:ln>
        </p:spPr>
        <p:txBody>
          <a:bodyPr/>
          <a:lstStyle/>
          <a:p>
            <a:endParaRPr lang="en-ZA"/>
          </a:p>
        </p:txBody>
      </p:sp>
      <p:sp>
        <p:nvSpPr>
          <p:cNvPr id="37" name="Shape 34"/>
          <p:cNvSpPr/>
          <p:nvPr/>
        </p:nvSpPr>
        <p:spPr>
          <a:xfrm>
            <a:off x="3470834" y="2651760"/>
            <a:ext cx="457200" cy="457200"/>
          </a:xfrm>
          <a:prstGeom prst="ellipse">
            <a:avLst/>
          </a:prstGeom>
          <a:solidFill>
            <a:srgbClr val="C09CCD"/>
          </a:solidFill>
          <a:ln/>
        </p:spPr>
        <p:txBody>
          <a:bodyPr/>
          <a:lstStyle/>
          <a:p>
            <a:endParaRPr lang="en-ZA"/>
          </a:p>
        </p:txBody>
      </p:sp>
      <p:sp>
        <p:nvSpPr>
          <p:cNvPr id="38" name="Text 35"/>
          <p:cNvSpPr/>
          <p:nvPr/>
        </p:nvSpPr>
        <p:spPr>
          <a:xfrm>
            <a:off x="3470834" y="2651760"/>
            <a:ext cx="457200" cy="45720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39" name="Text 36"/>
          <p:cNvSpPr/>
          <p:nvPr/>
        </p:nvSpPr>
        <p:spPr>
          <a:xfrm>
            <a:off x="4065194" y="2651760"/>
            <a:ext cx="1779194" cy="457200"/>
          </a:xfrm>
          <a:prstGeom prst="rect">
            <a:avLst/>
          </a:prstGeom>
          <a:noFill/>
          <a:ln/>
        </p:spPr>
        <p:txBody>
          <a:bodyPr wrap="square" rtlCol="0" anchor="ctr"/>
          <a:lstStyle/>
          <a:p>
            <a:pPr marL="0" indent="0">
              <a:buNone/>
            </a:pPr>
            <a:r>
              <a:rPr lang="en-US" sz="1400" b="1" dirty="0">
                <a:solidFill>
                  <a:srgbClr val="461B55"/>
                </a:solidFill>
                <a:latin typeface="Calibri" pitchFamily="34" charset="0"/>
                <a:ea typeface="Calibri" pitchFamily="34" charset="-122"/>
                <a:cs typeface="Calibri" pitchFamily="34" charset="-120"/>
              </a:rPr>
              <a:t>Operating leverage</a:t>
            </a:r>
            <a:endParaRPr lang="en-US" sz="1400" dirty="0"/>
          </a:p>
        </p:txBody>
      </p:sp>
      <p:sp>
        <p:nvSpPr>
          <p:cNvPr id="40" name="Text 37"/>
          <p:cNvSpPr/>
          <p:nvPr/>
        </p:nvSpPr>
        <p:spPr>
          <a:xfrm>
            <a:off x="3470834" y="3246120"/>
            <a:ext cx="2327834" cy="1417320"/>
          </a:xfrm>
          <a:prstGeom prst="rect">
            <a:avLst/>
          </a:prstGeom>
          <a:noFill/>
          <a:ln/>
        </p:spPr>
        <p:txBody>
          <a:bodyPr wrap="square" rtlCol="0" anchor="t"/>
          <a:lstStyle/>
          <a:p>
            <a:pPr marL="0" indent="0">
              <a:buNone/>
            </a:pPr>
            <a:r>
              <a:rPr lang="en-US" sz="1200" dirty="0">
                <a:solidFill>
                  <a:srgbClr val="1F2937"/>
                </a:solidFill>
                <a:latin typeface="Calibri" pitchFamily="34" charset="0"/>
                <a:ea typeface="Calibri" pitchFamily="34" charset="-122"/>
                <a:cs typeface="Calibri" pitchFamily="34" charset="-120"/>
              </a:rPr>
              <a:t>Revenue grows faster than operating costs against the FY2027 forecast. Headcount holds at FY2027 levels unless Group approves an increase.</a:t>
            </a:r>
            <a:endParaRPr lang="en-US" sz="1200" dirty="0"/>
          </a:p>
        </p:txBody>
      </p:sp>
      <p:sp>
        <p:nvSpPr>
          <p:cNvPr id="41" name="Shape 38"/>
          <p:cNvSpPr/>
          <p:nvPr/>
        </p:nvSpPr>
        <p:spPr>
          <a:xfrm>
            <a:off x="6210148" y="2468880"/>
            <a:ext cx="2693594" cy="2286000"/>
          </a:xfrm>
          <a:prstGeom prst="rect">
            <a:avLst/>
          </a:prstGeom>
          <a:solidFill>
            <a:srgbClr val="FFFFFF"/>
          </a:solidFill>
          <a:ln w="12700">
            <a:solidFill>
              <a:srgbClr val="D1D1D1"/>
            </a:solidFill>
            <a:prstDash val="solid"/>
          </a:ln>
        </p:spPr>
        <p:txBody>
          <a:bodyPr/>
          <a:lstStyle/>
          <a:p>
            <a:endParaRPr lang="en-ZA"/>
          </a:p>
        </p:txBody>
      </p:sp>
      <p:sp>
        <p:nvSpPr>
          <p:cNvPr id="42" name="Shape 39"/>
          <p:cNvSpPr/>
          <p:nvPr/>
        </p:nvSpPr>
        <p:spPr>
          <a:xfrm>
            <a:off x="6393028" y="2651760"/>
            <a:ext cx="457200" cy="457200"/>
          </a:xfrm>
          <a:prstGeom prst="ellipse">
            <a:avLst/>
          </a:prstGeom>
          <a:solidFill>
            <a:srgbClr val="C09CCD"/>
          </a:solidFill>
          <a:ln/>
        </p:spPr>
        <p:txBody>
          <a:bodyPr/>
          <a:lstStyle/>
          <a:p>
            <a:endParaRPr lang="en-ZA"/>
          </a:p>
        </p:txBody>
      </p:sp>
      <p:sp>
        <p:nvSpPr>
          <p:cNvPr id="43" name="Text 40"/>
          <p:cNvSpPr/>
          <p:nvPr/>
        </p:nvSpPr>
        <p:spPr>
          <a:xfrm>
            <a:off x="6393028" y="2651760"/>
            <a:ext cx="457200" cy="45720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44" name="Text 41"/>
          <p:cNvSpPr/>
          <p:nvPr/>
        </p:nvSpPr>
        <p:spPr>
          <a:xfrm>
            <a:off x="6987388" y="2651760"/>
            <a:ext cx="1779194" cy="457200"/>
          </a:xfrm>
          <a:prstGeom prst="rect">
            <a:avLst/>
          </a:prstGeom>
          <a:noFill/>
          <a:ln/>
        </p:spPr>
        <p:txBody>
          <a:bodyPr wrap="square" rtlCol="0" anchor="ctr"/>
          <a:lstStyle/>
          <a:p>
            <a:pPr marL="0" indent="0">
              <a:buNone/>
            </a:pPr>
            <a:r>
              <a:rPr lang="en-US" sz="1400" b="1" dirty="0">
                <a:solidFill>
                  <a:srgbClr val="461B55"/>
                </a:solidFill>
                <a:latin typeface="Calibri" pitchFamily="34" charset="0"/>
                <a:ea typeface="Calibri" pitchFamily="34" charset="-122"/>
                <a:cs typeface="Calibri" pitchFamily="34" charset="-120"/>
              </a:rPr>
              <a:t>One set of assumptions</a:t>
            </a:r>
            <a:endParaRPr lang="en-US" sz="1400" dirty="0"/>
          </a:p>
        </p:txBody>
      </p:sp>
      <p:sp>
        <p:nvSpPr>
          <p:cNvPr id="45" name="Text 42"/>
          <p:cNvSpPr/>
          <p:nvPr/>
        </p:nvSpPr>
        <p:spPr>
          <a:xfrm>
            <a:off x="6393028" y="3246120"/>
            <a:ext cx="2327834" cy="1417320"/>
          </a:xfrm>
          <a:prstGeom prst="rect">
            <a:avLst/>
          </a:prstGeom>
          <a:noFill/>
          <a:ln/>
        </p:spPr>
        <p:txBody>
          <a:bodyPr wrap="square" rtlCol="0" anchor="t"/>
          <a:lstStyle/>
          <a:p>
            <a:pPr marL="0" indent="0">
              <a:buNone/>
            </a:pPr>
            <a:r>
              <a:rPr lang="en-US" sz="1200" dirty="0">
                <a:solidFill>
                  <a:srgbClr val="1F2937"/>
                </a:solidFill>
                <a:latin typeface="Calibri" pitchFamily="34" charset="0"/>
                <a:ea typeface="Calibri" pitchFamily="34" charset="-122"/>
                <a:cs typeface="Calibri" pitchFamily="34" charset="-120"/>
              </a:rPr>
              <a:t>Every entity uses the Group assumptions as issued. Exceptions are agreed with Maziv Finance in writing before you submit.</a:t>
            </a:r>
            <a:endParaRPr lang="en-US" sz="1200" dirty="0"/>
          </a:p>
        </p:txBody>
      </p:sp>
      <p:sp>
        <p:nvSpPr>
          <p:cNvPr id="46" name="Shape 43"/>
          <p:cNvSpPr/>
          <p:nvPr/>
        </p:nvSpPr>
        <p:spPr>
          <a:xfrm>
            <a:off x="9132341" y="2468880"/>
            <a:ext cx="2693594" cy="2286000"/>
          </a:xfrm>
          <a:prstGeom prst="rect">
            <a:avLst/>
          </a:prstGeom>
          <a:solidFill>
            <a:srgbClr val="FFFFFF"/>
          </a:solidFill>
          <a:ln w="12700">
            <a:solidFill>
              <a:srgbClr val="D1D1D1"/>
            </a:solidFill>
            <a:prstDash val="solid"/>
          </a:ln>
        </p:spPr>
        <p:txBody>
          <a:bodyPr/>
          <a:lstStyle/>
          <a:p>
            <a:endParaRPr lang="en-ZA"/>
          </a:p>
        </p:txBody>
      </p:sp>
      <p:sp>
        <p:nvSpPr>
          <p:cNvPr id="47" name="Shape 44"/>
          <p:cNvSpPr/>
          <p:nvPr/>
        </p:nvSpPr>
        <p:spPr>
          <a:xfrm>
            <a:off x="9315221" y="2651760"/>
            <a:ext cx="457200" cy="457200"/>
          </a:xfrm>
          <a:prstGeom prst="ellipse">
            <a:avLst/>
          </a:prstGeom>
          <a:solidFill>
            <a:srgbClr val="C09CCD"/>
          </a:solidFill>
          <a:ln/>
        </p:spPr>
        <p:txBody>
          <a:bodyPr/>
          <a:lstStyle/>
          <a:p>
            <a:endParaRPr lang="en-ZA"/>
          </a:p>
        </p:txBody>
      </p:sp>
      <p:sp>
        <p:nvSpPr>
          <p:cNvPr id="48" name="Text 45"/>
          <p:cNvSpPr/>
          <p:nvPr/>
        </p:nvSpPr>
        <p:spPr>
          <a:xfrm>
            <a:off x="9315221" y="2651760"/>
            <a:ext cx="457200" cy="45720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49" name="Text 46"/>
          <p:cNvSpPr/>
          <p:nvPr/>
        </p:nvSpPr>
        <p:spPr>
          <a:xfrm>
            <a:off x="9909581" y="2651760"/>
            <a:ext cx="1779194" cy="457200"/>
          </a:xfrm>
          <a:prstGeom prst="rect">
            <a:avLst/>
          </a:prstGeom>
          <a:noFill/>
          <a:ln/>
        </p:spPr>
        <p:txBody>
          <a:bodyPr wrap="square" rtlCol="0" anchor="ctr"/>
          <a:lstStyle/>
          <a:p>
            <a:pPr marL="0" indent="0">
              <a:buNone/>
            </a:pPr>
            <a:r>
              <a:rPr lang="en-US" sz="1400" b="1" dirty="0">
                <a:solidFill>
                  <a:srgbClr val="461B55"/>
                </a:solidFill>
                <a:latin typeface="Calibri" pitchFamily="34" charset="0"/>
                <a:ea typeface="Calibri" pitchFamily="34" charset="-122"/>
                <a:cs typeface="Calibri" pitchFamily="34" charset="-120"/>
              </a:rPr>
              <a:t>Initiatives outside the base</a:t>
            </a:r>
            <a:endParaRPr lang="en-US" sz="1400" dirty="0"/>
          </a:p>
        </p:txBody>
      </p:sp>
      <p:sp>
        <p:nvSpPr>
          <p:cNvPr id="50" name="Text 47"/>
          <p:cNvSpPr/>
          <p:nvPr/>
        </p:nvSpPr>
        <p:spPr>
          <a:xfrm>
            <a:off x="9315221" y="3246120"/>
            <a:ext cx="2327834" cy="1417320"/>
          </a:xfrm>
          <a:prstGeom prst="rect">
            <a:avLst/>
          </a:prstGeom>
          <a:noFill/>
          <a:ln/>
        </p:spPr>
        <p:txBody>
          <a:bodyPr wrap="square" rtlCol="0" anchor="t"/>
          <a:lstStyle/>
          <a:p>
            <a:pPr marL="0" indent="0">
              <a:buNone/>
            </a:pPr>
            <a:r>
              <a:rPr lang="en-US" sz="1200" dirty="0">
                <a:solidFill>
                  <a:srgbClr val="1F2937"/>
                </a:solidFill>
                <a:latin typeface="Calibri" pitchFamily="34" charset="0"/>
                <a:ea typeface="Calibri" pitchFamily="34" charset="-122"/>
                <a:cs typeface="Calibri" pitchFamily="34" charset="-120"/>
              </a:rPr>
              <a:t>Spend beyond the envelope is a separate strategic initiative with its own return and payback. It is not in the base budget.</a:t>
            </a:r>
            <a:endParaRPr lang="en-US" sz="1200" dirty="0"/>
          </a:p>
        </p:txBody>
      </p:sp>
      <p:sp>
        <p:nvSpPr>
          <p:cNvPr id="51" name="Shape 48"/>
          <p:cNvSpPr/>
          <p:nvPr/>
        </p:nvSpPr>
        <p:spPr>
          <a:xfrm>
            <a:off x="365760" y="5029200"/>
            <a:ext cx="11460175" cy="1188720"/>
          </a:xfrm>
          <a:prstGeom prst="rect">
            <a:avLst/>
          </a:prstGeom>
          <a:solidFill>
            <a:srgbClr val="F4ECF7"/>
          </a:solidFill>
          <a:ln/>
        </p:spPr>
        <p:txBody>
          <a:bodyPr/>
          <a:lstStyle/>
          <a:p>
            <a:endParaRPr lang="en-ZA"/>
          </a:p>
        </p:txBody>
      </p:sp>
      <p:sp>
        <p:nvSpPr>
          <p:cNvPr id="52" name="Shape 49"/>
          <p:cNvSpPr/>
          <p:nvPr/>
        </p:nvSpPr>
        <p:spPr>
          <a:xfrm>
            <a:off x="365760" y="5029200"/>
            <a:ext cx="54864" cy="1188720"/>
          </a:xfrm>
          <a:prstGeom prst="rect">
            <a:avLst/>
          </a:prstGeom>
          <a:solidFill>
            <a:srgbClr val="C09CCD"/>
          </a:solidFill>
          <a:ln/>
        </p:spPr>
        <p:txBody>
          <a:bodyPr/>
          <a:lstStyle/>
          <a:p>
            <a:endParaRPr lang="en-ZA"/>
          </a:p>
        </p:txBody>
      </p:sp>
      <p:sp>
        <p:nvSpPr>
          <p:cNvPr id="53" name="Text 50"/>
          <p:cNvSpPr/>
          <p:nvPr/>
        </p:nvSpPr>
        <p:spPr>
          <a:xfrm>
            <a:off x="530352" y="5102352"/>
            <a:ext cx="11167567" cy="228600"/>
          </a:xfrm>
          <a:prstGeom prst="rect">
            <a:avLst/>
          </a:prstGeom>
          <a:noFill/>
          <a:ln/>
        </p:spPr>
        <p:txBody>
          <a:bodyPr wrap="square" rtlCol="0" anchor="ctr"/>
          <a:lstStyle/>
          <a:p>
            <a:pPr marL="0" indent="0">
              <a:buNone/>
            </a:pPr>
            <a:r>
              <a:rPr lang="en-US" sz="1000" b="1" i="1" dirty="0">
                <a:solidFill>
                  <a:srgbClr val="7A4D87"/>
                </a:solidFill>
                <a:latin typeface="Calibri" pitchFamily="34" charset="0"/>
                <a:ea typeface="Calibri" pitchFamily="34" charset="-122"/>
                <a:cs typeface="Calibri" pitchFamily="34" charset="-120"/>
              </a:rPr>
              <a:t>DEADLINES ARE FIXED</a:t>
            </a:r>
            <a:endParaRPr lang="en-US" sz="1000" dirty="0"/>
          </a:p>
        </p:txBody>
      </p:sp>
      <p:sp>
        <p:nvSpPr>
          <p:cNvPr id="54" name="Text 51"/>
          <p:cNvSpPr/>
          <p:nvPr/>
        </p:nvSpPr>
        <p:spPr>
          <a:xfrm>
            <a:off x="530352" y="5321808"/>
            <a:ext cx="11167567" cy="822960"/>
          </a:xfrm>
          <a:prstGeom prst="rect">
            <a:avLst/>
          </a:prstGeom>
          <a:noFill/>
          <a:ln/>
        </p:spPr>
        <p:txBody>
          <a:bodyPr wrap="square" rtlCol="0" anchor="t"/>
          <a:lstStyle/>
          <a:p>
            <a:pPr marL="0" indent="0">
              <a:buNone/>
            </a:pPr>
            <a:r>
              <a:rPr lang="en-US" sz="1100" b="1" dirty="0">
                <a:solidFill>
                  <a:srgbClr val="1F2937"/>
                </a:solidFill>
                <a:latin typeface="Calibri" pitchFamily="34" charset="0"/>
                <a:ea typeface="Calibri" pitchFamily="34" charset="-122"/>
                <a:cs typeface="Calibri" pitchFamily="34" charset="-120"/>
              </a:rPr>
              <a:t>Every date in this pack is final and will not move. Submissions are due by 17:00 on the due date. </a:t>
            </a:r>
            <a:r>
              <a:rPr lang="en-US" sz="1100" dirty="0">
                <a:solidFill>
                  <a:srgbClr val="1F2937"/>
                </a:solidFill>
                <a:latin typeface="Calibri" pitchFamily="34" charset="0"/>
                <a:ea typeface="Calibri" pitchFamily="34" charset="-122"/>
                <a:cs typeface="Calibri" pitchFamily="34" charset="-120"/>
              </a:rPr>
              <a:t>A late or incomplete submission is escalated to the entity CEO and the Group CFO; an incomplete submission is treated as not submitted. Raise any blocker with Maziv Finance in advance, not on the due date.</a:t>
            </a:r>
            <a:endParaRPr lang="en-US" sz="1100" dirty="0"/>
          </a:p>
        </p:txBody>
      </p:sp>
      <p:sp>
        <p:nvSpPr>
          <p:cNvPr id="58" name="Shape 22">
            <a:extLst>
              <a:ext uri="{FF2B5EF4-FFF2-40B4-BE49-F238E27FC236}">
                <a16:creationId xmlns:a16="http://schemas.microsoft.com/office/drawing/2014/main" id="{FB07F15C-7F7F-B8C6-88A8-F705BD0CD8FF}"/>
              </a:ext>
            </a:extLst>
          </p:cNvPr>
          <p:cNvSpPr/>
          <p:nvPr/>
        </p:nvSpPr>
        <p:spPr>
          <a:xfrm>
            <a:off x="6198614" y="841178"/>
            <a:ext cx="2693594" cy="1143000"/>
          </a:xfrm>
          <a:prstGeom prst="rect">
            <a:avLst/>
          </a:prstGeom>
          <a:solidFill>
            <a:srgbClr val="FFFFFF"/>
          </a:solidFill>
          <a:ln w="12700">
            <a:solidFill>
              <a:srgbClr val="D1D1D1"/>
            </a:solidFill>
            <a:prstDash val="solid"/>
          </a:ln>
        </p:spPr>
        <p:txBody>
          <a:bodyPr/>
          <a:lstStyle/>
          <a:p>
            <a:endParaRPr lang="en-ZA"/>
          </a:p>
        </p:txBody>
      </p:sp>
      <p:sp>
        <p:nvSpPr>
          <p:cNvPr id="60" name="Shape 23">
            <a:extLst>
              <a:ext uri="{FF2B5EF4-FFF2-40B4-BE49-F238E27FC236}">
                <a16:creationId xmlns:a16="http://schemas.microsoft.com/office/drawing/2014/main" id="{1649A53E-BDB7-747D-B995-56F4D971A5C7}"/>
              </a:ext>
            </a:extLst>
          </p:cNvPr>
          <p:cNvSpPr/>
          <p:nvPr/>
        </p:nvSpPr>
        <p:spPr>
          <a:xfrm>
            <a:off x="6198614" y="841178"/>
            <a:ext cx="2693594" cy="36576"/>
          </a:xfrm>
          <a:prstGeom prst="rect">
            <a:avLst/>
          </a:prstGeom>
          <a:solidFill>
            <a:srgbClr val="C09CCD"/>
          </a:solidFill>
          <a:ln/>
        </p:spPr>
        <p:txBody>
          <a:bodyPr/>
          <a:lstStyle/>
          <a:p>
            <a:endParaRPr lang="en-ZA"/>
          </a:p>
        </p:txBody>
      </p:sp>
      <p:sp>
        <p:nvSpPr>
          <p:cNvPr id="62" name="Text 24">
            <a:extLst>
              <a:ext uri="{FF2B5EF4-FFF2-40B4-BE49-F238E27FC236}">
                <a16:creationId xmlns:a16="http://schemas.microsoft.com/office/drawing/2014/main" id="{0EBBF9A4-6107-1603-A3C9-C21E74638AE1}"/>
              </a:ext>
            </a:extLst>
          </p:cNvPr>
          <p:cNvSpPr/>
          <p:nvPr/>
        </p:nvSpPr>
        <p:spPr>
          <a:xfrm>
            <a:off x="6363206" y="932618"/>
            <a:ext cx="2364410" cy="256032"/>
          </a:xfrm>
          <a:prstGeom prst="rect">
            <a:avLst/>
          </a:prstGeom>
          <a:noFill/>
          <a:ln/>
        </p:spPr>
        <p:txBody>
          <a:bodyPr wrap="square" rtlCol="0" anchor="ctr"/>
          <a:lstStyle/>
          <a:p>
            <a:pPr marL="0" indent="0">
              <a:buNone/>
            </a:pPr>
            <a:r>
              <a:rPr lang="en-US" sz="1000" dirty="0">
                <a:solidFill>
                  <a:srgbClr val="747474"/>
                </a:solidFill>
                <a:latin typeface="Calibri" pitchFamily="34" charset="0"/>
                <a:ea typeface="Calibri" pitchFamily="34" charset="-122"/>
                <a:cs typeface="Calibri" pitchFamily="34" charset="-120"/>
              </a:rPr>
              <a:t>Board Information Session</a:t>
            </a:r>
            <a:endParaRPr lang="en-US" sz="1000" dirty="0"/>
          </a:p>
        </p:txBody>
      </p:sp>
      <p:sp>
        <p:nvSpPr>
          <p:cNvPr id="64" name="Text 25">
            <a:extLst>
              <a:ext uri="{FF2B5EF4-FFF2-40B4-BE49-F238E27FC236}">
                <a16:creationId xmlns:a16="http://schemas.microsoft.com/office/drawing/2014/main" id="{CDA6230A-0E45-DA34-28A6-DF04840D6F72}"/>
              </a:ext>
            </a:extLst>
          </p:cNvPr>
          <p:cNvSpPr/>
          <p:nvPr/>
        </p:nvSpPr>
        <p:spPr>
          <a:xfrm>
            <a:off x="6363206" y="1170362"/>
            <a:ext cx="2364410" cy="502920"/>
          </a:xfrm>
          <a:prstGeom prst="rect">
            <a:avLst/>
          </a:prstGeom>
          <a:noFill/>
          <a:ln/>
        </p:spPr>
        <p:txBody>
          <a:bodyPr wrap="square" rtlCol="0" anchor="ctr"/>
          <a:lstStyle/>
          <a:p>
            <a:pPr marL="0" indent="0">
              <a:buNone/>
            </a:pPr>
            <a:r>
              <a:rPr lang="en-US" sz="2000" b="1" dirty="0">
                <a:solidFill>
                  <a:srgbClr val="461B55"/>
                </a:solidFill>
                <a:latin typeface="Calibri" pitchFamily="34" charset="0"/>
                <a:ea typeface="Calibri" pitchFamily="34" charset="-122"/>
                <a:cs typeface="Calibri" pitchFamily="34" charset="-120"/>
              </a:rPr>
              <a:t>Tues 9 Mar 2027</a:t>
            </a:r>
            <a:endParaRPr lang="en-US" sz="2000" dirty="0"/>
          </a:p>
        </p:txBody>
      </p:sp>
      <p:sp>
        <p:nvSpPr>
          <p:cNvPr id="66" name="Text 26">
            <a:extLst>
              <a:ext uri="{FF2B5EF4-FFF2-40B4-BE49-F238E27FC236}">
                <a16:creationId xmlns:a16="http://schemas.microsoft.com/office/drawing/2014/main" id="{E4CE209D-CE71-A5B8-0384-831A5FC77FDC}"/>
              </a:ext>
            </a:extLst>
          </p:cNvPr>
          <p:cNvSpPr/>
          <p:nvPr/>
        </p:nvSpPr>
        <p:spPr>
          <a:xfrm>
            <a:off x="6363206" y="1654994"/>
            <a:ext cx="2364410" cy="256032"/>
          </a:xfrm>
          <a:prstGeom prst="rect">
            <a:avLst/>
          </a:prstGeom>
          <a:noFill/>
          <a:ln/>
        </p:spPr>
        <p:txBody>
          <a:bodyPr wrap="square" rtlCol="0" anchor="ctr"/>
          <a:lstStyle/>
          <a:p>
            <a:pPr marL="0" indent="0">
              <a:buNone/>
            </a:pPr>
            <a:r>
              <a:rPr lang="en-US" sz="900" i="1" dirty="0">
                <a:solidFill>
                  <a:srgbClr val="747474"/>
                </a:solidFill>
                <a:latin typeface="Calibri" pitchFamily="34" charset="0"/>
                <a:ea typeface="Calibri" pitchFamily="34" charset="-122"/>
                <a:cs typeface="Calibri" pitchFamily="34" charset="-120"/>
              </a:rPr>
              <a:t>All entities  •  2027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461B55"/>
          </a:solidFill>
          <a:ln/>
        </p:spPr>
        <p:txBody>
          <a:bodyPr/>
          <a:lstStyle/>
          <a:p>
            <a:endParaRPr lang="en-ZA"/>
          </a:p>
        </p:txBody>
      </p:sp>
      <p:sp>
        <p:nvSpPr>
          <p:cNvPr id="3" name="Shape 1"/>
          <p:cNvSpPr/>
          <p:nvPr/>
        </p:nvSpPr>
        <p:spPr>
          <a:xfrm>
            <a:off x="0" y="548640"/>
            <a:ext cx="12191695" cy="36576"/>
          </a:xfrm>
          <a:prstGeom prst="rect">
            <a:avLst/>
          </a:prstGeom>
          <a:solidFill>
            <a:srgbClr val="C09CCD"/>
          </a:solidFill>
          <a:ln/>
        </p:spPr>
        <p:txBody>
          <a:bodyPr/>
          <a:lstStyle/>
          <a:p>
            <a:endParaRPr lang="en-ZA"/>
          </a:p>
        </p:txBody>
      </p:sp>
      <p:sp>
        <p:nvSpPr>
          <p:cNvPr id="4" name="Text 2"/>
          <p:cNvSpPr/>
          <p:nvPr/>
        </p:nvSpPr>
        <p:spPr>
          <a:xfrm>
            <a:off x="365760" y="73152"/>
            <a:ext cx="9144000" cy="41148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Budget Owners</a:t>
            </a:r>
            <a:endParaRPr lang="en-US" sz="2400" dirty="0"/>
          </a:p>
        </p:txBody>
      </p:sp>
      <p:sp>
        <p:nvSpPr>
          <p:cNvPr id="5" name="Text 3"/>
          <p:cNvSpPr/>
          <p:nvPr/>
        </p:nvSpPr>
        <p:spPr>
          <a:xfrm>
            <a:off x="9601200" y="73152"/>
            <a:ext cx="2377440" cy="411480"/>
          </a:xfrm>
          <a:prstGeom prst="rect">
            <a:avLst/>
          </a:prstGeom>
          <a:noFill/>
          <a:ln/>
        </p:spPr>
        <p:txBody>
          <a:bodyPr wrap="square" rtlCol="0" anchor="ctr"/>
          <a:lstStyle/>
          <a:p>
            <a:pPr marL="0" indent="0" algn="r">
              <a:buNone/>
            </a:pPr>
            <a:r>
              <a:rPr lang="en-US" sz="1100" dirty="0">
                <a:solidFill>
                  <a:srgbClr val="FFFFFF">
                    <a:alpha val="70000"/>
                  </a:srgbClr>
                </a:solidFill>
                <a:latin typeface="Calibri" pitchFamily="34" charset="0"/>
                <a:ea typeface="Calibri" pitchFamily="34" charset="-122"/>
                <a:cs typeface="Calibri" pitchFamily="34" charset="-120"/>
              </a:rPr>
              <a:t>ACCOUNTABILITY</a:t>
            </a:r>
            <a:endParaRPr lang="en-US" sz="1100" dirty="0"/>
          </a:p>
        </p:txBody>
      </p:sp>
      <p:sp>
        <p:nvSpPr>
          <p:cNvPr id="6" name="Shape 4"/>
          <p:cNvSpPr/>
          <p:nvPr/>
        </p:nvSpPr>
        <p:spPr>
          <a:xfrm>
            <a:off x="365760" y="6455664"/>
            <a:ext cx="11460175" cy="10973"/>
          </a:xfrm>
          <a:prstGeom prst="rect">
            <a:avLst/>
          </a:prstGeom>
          <a:solidFill>
            <a:srgbClr val="D1D1D1"/>
          </a:solidFill>
          <a:ln/>
        </p:spPr>
        <p:txBody>
          <a:bodyPr/>
          <a:lstStyle/>
          <a:p>
            <a:endParaRPr lang="en-ZA"/>
          </a:p>
        </p:txBody>
      </p:sp>
      <p:sp>
        <p:nvSpPr>
          <p:cNvPr id="7" name="Text 5"/>
          <p:cNvSpPr/>
          <p:nvPr/>
        </p:nvSpPr>
        <p:spPr>
          <a:xfrm>
            <a:off x="365760" y="6492240"/>
            <a:ext cx="6400800" cy="256032"/>
          </a:xfrm>
          <a:prstGeom prst="rect">
            <a:avLst/>
          </a:prstGeom>
          <a:noFill/>
          <a:ln/>
        </p:spPr>
        <p:txBody>
          <a:bodyPr wrap="square" rtlCol="0" anchor="ctr"/>
          <a:lstStyle/>
          <a:p>
            <a:pPr marL="0" indent="0">
              <a:buNone/>
            </a:pPr>
            <a:r>
              <a:rPr lang="en-US" sz="900" i="1" dirty="0">
                <a:solidFill>
                  <a:srgbClr val="747474"/>
                </a:solidFill>
                <a:latin typeface="Calibri" pitchFamily="34" charset="0"/>
                <a:ea typeface="Calibri" pitchFamily="34" charset="-122"/>
                <a:cs typeface="Calibri" pitchFamily="34" charset="-120"/>
              </a:rPr>
              <a:t>Maziv Group  •  FY2028 Budget Instructions  •  Strictly confidential</a:t>
            </a:r>
            <a:endParaRPr lang="en-US" sz="900" dirty="0"/>
          </a:p>
        </p:txBody>
      </p:sp>
      <p:sp>
        <p:nvSpPr>
          <p:cNvPr id="8" name="Text 6"/>
          <p:cNvSpPr/>
          <p:nvPr/>
        </p:nvSpPr>
        <p:spPr>
          <a:xfrm>
            <a:off x="6949440" y="6492240"/>
            <a:ext cx="3200400" cy="256032"/>
          </a:xfrm>
          <a:prstGeom prst="rect">
            <a:avLst/>
          </a:prstGeom>
          <a:noFill/>
          <a:ln/>
        </p:spPr>
        <p:txBody>
          <a:bodyPr wrap="square" rtlCol="0" anchor="ctr"/>
          <a:lstStyle/>
          <a:p>
            <a:pPr marL="0" indent="0" algn="r">
              <a:buNone/>
            </a:pPr>
            <a:r>
              <a:rPr lang="en-US" sz="900" dirty="0">
                <a:solidFill>
                  <a:srgbClr val="747474"/>
                </a:solidFill>
                <a:latin typeface="Calibri" pitchFamily="34" charset="0"/>
                <a:ea typeface="Calibri" pitchFamily="34" charset="-122"/>
                <a:cs typeface="Calibri" pitchFamily="34" charset="-120"/>
              </a:rPr>
              <a:t>ACCOUNTABILITY  •  3 / 13</a:t>
            </a:r>
            <a:endParaRPr lang="en-US" sz="900" dirty="0"/>
          </a:p>
        </p:txBody>
      </p:sp>
      <p:pic>
        <p:nvPicPr>
          <p:cNvPr id="9" name="Image 0" descr="maziv_logo_transparent.png"/>
          <p:cNvPicPr>
            <a:picLocks noChangeAspect="1"/>
          </p:cNvPicPr>
          <p:nvPr/>
        </p:nvPicPr>
        <p:blipFill>
          <a:blip r:embed="rId3"/>
          <a:stretch>
            <a:fillRect/>
          </a:stretch>
        </p:blipFill>
        <p:spPr>
          <a:xfrm>
            <a:off x="11005170" y="6519672"/>
            <a:ext cx="820765" cy="146304"/>
          </a:xfrm>
          <a:prstGeom prst="rect">
            <a:avLst/>
          </a:prstGeom>
        </p:spPr>
      </p:pic>
      <p:sp>
        <p:nvSpPr>
          <p:cNvPr id="10" name="Text 7"/>
          <p:cNvSpPr/>
          <p:nvPr/>
        </p:nvSpPr>
        <p:spPr>
          <a:xfrm>
            <a:off x="365760" y="777240"/>
            <a:ext cx="5029200" cy="274320"/>
          </a:xfrm>
          <a:prstGeom prst="rect">
            <a:avLst/>
          </a:prstGeom>
          <a:noFill/>
          <a:ln/>
        </p:spPr>
        <p:txBody>
          <a:bodyPr wrap="square" rtlCol="0" anchor="ctr"/>
          <a:lstStyle/>
          <a:p>
            <a:pPr marL="0" indent="0">
              <a:buNone/>
            </a:pPr>
            <a:r>
              <a:rPr lang="en-US" sz="1100" b="1" dirty="0">
                <a:solidFill>
                  <a:srgbClr val="747474"/>
                </a:solidFill>
                <a:latin typeface="Calibri" pitchFamily="34" charset="0"/>
                <a:ea typeface="Calibri" pitchFamily="34" charset="-122"/>
                <a:cs typeface="Calibri" pitchFamily="34" charset="-120"/>
              </a:rPr>
              <a:t>Group and holding entities</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65760" y="1097280"/>
          <a:ext cx="5394960" cy="1975104"/>
        </p:xfrm>
        <a:graphic>
          <a:graphicData uri="http://schemas.openxmlformats.org/drawingml/2006/table">
            <a:tbl>
              <a:tblPr/>
              <a:tblGrid>
                <a:gridCol w="18288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329184">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Entity</a:t>
                      </a:r>
                      <a:endParaRPr lang="en-US" sz="11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747474"/>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Budget owner</a:t>
                      </a:r>
                      <a:endParaRPr lang="en-US" sz="11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747474"/>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747474"/>
                    </a:solidFill>
                  </a:tcPr>
                </a:tc>
                <a:extLst>
                  <a:ext uri="{0D108BD9-81ED-4DB2-BD59-A6C34878D82A}">
                    <a16:rowId xmlns:a16="http://schemas.microsoft.com/office/drawing/2014/main" val="10000"/>
                  </a:ext>
                </a:extLst>
              </a:tr>
              <a:tr h="329184">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Maziv consolidated</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Zunaid Akoojee (ZA)</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Consolidation</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Maziv</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Zunaid Akoojee (ZA)</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Excel model → Finnivo</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extLst>
                  <a:ext uri="{0D108BD9-81ED-4DB2-BD59-A6C34878D82A}">
                    <a16:rowId xmlns:a16="http://schemas.microsoft.com/office/drawing/2014/main" val="10002"/>
                  </a:ext>
                </a:extLst>
              </a:tr>
              <a:tr h="329184">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Maziv PropCo</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Zunaid Akoojee (ZA)</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Excel model → Finnivo</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Maziv PrefCo</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Zunaid Akoojee (ZA)</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Excel model → Finnivo</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extLst>
                  <a:ext uri="{0D108BD9-81ED-4DB2-BD59-A6C34878D82A}">
                    <a16:rowId xmlns:a16="http://schemas.microsoft.com/office/drawing/2014/main" val="10004"/>
                  </a:ext>
                </a:extLst>
              </a:tr>
              <a:tr h="329184">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Maziv LoanCo</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Zunaid Akoojee (ZA)</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Excel model → Finnivo</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2" name="Shape 8"/>
          <p:cNvSpPr/>
          <p:nvPr/>
        </p:nvSpPr>
        <p:spPr>
          <a:xfrm>
            <a:off x="365760" y="3246120"/>
            <a:ext cx="5394960" cy="2286000"/>
          </a:xfrm>
          <a:prstGeom prst="rect">
            <a:avLst/>
          </a:prstGeom>
          <a:solidFill>
            <a:srgbClr val="F4ECF7"/>
          </a:solidFill>
          <a:ln/>
        </p:spPr>
        <p:txBody>
          <a:bodyPr/>
          <a:lstStyle/>
          <a:p>
            <a:endParaRPr lang="en-ZA"/>
          </a:p>
        </p:txBody>
      </p:sp>
      <p:sp>
        <p:nvSpPr>
          <p:cNvPr id="13" name="Shape 9"/>
          <p:cNvSpPr/>
          <p:nvPr/>
        </p:nvSpPr>
        <p:spPr>
          <a:xfrm>
            <a:off x="365760" y="3246120"/>
            <a:ext cx="54864" cy="2286000"/>
          </a:xfrm>
          <a:prstGeom prst="rect">
            <a:avLst/>
          </a:prstGeom>
          <a:solidFill>
            <a:srgbClr val="C09CCD"/>
          </a:solidFill>
          <a:ln/>
        </p:spPr>
        <p:txBody>
          <a:bodyPr/>
          <a:lstStyle/>
          <a:p>
            <a:endParaRPr lang="en-ZA"/>
          </a:p>
        </p:txBody>
      </p:sp>
      <p:sp>
        <p:nvSpPr>
          <p:cNvPr id="14" name="Text 10"/>
          <p:cNvSpPr/>
          <p:nvPr/>
        </p:nvSpPr>
        <p:spPr>
          <a:xfrm>
            <a:off x="530352" y="3319272"/>
            <a:ext cx="5102352" cy="228600"/>
          </a:xfrm>
          <a:prstGeom prst="rect">
            <a:avLst/>
          </a:prstGeom>
          <a:noFill/>
          <a:ln/>
        </p:spPr>
        <p:txBody>
          <a:bodyPr wrap="square" rtlCol="0" anchor="ctr"/>
          <a:lstStyle/>
          <a:p>
            <a:pPr marL="0" indent="0">
              <a:buNone/>
            </a:pPr>
            <a:r>
              <a:rPr lang="en-US" sz="1000" b="1" i="1" dirty="0">
                <a:solidFill>
                  <a:srgbClr val="7A4D87"/>
                </a:solidFill>
                <a:latin typeface="Calibri" pitchFamily="34" charset="0"/>
                <a:ea typeface="Calibri" pitchFamily="34" charset="-122"/>
                <a:cs typeface="Calibri" pitchFamily="34" charset="-120"/>
              </a:rPr>
              <a:t>WHAT THE BUDGET OWNER IS ACCOUNTABLE FOR</a:t>
            </a:r>
            <a:endParaRPr lang="en-US" sz="1000" dirty="0"/>
          </a:p>
        </p:txBody>
      </p:sp>
      <p:sp>
        <p:nvSpPr>
          <p:cNvPr id="15" name="Text 11"/>
          <p:cNvSpPr/>
          <p:nvPr/>
        </p:nvSpPr>
        <p:spPr>
          <a:xfrm>
            <a:off x="530352" y="3538728"/>
            <a:ext cx="5102352" cy="1920240"/>
          </a:xfrm>
          <a:prstGeom prst="rect">
            <a:avLst/>
          </a:prstGeom>
          <a:noFill/>
          <a:ln/>
        </p:spPr>
        <p:txBody>
          <a:bodyPr wrap="square" rtlCol="0" anchor="t"/>
          <a:lstStyle/>
          <a:p>
            <a:pPr marL="152400" indent="-152400">
              <a:spcAft>
                <a:spcPts val="600"/>
              </a:spcAft>
              <a:buSzPct val="100000"/>
              <a:buChar char="•"/>
            </a:pPr>
            <a:r>
              <a:rPr lang="en-US" sz="1050" b="1" dirty="0">
                <a:solidFill>
                  <a:srgbClr val="1F2937"/>
                </a:solidFill>
                <a:latin typeface="Calibri" pitchFamily="34" charset="0"/>
                <a:ea typeface="Calibri" pitchFamily="34" charset="-122"/>
                <a:cs typeface="Calibri" pitchFamily="34" charset="-120"/>
              </a:rPr>
              <a:t>Completeness: </a:t>
            </a:r>
            <a:r>
              <a:rPr lang="en-US" sz="1050" dirty="0">
                <a:solidFill>
                  <a:srgbClr val="1F2937"/>
                </a:solidFill>
                <a:latin typeface="Calibri" pitchFamily="34" charset="0"/>
                <a:ea typeface="Calibri" pitchFamily="34" charset="-122"/>
                <a:cs typeface="Calibri" pitchFamily="34" charset="-120"/>
              </a:rPr>
              <a:t>every item in the submission pack (slide 8) and the minimum content (slide 9).</a:t>
            </a:r>
            <a:endParaRPr lang="en-US" sz="1100" dirty="0"/>
          </a:p>
          <a:p>
            <a:pPr marL="152400" indent="-152400">
              <a:spcAft>
                <a:spcPts val="600"/>
              </a:spcAft>
              <a:buSzPct val="100000"/>
              <a:buChar char="•"/>
            </a:pPr>
            <a:r>
              <a:rPr lang="en-US" sz="1050" b="1" dirty="0">
                <a:solidFill>
                  <a:srgbClr val="1F2937"/>
                </a:solidFill>
                <a:latin typeface="Calibri" pitchFamily="34" charset="0"/>
                <a:ea typeface="Calibri" pitchFamily="34" charset="-122"/>
                <a:cs typeface="Calibri" pitchFamily="34" charset="-120"/>
              </a:rPr>
              <a:t>Timeliness: </a:t>
            </a:r>
            <a:r>
              <a:rPr lang="en-US" sz="1050" dirty="0">
                <a:solidFill>
                  <a:srgbClr val="1F2937"/>
                </a:solidFill>
                <a:latin typeface="Calibri" pitchFamily="34" charset="0"/>
                <a:ea typeface="Calibri" pitchFamily="34" charset="-122"/>
                <a:cs typeface="Calibri" pitchFamily="34" charset="-120"/>
              </a:rPr>
              <a:t>every deadline on slide 7, by 17:00 on the due date.</a:t>
            </a:r>
            <a:endParaRPr lang="en-US" sz="1100" dirty="0"/>
          </a:p>
          <a:p>
            <a:pPr marL="152400" indent="-152400">
              <a:spcAft>
                <a:spcPts val="600"/>
              </a:spcAft>
              <a:buSzPct val="100000"/>
              <a:buChar char="•"/>
            </a:pPr>
            <a:r>
              <a:rPr lang="en-US" sz="1050" b="1" dirty="0">
                <a:solidFill>
                  <a:srgbClr val="1F2937"/>
                </a:solidFill>
                <a:latin typeface="Calibri" pitchFamily="34" charset="0"/>
                <a:ea typeface="Calibri" pitchFamily="34" charset="-122"/>
                <a:cs typeface="Calibri" pitchFamily="34" charset="-120"/>
              </a:rPr>
              <a:t>Consistency: </a:t>
            </a:r>
            <a:r>
              <a:rPr lang="en-US" sz="1050" dirty="0">
                <a:solidFill>
                  <a:srgbClr val="1F2937"/>
                </a:solidFill>
                <a:latin typeface="Calibri" pitchFamily="34" charset="0"/>
                <a:ea typeface="Calibri" pitchFamily="34" charset="-122"/>
                <a:cs typeface="Calibri" pitchFamily="34" charset="-120"/>
              </a:rPr>
              <a:t>Group assumptions applied unchanged; intercompany agreed with each counterparty.</a:t>
            </a:r>
            <a:endParaRPr lang="en-US" sz="1100" dirty="0"/>
          </a:p>
          <a:p>
            <a:pPr marL="152400" indent="-152400">
              <a:spcAft>
                <a:spcPts val="600"/>
              </a:spcAft>
              <a:buSzPct val="100000"/>
              <a:buChar char="•"/>
            </a:pPr>
            <a:r>
              <a:rPr lang="en-US" sz="1050" b="1" dirty="0">
                <a:solidFill>
                  <a:srgbClr val="1F2937"/>
                </a:solidFill>
                <a:latin typeface="Calibri" pitchFamily="34" charset="0"/>
                <a:ea typeface="Calibri" pitchFamily="34" charset="-122"/>
                <a:cs typeface="Calibri" pitchFamily="34" charset="-120"/>
              </a:rPr>
              <a:t>Sign-off: </a:t>
            </a:r>
            <a:r>
              <a:rPr lang="en-US" sz="1050" dirty="0">
                <a:solidFill>
                  <a:srgbClr val="1F2937"/>
                </a:solidFill>
                <a:latin typeface="Calibri" pitchFamily="34" charset="0"/>
                <a:ea typeface="Calibri" pitchFamily="34" charset="-122"/>
                <a:cs typeface="Calibri" pitchFamily="34" charset="-120"/>
              </a:rPr>
              <a:t>entity CEO and CFO confirm the submission in writing (slide 12).</a:t>
            </a:r>
            <a:endParaRPr lang="en-US" sz="1100" dirty="0"/>
          </a:p>
        </p:txBody>
      </p:sp>
      <p:sp>
        <p:nvSpPr>
          <p:cNvPr id="16" name="Text 12"/>
          <p:cNvSpPr/>
          <p:nvPr/>
        </p:nvSpPr>
        <p:spPr>
          <a:xfrm>
            <a:off x="6035040" y="777240"/>
            <a:ext cx="5486400" cy="274320"/>
          </a:xfrm>
          <a:prstGeom prst="rect">
            <a:avLst/>
          </a:prstGeom>
          <a:noFill/>
          <a:ln/>
        </p:spPr>
        <p:txBody>
          <a:bodyPr wrap="square" rtlCol="0" anchor="ctr"/>
          <a:lstStyle/>
          <a:p>
            <a:pPr marL="0" indent="0">
              <a:buNone/>
            </a:pPr>
            <a:r>
              <a:rPr lang="en-US" sz="1100" b="1" dirty="0">
                <a:solidFill>
                  <a:srgbClr val="747474"/>
                </a:solidFill>
                <a:latin typeface="Calibri" pitchFamily="34" charset="0"/>
                <a:ea typeface="Calibri" pitchFamily="34" charset="-122"/>
                <a:cs typeface="Calibri" pitchFamily="34" charset="-120"/>
              </a:rPr>
              <a:t>Operating companies</a:t>
            </a:r>
            <a:endParaRPr lang="en-US" sz="1100" dirty="0"/>
          </a:p>
        </p:txBody>
      </p:sp>
      <p:graphicFrame>
        <p:nvGraphicFramePr>
          <p:cNvPr id="17" name="Table 1"/>
          <p:cNvGraphicFramePr>
            <a:graphicFrameLocks noGrp="1"/>
          </p:cNvGraphicFramePr>
          <p:nvPr>
            <p:extLst>
              <p:ext uri="{D42A27DB-BD31-4B8C-83A1-F6EECF244321}">
                <p14:modId xmlns:p14="http://schemas.microsoft.com/office/powerpoint/2010/main" val="3201689724"/>
              </p:ext>
            </p:extLst>
          </p:nvPr>
        </p:nvGraphicFramePr>
        <p:xfrm>
          <a:off x="6035040" y="1097280"/>
          <a:ext cx="5788152" cy="3651504"/>
        </p:xfrm>
        <a:graphic>
          <a:graphicData uri="http://schemas.openxmlformats.org/drawingml/2006/table">
            <a:tbl>
              <a:tblPr/>
              <a:tblGrid>
                <a:gridCol w="2331720">
                  <a:extLst>
                    <a:ext uri="{9D8B030D-6E8A-4147-A177-3AD203B41FA5}">
                      <a16:colId xmlns:a16="http://schemas.microsoft.com/office/drawing/2014/main" val="20000"/>
                    </a:ext>
                  </a:extLst>
                </a:gridCol>
                <a:gridCol w="1901952">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329184">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Entity</a:t>
                      </a:r>
                      <a:endParaRPr lang="en-US" sz="11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747474"/>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Budget owner</a:t>
                      </a:r>
                      <a:endParaRPr lang="en-US" sz="11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747474"/>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747474"/>
                    </a:solidFill>
                  </a:tcPr>
                </a:tc>
                <a:extLst>
                  <a:ext uri="{0D108BD9-81ED-4DB2-BD59-A6C34878D82A}">
                    <a16:rowId xmlns:a16="http://schemas.microsoft.com/office/drawing/2014/main" val="10000"/>
                  </a:ext>
                </a:extLst>
              </a:tr>
              <a:tr h="329184">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DFA</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Neelan Jina (NJ)</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Finnivo model</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Vumatel</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Wayne Levitas (WL)</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Finnivo model</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extLst>
                  <a:ext uri="{0D108BD9-81ED-4DB2-BD59-A6C34878D82A}">
                    <a16:rowId xmlns:a16="http://schemas.microsoft.com/office/drawing/2014/main" val="10002"/>
                  </a:ext>
                </a:extLst>
              </a:tr>
              <a:tr h="329184">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One Reach</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Wayne Levitas (WL)</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err="1">
                          <a:solidFill>
                            <a:srgbClr val="1F2937"/>
                          </a:solidFill>
                          <a:latin typeface="Calibri" pitchFamily="34" charset="0"/>
                          <a:ea typeface="Calibri" pitchFamily="34" charset="-122"/>
                          <a:cs typeface="Calibri" pitchFamily="34" charset="-120"/>
                        </a:rPr>
                        <a:t>Finnivo</a:t>
                      </a:r>
                      <a:r>
                        <a:rPr lang="en-US" sz="1000" dirty="0">
                          <a:solidFill>
                            <a:srgbClr val="1F2937"/>
                          </a:solidFill>
                          <a:latin typeface="Calibri" pitchFamily="34" charset="0"/>
                          <a:ea typeface="Calibri" pitchFamily="34" charset="-122"/>
                          <a:cs typeface="Calibri" pitchFamily="34" charset="-120"/>
                        </a:rPr>
                        <a:t> model</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SADV</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Nancy Chisora (NC)</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Finnivo model</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extLst>
                  <a:ext uri="{0D108BD9-81ED-4DB2-BD59-A6C34878D82A}">
                    <a16:rowId xmlns:a16="http://schemas.microsoft.com/office/drawing/2014/main" val="10004"/>
                  </a:ext>
                </a:extLst>
              </a:tr>
              <a:tr h="329184">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Britelink MCT (BMCT)</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Richard Osborne (RO)</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Finnivo model</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Herotel</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Francois Wessels (FW)</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Finnivo model</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extLst>
                  <a:ext uri="{0D108BD9-81ED-4DB2-BD59-A6C34878D82A}">
                    <a16:rowId xmlns:a16="http://schemas.microsoft.com/office/drawing/2014/main" val="10006"/>
                  </a:ext>
                </a:extLst>
              </a:tr>
              <a:tr h="329184">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Rise Group (Rise, Fworx, Connected Space)</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Aimee Roux (AR)</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Finnivo model</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9184">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Axio</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Aimee Roux (AR)</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Finnivo model</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extLst>
                  <a:ext uri="{0D108BD9-81ED-4DB2-BD59-A6C34878D82A}">
                    <a16:rowId xmlns:a16="http://schemas.microsoft.com/office/drawing/2014/main" val="10008"/>
                  </a:ext>
                </a:extLst>
              </a:tr>
              <a:tr h="329184">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VumaCam and Centr</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Lindwe Mzaidume (LM)</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Excel model → Finnivo</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29184">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VumaCam InfraCo</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Lindwe Mzaidume (LM)</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Excel model → Finnivo</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461B55"/>
          </a:solidFill>
          <a:ln/>
        </p:spPr>
        <p:txBody>
          <a:bodyPr/>
          <a:lstStyle/>
          <a:p>
            <a:endParaRPr lang="en-ZA"/>
          </a:p>
        </p:txBody>
      </p:sp>
      <p:sp>
        <p:nvSpPr>
          <p:cNvPr id="3" name="Shape 1"/>
          <p:cNvSpPr/>
          <p:nvPr/>
        </p:nvSpPr>
        <p:spPr>
          <a:xfrm>
            <a:off x="0" y="548640"/>
            <a:ext cx="12191695" cy="36576"/>
          </a:xfrm>
          <a:prstGeom prst="rect">
            <a:avLst/>
          </a:prstGeom>
          <a:solidFill>
            <a:srgbClr val="C09CCD"/>
          </a:solidFill>
          <a:ln/>
        </p:spPr>
        <p:txBody>
          <a:bodyPr/>
          <a:lstStyle/>
          <a:p>
            <a:endParaRPr lang="en-ZA"/>
          </a:p>
        </p:txBody>
      </p:sp>
      <p:sp>
        <p:nvSpPr>
          <p:cNvPr id="4" name="Text 2"/>
          <p:cNvSpPr/>
          <p:nvPr/>
        </p:nvSpPr>
        <p:spPr>
          <a:xfrm>
            <a:off x="365760" y="73152"/>
            <a:ext cx="9144000" cy="41148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Budget Principles  |  One Plan, One Process</a:t>
            </a:r>
            <a:endParaRPr lang="en-US" sz="2400" dirty="0"/>
          </a:p>
        </p:txBody>
      </p:sp>
      <p:sp>
        <p:nvSpPr>
          <p:cNvPr id="5" name="Text 3"/>
          <p:cNvSpPr/>
          <p:nvPr/>
        </p:nvSpPr>
        <p:spPr>
          <a:xfrm>
            <a:off x="9601200" y="73152"/>
            <a:ext cx="2377440" cy="411480"/>
          </a:xfrm>
          <a:prstGeom prst="rect">
            <a:avLst/>
          </a:prstGeom>
          <a:noFill/>
          <a:ln/>
        </p:spPr>
        <p:txBody>
          <a:bodyPr wrap="square" rtlCol="0" anchor="ctr"/>
          <a:lstStyle/>
          <a:p>
            <a:pPr marL="0" indent="0" algn="r">
              <a:buNone/>
            </a:pPr>
            <a:r>
              <a:rPr lang="en-US" sz="1100" dirty="0">
                <a:solidFill>
                  <a:srgbClr val="FFFFFF">
                    <a:alpha val="70000"/>
                  </a:srgbClr>
                </a:solidFill>
                <a:latin typeface="Calibri" pitchFamily="34" charset="0"/>
                <a:ea typeface="Calibri" pitchFamily="34" charset="-122"/>
                <a:cs typeface="Calibri" pitchFamily="34" charset="-120"/>
              </a:rPr>
              <a:t>PRINCIPLES</a:t>
            </a:r>
            <a:endParaRPr lang="en-US" sz="1100" dirty="0"/>
          </a:p>
        </p:txBody>
      </p:sp>
      <p:sp>
        <p:nvSpPr>
          <p:cNvPr id="6" name="Shape 4"/>
          <p:cNvSpPr/>
          <p:nvPr/>
        </p:nvSpPr>
        <p:spPr>
          <a:xfrm>
            <a:off x="365760" y="6455664"/>
            <a:ext cx="11460175" cy="10973"/>
          </a:xfrm>
          <a:prstGeom prst="rect">
            <a:avLst/>
          </a:prstGeom>
          <a:solidFill>
            <a:srgbClr val="D1D1D1"/>
          </a:solidFill>
          <a:ln/>
        </p:spPr>
        <p:txBody>
          <a:bodyPr/>
          <a:lstStyle/>
          <a:p>
            <a:endParaRPr lang="en-ZA"/>
          </a:p>
        </p:txBody>
      </p:sp>
      <p:sp>
        <p:nvSpPr>
          <p:cNvPr id="7" name="Text 5"/>
          <p:cNvSpPr/>
          <p:nvPr/>
        </p:nvSpPr>
        <p:spPr>
          <a:xfrm>
            <a:off x="365760" y="6492240"/>
            <a:ext cx="6400800" cy="256032"/>
          </a:xfrm>
          <a:prstGeom prst="rect">
            <a:avLst/>
          </a:prstGeom>
          <a:noFill/>
          <a:ln/>
        </p:spPr>
        <p:txBody>
          <a:bodyPr wrap="square" rtlCol="0" anchor="ctr"/>
          <a:lstStyle/>
          <a:p>
            <a:pPr marL="0" indent="0">
              <a:buNone/>
            </a:pPr>
            <a:r>
              <a:rPr lang="en-US" sz="900" i="1" dirty="0">
                <a:solidFill>
                  <a:srgbClr val="747474"/>
                </a:solidFill>
                <a:latin typeface="Calibri" pitchFamily="34" charset="0"/>
                <a:ea typeface="Calibri" pitchFamily="34" charset="-122"/>
                <a:cs typeface="Calibri" pitchFamily="34" charset="-120"/>
              </a:rPr>
              <a:t>Maziv Group  •  FY2028 Budget Instructions  •  Strictly confidential</a:t>
            </a:r>
            <a:endParaRPr lang="en-US" sz="900" dirty="0"/>
          </a:p>
        </p:txBody>
      </p:sp>
      <p:sp>
        <p:nvSpPr>
          <p:cNvPr id="8" name="Text 6"/>
          <p:cNvSpPr/>
          <p:nvPr/>
        </p:nvSpPr>
        <p:spPr>
          <a:xfrm>
            <a:off x="6949440" y="6492240"/>
            <a:ext cx="3200400" cy="256032"/>
          </a:xfrm>
          <a:prstGeom prst="rect">
            <a:avLst/>
          </a:prstGeom>
          <a:noFill/>
          <a:ln/>
        </p:spPr>
        <p:txBody>
          <a:bodyPr wrap="square" rtlCol="0" anchor="ctr"/>
          <a:lstStyle/>
          <a:p>
            <a:pPr marL="0" indent="0" algn="r">
              <a:buNone/>
            </a:pPr>
            <a:r>
              <a:rPr lang="en-US" sz="900" dirty="0">
                <a:solidFill>
                  <a:srgbClr val="747474"/>
                </a:solidFill>
                <a:latin typeface="Calibri" pitchFamily="34" charset="0"/>
                <a:ea typeface="Calibri" pitchFamily="34" charset="-122"/>
                <a:cs typeface="Calibri" pitchFamily="34" charset="-120"/>
              </a:rPr>
              <a:t>PRINCIPLES  •  4 / 13</a:t>
            </a:r>
            <a:endParaRPr lang="en-US" sz="900" dirty="0"/>
          </a:p>
        </p:txBody>
      </p:sp>
      <p:pic>
        <p:nvPicPr>
          <p:cNvPr id="9" name="Image 0" descr="maziv_logo_transparent.png"/>
          <p:cNvPicPr>
            <a:picLocks noChangeAspect="1"/>
          </p:cNvPicPr>
          <p:nvPr/>
        </p:nvPicPr>
        <p:blipFill>
          <a:blip r:embed="rId3"/>
          <a:stretch>
            <a:fillRect/>
          </a:stretch>
        </p:blipFill>
        <p:spPr>
          <a:xfrm>
            <a:off x="11005170" y="6519672"/>
            <a:ext cx="820765" cy="146304"/>
          </a:xfrm>
          <a:prstGeom prst="rect">
            <a:avLst/>
          </a:prstGeom>
        </p:spPr>
      </p:pic>
      <p:sp>
        <p:nvSpPr>
          <p:cNvPr id="10" name="Shape 7"/>
          <p:cNvSpPr/>
          <p:nvPr/>
        </p:nvSpPr>
        <p:spPr>
          <a:xfrm>
            <a:off x="365760" y="804672"/>
            <a:ext cx="5592928" cy="2697480"/>
          </a:xfrm>
          <a:prstGeom prst="rect">
            <a:avLst/>
          </a:prstGeom>
          <a:solidFill>
            <a:srgbClr val="FFFFFF"/>
          </a:solidFill>
          <a:ln w="12700">
            <a:solidFill>
              <a:srgbClr val="D1D1D1"/>
            </a:solidFill>
            <a:prstDash val="solid"/>
          </a:ln>
        </p:spPr>
        <p:txBody>
          <a:bodyPr/>
          <a:lstStyle/>
          <a:p>
            <a:endParaRPr lang="en-ZA"/>
          </a:p>
        </p:txBody>
      </p:sp>
      <p:sp>
        <p:nvSpPr>
          <p:cNvPr id="11" name="Shape 8"/>
          <p:cNvSpPr/>
          <p:nvPr/>
        </p:nvSpPr>
        <p:spPr>
          <a:xfrm>
            <a:off x="548640" y="987552"/>
            <a:ext cx="457200" cy="457200"/>
          </a:xfrm>
          <a:prstGeom prst="ellipse">
            <a:avLst/>
          </a:prstGeom>
          <a:solidFill>
            <a:srgbClr val="C09CCD"/>
          </a:solidFill>
          <a:ln/>
        </p:spPr>
        <p:txBody>
          <a:bodyPr/>
          <a:lstStyle/>
          <a:p>
            <a:endParaRPr lang="en-ZA"/>
          </a:p>
        </p:txBody>
      </p:sp>
      <p:sp>
        <p:nvSpPr>
          <p:cNvPr id="12" name="Text 9"/>
          <p:cNvSpPr/>
          <p:nvPr/>
        </p:nvSpPr>
        <p:spPr>
          <a:xfrm>
            <a:off x="548640" y="987552"/>
            <a:ext cx="457200" cy="45720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3" name="Text 10"/>
          <p:cNvSpPr/>
          <p:nvPr/>
        </p:nvSpPr>
        <p:spPr>
          <a:xfrm>
            <a:off x="1143000" y="987552"/>
            <a:ext cx="4678528" cy="457200"/>
          </a:xfrm>
          <a:prstGeom prst="rect">
            <a:avLst/>
          </a:prstGeom>
          <a:noFill/>
          <a:ln/>
        </p:spPr>
        <p:txBody>
          <a:bodyPr wrap="square" rtlCol="0" anchor="ctr"/>
          <a:lstStyle/>
          <a:p>
            <a:pPr marL="0" indent="0">
              <a:buNone/>
            </a:pPr>
            <a:r>
              <a:rPr lang="en-US" sz="1400" b="1" dirty="0">
                <a:solidFill>
                  <a:srgbClr val="461B55"/>
                </a:solidFill>
                <a:latin typeface="Calibri" pitchFamily="34" charset="0"/>
                <a:ea typeface="Calibri" pitchFamily="34" charset="-122"/>
                <a:cs typeface="Calibri" pitchFamily="34" charset="-120"/>
              </a:rPr>
              <a:t>The plan is the target</a:t>
            </a:r>
            <a:endParaRPr lang="en-US" sz="1400" dirty="0"/>
          </a:p>
        </p:txBody>
      </p:sp>
      <p:sp>
        <p:nvSpPr>
          <p:cNvPr id="14" name="Text 11"/>
          <p:cNvSpPr/>
          <p:nvPr/>
        </p:nvSpPr>
        <p:spPr>
          <a:xfrm>
            <a:off x="548640" y="1581912"/>
            <a:ext cx="5227168" cy="1828800"/>
          </a:xfrm>
          <a:prstGeom prst="rect">
            <a:avLst/>
          </a:prstGeom>
          <a:noFill/>
          <a:ln/>
        </p:spPr>
        <p:txBody>
          <a:bodyPr wrap="square" rtlCol="0" anchor="t"/>
          <a:lstStyle/>
          <a:p>
            <a:pPr marL="152400" indent="-152400">
              <a:spcAft>
                <a:spcPts val="500"/>
              </a:spcAft>
              <a:buSzPct val="100000"/>
              <a:buChar char="•"/>
            </a:pPr>
            <a:r>
              <a:rPr lang="en-US" sz="1200" dirty="0">
                <a:solidFill>
                  <a:srgbClr val="1F2937"/>
                </a:solidFill>
                <a:latin typeface="Calibri" pitchFamily="34" charset="0"/>
                <a:ea typeface="Calibri" pitchFamily="34" charset="-122"/>
                <a:cs typeface="Calibri" pitchFamily="34" charset="-120"/>
              </a:rPr>
              <a:t>The FY2028 year of the Group ten-year plan is the budget target.</a:t>
            </a:r>
            <a:endParaRPr lang="en-US" sz="1100" dirty="0"/>
          </a:p>
          <a:p>
            <a:pPr marL="152400" indent="-152400">
              <a:spcAft>
                <a:spcPts val="500"/>
              </a:spcAft>
              <a:buSzPct val="100000"/>
              <a:buChar char="•"/>
            </a:pPr>
            <a:r>
              <a:rPr lang="en-US" sz="1200" b="1" dirty="0">
                <a:solidFill>
                  <a:srgbClr val="1F2937"/>
                </a:solidFill>
                <a:latin typeface="Calibri" pitchFamily="34" charset="0"/>
                <a:ea typeface="Calibri" pitchFamily="34" charset="-122"/>
                <a:cs typeface="Calibri" pitchFamily="34" charset="-120"/>
              </a:rPr>
              <a:t>Set by: </a:t>
            </a:r>
            <a:r>
              <a:rPr lang="en-US" sz="1200" dirty="0">
                <a:solidFill>
                  <a:srgbClr val="1F2937"/>
                </a:solidFill>
                <a:latin typeface="Calibri" pitchFamily="34" charset="0"/>
                <a:ea typeface="Calibri" pitchFamily="34" charset="-122"/>
                <a:cs typeface="Calibri" pitchFamily="34" charset="-120"/>
              </a:rPr>
              <a:t>Group, top-down, for each entity.</a:t>
            </a:r>
            <a:endParaRPr lang="en-US" sz="1100" dirty="0"/>
          </a:p>
          <a:p>
            <a:pPr marL="152400" indent="-152400">
              <a:spcAft>
                <a:spcPts val="500"/>
              </a:spcAft>
              <a:buSzPct val="100000"/>
              <a:buChar char="•"/>
            </a:pPr>
            <a:r>
              <a:rPr lang="en-US" sz="1200" b="1" dirty="0">
                <a:solidFill>
                  <a:srgbClr val="1F2937"/>
                </a:solidFill>
                <a:latin typeface="Calibri" pitchFamily="34" charset="0"/>
                <a:ea typeface="Calibri" pitchFamily="34" charset="-122"/>
                <a:cs typeface="Calibri" pitchFamily="34" charset="-120"/>
              </a:rPr>
              <a:t>Measures: </a:t>
            </a:r>
            <a:r>
              <a:rPr lang="en-US" sz="1200" dirty="0">
                <a:solidFill>
                  <a:srgbClr val="1F2937"/>
                </a:solidFill>
                <a:latin typeface="Calibri" pitchFamily="34" charset="0"/>
                <a:ea typeface="Calibri" pitchFamily="34" charset="-122"/>
                <a:cs typeface="Calibri" pitchFamily="34" charset="-120"/>
              </a:rPr>
              <a:t>revenue growth, EBITDA, operating profit, headline earnings and capex.</a:t>
            </a:r>
            <a:endParaRPr lang="en-US" sz="1100" dirty="0"/>
          </a:p>
          <a:p>
            <a:pPr marL="152400" indent="-152400">
              <a:spcAft>
                <a:spcPts val="500"/>
              </a:spcAft>
              <a:buSzPct val="100000"/>
              <a:buChar char="•"/>
            </a:pPr>
            <a:r>
              <a:rPr lang="en-US" sz="1200" b="1" dirty="0">
                <a:solidFill>
                  <a:srgbClr val="1F2937"/>
                </a:solidFill>
                <a:latin typeface="Calibri" pitchFamily="34" charset="0"/>
                <a:ea typeface="Calibri" pitchFamily="34" charset="-122"/>
                <a:cs typeface="Calibri" pitchFamily="34" charset="-120"/>
              </a:rPr>
              <a:t>Ownership: </a:t>
            </a:r>
            <a:r>
              <a:rPr lang="en-US" sz="1200" dirty="0">
                <a:solidFill>
                  <a:srgbClr val="1F2937"/>
                </a:solidFill>
                <a:latin typeface="Calibri" pitchFamily="34" charset="0"/>
                <a:ea typeface="Calibri" pitchFamily="34" charset="-122"/>
                <a:cs typeface="Calibri" pitchFamily="34" charset="-120"/>
              </a:rPr>
              <a:t>entities budget inside the target and decide how they reach it.</a:t>
            </a:r>
            <a:endParaRPr lang="en-US" sz="1100" dirty="0"/>
          </a:p>
        </p:txBody>
      </p:sp>
      <p:sp>
        <p:nvSpPr>
          <p:cNvPr id="15" name="Shape 12"/>
          <p:cNvSpPr/>
          <p:nvPr/>
        </p:nvSpPr>
        <p:spPr>
          <a:xfrm>
            <a:off x="6233008" y="804672"/>
            <a:ext cx="5592928" cy="2697480"/>
          </a:xfrm>
          <a:prstGeom prst="rect">
            <a:avLst/>
          </a:prstGeom>
          <a:solidFill>
            <a:srgbClr val="FFFFFF"/>
          </a:solidFill>
          <a:ln w="12700">
            <a:solidFill>
              <a:srgbClr val="D1D1D1"/>
            </a:solidFill>
            <a:prstDash val="solid"/>
          </a:ln>
        </p:spPr>
        <p:txBody>
          <a:bodyPr/>
          <a:lstStyle/>
          <a:p>
            <a:endParaRPr lang="en-ZA"/>
          </a:p>
        </p:txBody>
      </p:sp>
      <p:sp>
        <p:nvSpPr>
          <p:cNvPr id="16" name="Shape 13"/>
          <p:cNvSpPr/>
          <p:nvPr/>
        </p:nvSpPr>
        <p:spPr>
          <a:xfrm>
            <a:off x="6415888" y="987552"/>
            <a:ext cx="457200" cy="457200"/>
          </a:xfrm>
          <a:prstGeom prst="ellipse">
            <a:avLst/>
          </a:prstGeom>
          <a:solidFill>
            <a:srgbClr val="C09CCD"/>
          </a:solidFill>
          <a:ln/>
        </p:spPr>
        <p:txBody>
          <a:bodyPr/>
          <a:lstStyle/>
          <a:p>
            <a:endParaRPr lang="en-ZA"/>
          </a:p>
        </p:txBody>
      </p:sp>
      <p:sp>
        <p:nvSpPr>
          <p:cNvPr id="17" name="Text 14"/>
          <p:cNvSpPr/>
          <p:nvPr/>
        </p:nvSpPr>
        <p:spPr>
          <a:xfrm>
            <a:off x="6415888" y="987552"/>
            <a:ext cx="457200" cy="45720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8" name="Text 15"/>
          <p:cNvSpPr/>
          <p:nvPr/>
        </p:nvSpPr>
        <p:spPr>
          <a:xfrm>
            <a:off x="7010248" y="987552"/>
            <a:ext cx="4678528" cy="457200"/>
          </a:xfrm>
          <a:prstGeom prst="rect">
            <a:avLst/>
          </a:prstGeom>
          <a:noFill/>
          <a:ln/>
        </p:spPr>
        <p:txBody>
          <a:bodyPr wrap="square" rtlCol="0" anchor="ctr"/>
          <a:lstStyle/>
          <a:p>
            <a:pPr marL="0" indent="0">
              <a:buNone/>
            </a:pPr>
            <a:r>
              <a:rPr lang="en-US" sz="1400" b="1" dirty="0">
                <a:solidFill>
                  <a:srgbClr val="461B55"/>
                </a:solidFill>
                <a:latin typeface="Calibri" pitchFamily="34" charset="0"/>
                <a:ea typeface="Calibri" pitchFamily="34" charset="-122"/>
                <a:cs typeface="Calibri" pitchFamily="34" charset="-120"/>
              </a:rPr>
              <a:t>Show operating leverage against the FY2027 forecast</a:t>
            </a:r>
            <a:endParaRPr lang="en-US" sz="1400" dirty="0"/>
          </a:p>
        </p:txBody>
      </p:sp>
      <p:sp>
        <p:nvSpPr>
          <p:cNvPr id="19" name="Text 16"/>
          <p:cNvSpPr/>
          <p:nvPr/>
        </p:nvSpPr>
        <p:spPr>
          <a:xfrm>
            <a:off x="6415888" y="1581912"/>
            <a:ext cx="5227168" cy="1828800"/>
          </a:xfrm>
          <a:prstGeom prst="rect">
            <a:avLst/>
          </a:prstGeom>
          <a:noFill/>
          <a:ln/>
        </p:spPr>
        <p:txBody>
          <a:bodyPr wrap="square" rtlCol="0" anchor="t"/>
          <a:lstStyle/>
          <a:p>
            <a:pPr marL="152400" indent="-152400">
              <a:spcAft>
                <a:spcPts val="500"/>
              </a:spcAft>
              <a:buSzPct val="100000"/>
              <a:buChar char="•"/>
            </a:pPr>
            <a:r>
              <a:rPr lang="en-US" sz="1200" b="1" dirty="0">
                <a:solidFill>
                  <a:srgbClr val="1F2937"/>
                </a:solidFill>
                <a:latin typeface="Calibri" pitchFamily="34" charset="0"/>
                <a:ea typeface="Calibri" pitchFamily="34" charset="-122"/>
                <a:cs typeface="Calibri" pitchFamily="34" charset="-120"/>
              </a:rPr>
              <a:t>Margin expansion: </a:t>
            </a:r>
            <a:r>
              <a:rPr lang="en-US" sz="1200" dirty="0">
                <a:solidFill>
                  <a:srgbClr val="1F2937"/>
                </a:solidFill>
                <a:latin typeface="Calibri" pitchFamily="34" charset="0"/>
                <a:ea typeface="Calibri" pitchFamily="34" charset="-122"/>
                <a:cs typeface="Calibri" pitchFamily="34" charset="-120"/>
              </a:rPr>
              <a:t>revenue grows faster year on year than operating costs.</a:t>
            </a:r>
            <a:endParaRPr lang="en-US" sz="1100" dirty="0"/>
          </a:p>
          <a:p>
            <a:pPr marL="152400" indent="-152400">
              <a:spcAft>
                <a:spcPts val="500"/>
              </a:spcAft>
              <a:buSzPct val="100000"/>
              <a:buChar char="•"/>
            </a:pPr>
            <a:r>
              <a:rPr lang="en-US" sz="1200" b="1" dirty="0">
                <a:solidFill>
                  <a:srgbClr val="1F2937"/>
                </a:solidFill>
                <a:latin typeface="Calibri" pitchFamily="34" charset="0"/>
                <a:ea typeface="Calibri" pitchFamily="34" charset="-122"/>
                <a:cs typeface="Calibri" pitchFamily="34" charset="-120"/>
              </a:rPr>
              <a:t>Cost base: </a:t>
            </a:r>
            <a:r>
              <a:rPr lang="en-US" sz="1200" dirty="0">
                <a:solidFill>
                  <a:srgbClr val="1F2937"/>
                </a:solidFill>
                <a:latin typeface="Calibri" pitchFamily="34" charset="0"/>
                <a:ea typeface="Calibri" pitchFamily="34" charset="-122"/>
                <a:cs typeface="Calibri" pitchFamily="34" charset="-120"/>
              </a:rPr>
              <a:t>operating costs grow slower than revenue; explain every cost line that grows above CPI.</a:t>
            </a:r>
            <a:endParaRPr lang="en-US" sz="1100" dirty="0"/>
          </a:p>
          <a:p>
            <a:pPr marL="152400" indent="-152400">
              <a:spcAft>
                <a:spcPts val="500"/>
              </a:spcAft>
              <a:buSzPct val="100000"/>
              <a:buChar char="•"/>
            </a:pPr>
            <a:r>
              <a:rPr lang="en-US" sz="1200" b="1" dirty="0">
                <a:solidFill>
                  <a:srgbClr val="1F2937"/>
                </a:solidFill>
                <a:latin typeface="Calibri" pitchFamily="34" charset="0"/>
                <a:ea typeface="Calibri" pitchFamily="34" charset="-122"/>
                <a:cs typeface="Calibri" pitchFamily="34" charset="-120"/>
              </a:rPr>
              <a:t>Unit economics: </a:t>
            </a:r>
            <a:r>
              <a:rPr lang="en-US" sz="1200" dirty="0">
                <a:solidFill>
                  <a:srgbClr val="1F2937"/>
                </a:solidFill>
                <a:latin typeface="Calibri" pitchFamily="34" charset="0"/>
                <a:ea typeface="Calibri" pitchFamily="34" charset="-122"/>
                <a:cs typeface="Calibri" pitchFamily="34" charset="-120"/>
              </a:rPr>
              <a:t>volumes and capacity (homes passed, active connections or links), with revenue and cost per unit.</a:t>
            </a:r>
            <a:endParaRPr lang="en-US" sz="1100" dirty="0"/>
          </a:p>
          <a:p>
            <a:pPr marL="152400" indent="-152400">
              <a:spcAft>
                <a:spcPts val="500"/>
              </a:spcAft>
              <a:buSzPct val="100000"/>
              <a:buChar char="•"/>
            </a:pPr>
            <a:r>
              <a:rPr lang="en-US" sz="1200" b="1" dirty="0">
                <a:solidFill>
                  <a:srgbClr val="1F2937"/>
                </a:solidFill>
                <a:latin typeface="Calibri" pitchFamily="34" charset="0"/>
                <a:ea typeface="Calibri" pitchFamily="34" charset="-122"/>
                <a:cs typeface="Calibri" pitchFamily="34" charset="-120"/>
              </a:rPr>
              <a:t>Headcount: </a:t>
            </a:r>
            <a:r>
              <a:rPr lang="en-US" sz="1200" dirty="0">
                <a:solidFill>
                  <a:srgbClr val="1F2937"/>
                </a:solidFill>
                <a:latin typeface="Calibri" pitchFamily="34" charset="0"/>
                <a:ea typeface="Calibri" pitchFamily="34" charset="-122"/>
                <a:cs typeface="Calibri" pitchFamily="34" charset="-120"/>
              </a:rPr>
              <a:t>held at FY2027 levels. Group approves an increase only if it is tied to a strategic imperative.</a:t>
            </a:r>
            <a:endParaRPr lang="en-US" sz="1100" dirty="0"/>
          </a:p>
        </p:txBody>
      </p:sp>
      <p:sp>
        <p:nvSpPr>
          <p:cNvPr id="20" name="Shape 17"/>
          <p:cNvSpPr/>
          <p:nvPr/>
        </p:nvSpPr>
        <p:spPr>
          <a:xfrm>
            <a:off x="365760" y="3685032"/>
            <a:ext cx="5592928" cy="2697480"/>
          </a:xfrm>
          <a:prstGeom prst="rect">
            <a:avLst/>
          </a:prstGeom>
          <a:solidFill>
            <a:srgbClr val="FFFFFF"/>
          </a:solidFill>
          <a:ln w="12700">
            <a:solidFill>
              <a:srgbClr val="D1D1D1"/>
            </a:solidFill>
            <a:prstDash val="solid"/>
          </a:ln>
        </p:spPr>
        <p:txBody>
          <a:bodyPr/>
          <a:lstStyle/>
          <a:p>
            <a:endParaRPr lang="en-ZA"/>
          </a:p>
        </p:txBody>
      </p:sp>
      <p:sp>
        <p:nvSpPr>
          <p:cNvPr id="21" name="Shape 18"/>
          <p:cNvSpPr/>
          <p:nvPr/>
        </p:nvSpPr>
        <p:spPr>
          <a:xfrm>
            <a:off x="548640" y="3867912"/>
            <a:ext cx="457200" cy="457200"/>
          </a:xfrm>
          <a:prstGeom prst="ellipse">
            <a:avLst/>
          </a:prstGeom>
          <a:solidFill>
            <a:srgbClr val="C09CCD"/>
          </a:solidFill>
          <a:ln/>
        </p:spPr>
        <p:txBody>
          <a:bodyPr/>
          <a:lstStyle/>
          <a:p>
            <a:endParaRPr lang="en-ZA"/>
          </a:p>
        </p:txBody>
      </p:sp>
      <p:sp>
        <p:nvSpPr>
          <p:cNvPr id="22" name="Text 19"/>
          <p:cNvSpPr/>
          <p:nvPr/>
        </p:nvSpPr>
        <p:spPr>
          <a:xfrm>
            <a:off x="548640" y="3867912"/>
            <a:ext cx="457200" cy="45720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3" name="Text 20"/>
          <p:cNvSpPr/>
          <p:nvPr/>
        </p:nvSpPr>
        <p:spPr>
          <a:xfrm>
            <a:off x="1143000" y="3867912"/>
            <a:ext cx="4678528" cy="457200"/>
          </a:xfrm>
          <a:prstGeom prst="rect">
            <a:avLst/>
          </a:prstGeom>
          <a:noFill/>
          <a:ln/>
        </p:spPr>
        <p:txBody>
          <a:bodyPr wrap="square" rtlCol="0" anchor="ctr"/>
          <a:lstStyle/>
          <a:p>
            <a:pPr marL="0" indent="0">
              <a:buNone/>
            </a:pPr>
            <a:r>
              <a:rPr lang="en-US" sz="1400" b="1" dirty="0">
                <a:solidFill>
                  <a:srgbClr val="461B55"/>
                </a:solidFill>
                <a:latin typeface="Calibri" pitchFamily="34" charset="0"/>
                <a:ea typeface="Calibri" pitchFamily="34" charset="-122"/>
                <a:cs typeface="Calibri" pitchFamily="34" charset="-120"/>
              </a:rPr>
              <a:t>Use the Group assumptions as issued</a:t>
            </a:r>
            <a:endParaRPr lang="en-US" sz="1400" dirty="0"/>
          </a:p>
        </p:txBody>
      </p:sp>
      <p:sp>
        <p:nvSpPr>
          <p:cNvPr id="24" name="Text 21"/>
          <p:cNvSpPr/>
          <p:nvPr/>
        </p:nvSpPr>
        <p:spPr>
          <a:xfrm>
            <a:off x="548640" y="4462272"/>
            <a:ext cx="5227168" cy="1828800"/>
          </a:xfrm>
          <a:prstGeom prst="rect">
            <a:avLst/>
          </a:prstGeom>
          <a:noFill/>
          <a:ln/>
        </p:spPr>
        <p:txBody>
          <a:bodyPr wrap="square" rtlCol="0" anchor="t"/>
          <a:lstStyle/>
          <a:p>
            <a:pPr marL="152400" indent="-152400">
              <a:spcAft>
                <a:spcPts val="500"/>
              </a:spcAft>
              <a:buSzPct val="100000"/>
              <a:buChar char="•"/>
            </a:pPr>
            <a:r>
              <a:rPr lang="en-US" sz="1200" b="1" dirty="0">
                <a:solidFill>
                  <a:srgbClr val="1F2937"/>
                </a:solidFill>
                <a:latin typeface="Calibri" pitchFamily="34" charset="0"/>
                <a:ea typeface="Calibri" pitchFamily="34" charset="-122"/>
                <a:cs typeface="Calibri" pitchFamily="34" charset="-120"/>
              </a:rPr>
              <a:t>Source: </a:t>
            </a:r>
            <a:r>
              <a:rPr lang="en-US" sz="1200" dirty="0">
                <a:solidFill>
                  <a:srgbClr val="1F2937"/>
                </a:solidFill>
                <a:latin typeface="Calibri" pitchFamily="34" charset="0"/>
                <a:ea typeface="Calibri" pitchFamily="34" charset="-122"/>
                <a:cs typeface="Calibri" pitchFamily="34" charset="-120"/>
              </a:rPr>
              <a:t>the FY2027 Valuation and the Group assumptions on slide 10.</a:t>
            </a:r>
            <a:endParaRPr lang="en-US" sz="1100" dirty="0"/>
          </a:p>
          <a:p>
            <a:pPr marL="152400" indent="-152400">
              <a:spcAft>
                <a:spcPts val="500"/>
              </a:spcAft>
              <a:buSzPct val="100000"/>
              <a:buChar char="•"/>
            </a:pPr>
            <a:r>
              <a:rPr lang="en-US" sz="1200" b="1" dirty="0">
                <a:solidFill>
                  <a:srgbClr val="1F2937"/>
                </a:solidFill>
                <a:latin typeface="Calibri" pitchFamily="34" charset="0"/>
                <a:ea typeface="Calibri" pitchFamily="34" charset="-122"/>
                <a:cs typeface="Calibri" pitchFamily="34" charset="-120"/>
              </a:rPr>
              <a:t>No changes: </a:t>
            </a:r>
            <a:r>
              <a:rPr lang="en-US" sz="1200" dirty="0">
                <a:solidFill>
                  <a:srgbClr val="1F2937"/>
                </a:solidFill>
                <a:latin typeface="Calibri" pitchFamily="34" charset="0"/>
                <a:ea typeface="Calibri" pitchFamily="34" charset="-122"/>
                <a:cs typeface="Calibri" pitchFamily="34" charset="-120"/>
              </a:rPr>
              <a:t>do not alter Group assumptions in your submission.</a:t>
            </a:r>
            <a:endParaRPr lang="en-US" sz="1100" dirty="0"/>
          </a:p>
          <a:p>
            <a:pPr marL="152400" indent="-152400">
              <a:spcAft>
                <a:spcPts val="500"/>
              </a:spcAft>
              <a:buSzPct val="100000"/>
              <a:buChar char="•"/>
            </a:pPr>
            <a:r>
              <a:rPr lang="en-US" sz="1200" b="1" dirty="0">
                <a:solidFill>
                  <a:srgbClr val="1F2937"/>
                </a:solidFill>
                <a:latin typeface="Calibri" pitchFamily="34" charset="0"/>
                <a:ea typeface="Calibri" pitchFamily="34" charset="-122"/>
                <a:cs typeface="Calibri" pitchFamily="34" charset="-120"/>
              </a:rPr>
              <a:t>Exceptions: </a:t>
            </a:r>
            <a:r>
              <a:rPr lang="en-US" sz="1200" dirty="0">
                <a:solidFill>
                  <a:srgbClr val="1F2937"/>
                </a:solidFill>
                <a:latin typeface="Calibri" pitchFamily="34" charset="0"/>
                <a:ea typeface="Calibri" pitchFamily="34" charset="-122"/>
                <a:cs typeface="Calibri" pitchFamily="34" charset="-120"/>
              </a:rPr>
              <a:t>if an assumption does not fit your entity, agree the exception with Maziv Finance in writing before you submit, with the impact quantified.</a:t>
            </a:r>
            <a:endParaRPr lang="en-US" sz="1100" dirty="0"/>
          </a:p>
          <a:p>
            <a:pPr marL="152400" indent="-152400">
              <a:spcAft>
                <a:spcPts val="500"/>
              </a:spcAft>
              <a:buSzPct val="100000"/>
              <a:buChar char="•"/>
            </a:pPr>
            <a:r>
              <a:rPr lang="en-US" sz="1200" b="1" dirty="0">
                <a:solidFill>
                  <a:srgbClr val="1F2937"/>
                </a:solidFill>
                <a:latin typeface="Calibri" pitchFamily="34" charset="0"/>
                <a:ea typeface="Calibri" pitchFamily="34" charset="-122"/>
                <a:cs typeface="Calibri" pitchFamily="34" charset="-120"/>
              </a:rPr>
              <a:t>FX rate: </a:t>
            </a:r>
            <a:r>
              <a:rPr lang="en-US" sz="1200" dirty="0">
                <a:solidFill>
                  <a:srgbClr val="1F2937"/>
                </a:solidFill>
                <a:latin typeface="Calibri" pitchFamily="34" charset="0"/>
                <a:ea typeface="Calibri" pitchFamily="34" charset="-122"/>
                <a:cs typeface="Calibri" pitchFamily="34" charset="-120"/>
              </a:rPr>
              <a:t>Group confirms USD/ZAR with the envelope on Mon 16 Nov 2026.</a:t>
            </a:r>
            <a:endParaRPr lang="en-US" sz="1100" dirty="0"/>
          </a:p>
        </p:txBody>
      </p:sp>
      <p:sp>
        <p:nvSpPr>
          <p:cNvPr id="25" name="Shape 22"/>
          <p:cNvSpPr/>
          <p:nvPr/>
        </p:nvSpPr>
        <p:spPr>
          <a:xfrm>
            <a:off x="6233008" y="3685032"/>
            <a:ext cx="5592928" cy="2697480"/>
          </a:xfrm>
          <a:prstGeom prst="rect">
            <a:avLst/>
          </a:prstGeom>
          <a:solidFill>
            <a:srgbClr val="FFFFFF"/>
          </a:solidFill>
          <a:ln w="12700">
            <a:solidFill>
              <a:srgbClr val="D1D1D1"/>
            </a:solidFill>
            <a:prstDash val="solid"/>
          </a:ln>
        </p:spPr>
        <p:txBody>
          <a:bodyPr/>
          <a:lstStyle/>
          <a:p>
            <a:endParaRPr lang="en-ZA"/>
          </a:p>
        </p:txBody>
      </p:sp>
      <p:sp>
        <p:nvSpPr>
          <p:cNvPr id="26" name="Shape 23"/>
          <p:cNvSpPr/>
          <p:nvPr/>
        </p:nvSpPr>
        <p:spPr>
          <a:xfrm>
            <a:off x="6415888" y="3867912"/>
            <a:ext cx="457200" cy="457200"/>
          </a:xfrm>
          <a:prstGeom prst="ellipse">
            <a:avLst/>
          </a:prstGeom>
          <a:solidFill>
            <a:srgbClr val="C09CCD"/>
          </a:solidFill>
          <a:ln/>
        </p:spPr>
        <p:txBody>
          <a:bodyPr/>
          <a:lstStyle/>
          <a:p>
            <a:endParaRPr lang="en-ZA"/>
          </a:p>
        </p:txBody>
      </p:sp>
      <p:sp>
        <p:nvSpPr>
          <p:cNvPr id="27" name="Text 24"/>
          <p:cNvSpPr/>
          <p:nvPr/>
        </p:nvSpPr>
        <p:spPr>
          <a:xfrm>
            <a:off x="6415888" y="3867912"/>
            <a:ext cx="457200" cy="45720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8" name="Text 25"/>
          <p:cNvSpPr/>
          <p:nvPr/>
        </p:nvSpPr>
        <p:spPr>
          <a:xfrm>
            <a:off x="7010248" y="3867912"/>
            <a:ext cx="4678528" cy="457200"/>
          </a:xfrm>
          <a:prstGeom prst="rect">
            <a:avLst/>
          </a:prstGeom>
          <a:noFill/>
          <a:ln/>
        </p:spPr>
        <p:txBody>
          <a:bodyPr wrap="square" rtlCol="0" anchor="ctr"/>
          <a:lstStyle/>
          <a:p>
            <a:pPr marL="0" indent="0">
              <a:buNone/>
            </a:pPr>
            <a:r>
              <a:rPr lang="en-US" sz="1400" b="1" dirty="0">
                <a:solidFill>
                  <a:srgbClr val="461B55"/>
                </a:solidFill>
                <a:latin typeface="Calibri" pitchFamily="34" charset="0"/>
                <a:ea typeface="Calibri" pitchFamily="34" charset="-122"/>
                <a:cs typeface="Calibri" pitchFamily="34" charset="-120"/>
              </a:rPr>
              <a:t>Spend beyond the target is a separate initiative</a:t>
            </a:r>
            <a:endParaRPr lang="en-US" sz="1400" dirty="0"/>
          </a:p>
        </p:txBody>
      </p:sp>
      <p:sp>
        <p:nvSpPr>
          <p:cNvPr id="29" name="Text 26"/>
          <p:cNvSpPr/>
          <p:nvPr/>
        </p:nvSpPr>
        <p:spPr>
          <a:xfrm>
            <a:off x="6415888" y="4462272"/>
            <a:ext cx="5227168" cy="1828800"/>
          </a:xfrm>
          <a:prstGeom prst="rect">
            <a:avLst/>
          </a:prstGeom>
          <a:noFill/>
          <a:ln/>
        </p:spPr>
        <p:txBody>
          <a:bodyPr wrap="square" rtlCol="0" anchor="t"/>
          <a:lstStyle/>
          <a:p>
            <a:pPr marL="152400" indent="-152400">
              <a:spcAft>
                <a:spcPts val="500"/>
              </a:spcAft>
              <a:buSzPct val="100000"/>
              <a:buChar char="•"/>
            </a:pPr>
            <a:r>
              <a:rPr lang="en-US" sz="1200" dirty="0">
                <a:solidFill>
                  <a:srgbClr val="1F2937"/>
                </a:solidFill>
                <a:latin typeface="Calibri" pitchFamily="34" charset="0"/>
                <a:ea typeface="Calibri" pitchFamily="34" charset="-122"/>
                <a:cs typeface="Calibri" pitchFamily="34" charset="-120"/>
              </a:rPr>
              <a:t>Submit spend outside the target as a strategic initiative, not in the base budget. Each initiative states:</a:t>
            </a:r>
            <a:endParaRPr lang="en-US" sz="1100" dirty="0"/>
          </a:p>
          <a:p>
            <a:pPr marL="152400" indent="-152400">
              <a:spcAft>
                <a:spcPts val="500"/>
              </a:spcAft>
              <a:buSzPct val="100000"/>
              <a:buChar char="•"/>
            </a:pPr>
            <a:r>
              <a:rPr lang="en-US" sz="1200" b="1" dirty="0">
                <a:solidFill>
                  <a:srgbClr val="1F2937"/>
                </a:solidFill>
                <a:latin typeface="Calibri" pitchFamily="34" charset="0"/>
                <a:ea typeface="Calibri" pitchFamily="34" charset="-122"/>
                <a:cs typeface="Calibri" pitchFamily="34" charset="-120"/>
              </a:rPr>
              <a:t>Imperative: </a:t>
            </a:r>
            <a:r>
              <a:rPr lang="en-US" sz="1200" dirty="0">
                <a:solidFill>
                  <a:srgbClr val="1F2937"/>
                </a:solidFill>
                <a:latin typeface="Calibri" pitchFamily="34" charset="0"/>
                <a:ea typeface="Calibri" pitchFamily="34" charset="-122"/>
                <a:cs typeface="Calibri" pitchFamily="34" charset="-120"/>
              </a:rPr>
              <a:t>the strategic imperative it serves.</a:t>
            </a:r>
            <a:endParaRPr lang="en-US" sz="1100" dirty="0"/>
          </a:p>
          <a:p>
            <a:pPr marL="152400" indent="-152400">
              <a:spcAft>
                <a:spcPts val="500"/>
              </a:spcAft>
              <a:buSzPct val="100000"/>
              <a:buChar char="•"/>
            </a:pPr>
            <a:r>
              <a:rPr lang="en-US" sz="1200" b="1" dirty="0">
                <a:solidFill>
                  <a:srgbClr val="1F2937"/>
                </a:solidFill>
                <a:latin typeface="Calibri" pitchFamily="34" charset="0"/>
                <a:ea typeface="Calibri" pitchFamily="34" charset="-122"/>
                <a:cs typeface="Calibri" pitchFamily="34" charset="-120"/>
              </a:rPr>
              <a:t>Ask: </a:t>
            </a:r>
            <a:r>
              <a:rPr lang="en-US" sz="1200" dirty="0">
                <a:solidFill>
                  <a:srgbClr val="1F2937"/>
                </a:solidFill>
                <a:latin typeface="Calibri" pitchFamily="34" charset="0"/>
                <a:ea typeface="Calibri" pitchFamily="34" charset="-122"/>
                <a:cs typeface="Calibri" pitchFamily="34" charset="-120"/>
              </a:rPr>
              <a:t>the capex and opex required, phased by month.</a:t>
            </a:r>
            <a:endParaRPr lang="en-US" sz="1100" dirty="0"/>
          </a:p>
          <a:p>
            <a:pPr marL="152400" indent="-152400">
              <a:spcAft>
                <a:spcPts val="500"/>
              </a:spcAft>
              <a:buSzPct val="100000"/>
              <a:buChar char="•"/>
            </a:pPr>
            <a:r>
              <a:rPr lang="en-US" sz="1200" b="1" dirty="0">
                <a:solidFill>
                  <a:srgbClr val="1F2937"/>
                </a:solidFill>
                <a:latin typeface="Calibri" pitchFamily="34" charset="0"/>
                <a:ea typeface="Calibri" pitchFamily="34" charset="-122"/>
                <a:cs typeface="Calibri" pitchFamily="34" charset="-120"/>
              </a:rPr>
              <a:t>Return: </a:t>
            </a:r>
            <a:r>
              <a:rPr lang="en-US" sz="1200" dirty="0">
                <a:solidFill>
                  <a:srgbClr val="1F2937"/>
                </a:solidFill>
                <a:latin typeface="Calibri" pitchFamily="34" charset="0"/>
                <a:ea typeface="Calibri" pitchFamily="34" charset="-122"/>
                <a:cs typeface="Calibri" pitchFamily="34" charset="-120"/>
              </a:rPr>
              <a:t>incremental revenue or network volumes, IRR and payback period.</a:t>
            </a:r>
            <a:endParaRPr lang="en-US" sz="1100" dirty="0"/>
          </a:p>
          <a:p>
            <a:pPr marL="152400" indent="-152400">
              <a:spcAft>
                <a:spcPts val="500"/>
              </a:spcAft>
              <a:buSzPct val="100000"/>
              <a:buChar char="•"/>
            </a:pPr>
            <a:r>
              <a:rPr lang="en-US" sz="1200" dirty="0">
                <a:solidFill>
                  <a:srgbClr val="1F2937"/>
                </a:solidFill>
                <a:latin typeface="Calibri" pitchFamily="34" charset="0"/>
                <a:ea typeface="Calibri" pitchFamily="34" charset="-122"/>
                <a:cs typeface="Calibri" pitchFamily="34" charset="-120"/>
              </a:rPr>
              <a:t>Group approves or declines each initiative on its own merits.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461B55"/>
          </a:solidFill>
          <a:ln/>
        </p:spPr>
        <p:txBody>
          <a:bodyPr/>
          <a:lstStyle/>
          <a:p>
            <a:endParaRPr lang="en-ZA"/>
          </a:p>
        </p:txBody>
      </p:sp>
      <p:sp>
        <p:nvSpPr>
          <p:cNvPr id="3" name="Shape 1"/>
          <p:cNvSpPr/>
          <p:nvPr/>
        </p:nvSpPr>
        <p:spPr>
          <a:xfrm>
            <a:off x="0" y="548640"/>
            <a:ext cx="12191695" cy="36576"/>
          </a:xfrm>
          <a:prstGeom prst="rect">
            <a:avLst/>
          </a:prstGeom>
          <a:solidFill>
            <a:srgbClr val="C09CCD"/>
          </a:solidFill>
          <a:ln/>
        </p:spPr>
        <p:txBody>
          <a:bodyPr/>
          <a:lstStyle/>
          <a:p>
            <a:endParaRPr lang="en-ZA"/>
          </a:p>
        </p:txBody>
      </p:sp>
      <p:sp>
        <p:nvSpPr>
          <p:cNvPr id="4" name="Text 2"/>
          <p:cNvSpPr/>
          <p:nvPr/>
        </p:nvSpPr>
        <p:spPr>
          <a:xfrm>
            <a:off x="365760" y="73152"/>
            <a:ext cx="9144000" cy="41148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How the FY2028 Top-down Budget Works</a:t>
            </a:r>
            <a:endParaRPr lang="en-US" sz="2400" dirty="0"/>
          </a:p>
        </p:txBody>
      </p:sp>
      <p:sp>
        <p:nvSpPr>
          <p:cNvPr id="5" name="Text 3"/>
          <p:cNvSpPr/>
          <p:nvPr/>
        </p:nvSpPr>
        <p:spPr>
          <a:xfrm>
            <a:off x="9601200" y="73152"/>
            <a:ext cx="2377440" cy="411480"/>
          </a:xfrm>
          <a:prstGeom prst="rect">
            <a:avLst/>
          </a:prstGeom>
          <a:noFill/>
          <a:ln/>
        </p:spPr>
        <p:txBody>
          <a:bodyPr wrap="square" rtlCol="0" anchor="ctr"/>
          <a:lstStyle/>
          <a:p>
            <a:pPr marL="0" indent="0" algn="r">
              <a:buNone/>
            </a:pPr>
            <a:r>
              <a:rPr lang="en-US" sz="1100" dirty="0">
                <a:solidFill>
                  <a:srgbClr val="FFFFFF">
                    <a:alpha val="70000"/>
                  </a:srgbClr>
                </a:solidFill>
                <a:latin typeface="Calibri" pitchFamily="34" charset="0"/>
                <a:ea typeface="Calibri" pitchFamily="34" charset="-122"/>
                <a:cs typeface="Calibri" pitchFamily="34" charset="-120"/>
              </a:rPr>
              <a:t>PROCESS</a:t>
            </a:r>
            <a:endParaRPr lang="en-US" sz="1100" dirty="0"/>
          </a:p>
        </p:txBody>
      </p:sp>
      <p:sp>
        <p:nvSpPr>
          <p:cNvPr id="6" name="Shape 4"/>
          <p:cNvSpPr/>
          <p:nvPr/>
        </p:nvSpPr>
        <p:spPr>
          <a:xfrm>
            <a:off x="365760" y="6455664"/>
            <a:ext cx="11460175" cy="10973"/>
          </a:xfrm>
          <a:prstGeom prst="rect">
            <a:avLst/>
          </a:prstGeom>
          <a:solidFill>
            <a:srgbClr val="D1D1D1"/>
          </a:solidFill>
          <a:ln/>
        </p:spPr>
        <p:txBody>
          <a:bodyPr/>
          <a:lstStyle/>
          <a:p>
            <a:endParaRPr lang="en-ZA"/>
          </a:p>
        </p:txBody>
      </p:sp>
      <p:sp>
        <p:nvSpPr>
          <p:cNvPr id="7" name="Text 5"/>
          <p:cNvSpPr/>
          <p:nvPr/>
        </p:nvSpPr>
        <p:spPr>
          <a:xfrm>
            <a:off x="365760" y="6492240"/>
            <a:ext cx="6400800" cy="256032"/>
          </a:xfrm>
          <a:prstGeom prst="rect">
            <a:avLst/>
          </a:prstGeom>
          <a:noFill/>
          <a:ln/>
        </p:spPr>
        <p:txBody>
          <a:bodyPr wrap="square" rtlCol="0" anchor="ctr"/>
          <a:lstStyle/>
          <a:p>
            <a:pPr marL="0" indent="0">
              <a:buNone/>
            </a:pPr>
            <a:r>
              <a:rPr lang="en-US" sz="900" i="1" dirty="0">
                <a:solidFill>
                  <a:srgbClr val="747474"/>
                </a:solidFill>
                <a:latin typeface="Calibri" pitchFamily="34" charset="0"/>
                <a:ea typeface="Calibri" pitchFamily="34" charset="-122"/>
                <a:cs typeface="Calibri" pitchFamily="34" charset="-120"/>
              </a:rPr>
              <a:t>Maziv Group  •  FY2028 Budget Instructions  •  Strictly confidential</a:t>
            </a:r>
            <a:endParaRPr lang="en-US" sz="900" dirty="0"/>
          </a:p>
        </p:txBody>
      </p:sp>
      <p:sp>
        <p:nvSpPr>
          <p:cNvPr id="8" name="Text 6"/>
          <p:cNvSpPr/>
          <p:nvPr/>
        </p:nvSpPr>
        <p:spPr>
          <a:xfrm>
            <a:off x="6949440" y="6492240"/>
            <a:ext cx="3200400" cy="256032"/>
          </a:xfrm>
          <a:prstGeom prst="rect">
            <a:avLst/>
          </a:prstGeom>
          <a:noFill/>
          <a:ln/>
        </p:spPr>
        <p:txBody>
          <a:bodyPr wrap="square" rtlCol="0" anchor="ctr"/>
          <a:lstStyle/>
          <a:p>
            <a:pPr marL="0" indent="0" algn="r">
              <a:buNone/>
            </a:pPr>
            <a:r>
              <a:rPr lang="en-US" sz="900" dirty="0">
                <a:solidFill>
                  <a:srgbClr val="747474"/>
                </a:solidFill>
                <a:latin typeface="Calibri" pitchFamily="34" charset="0"/>
                <a:ea typeface="Calibri" pitchFamily="34" charset="-122"/>
                <a:cs typeface="Calibri" pitchFamily="34" charset="-120"/>
              </a:rPr>
              <a:t>PROCESS  •  5 / 13</a:t>
            </a:r>
            <a:endParaRPr lang="en-US" sz="900" dirty="0"/>
          </a:p>
        </p:txBody>
      </p:sp>
      <p:pic>
        <p:nvPicPr>
          <p:cNvPr id="9" name="Image 0" descr="maziv_logo_transparent.png"/>
          <p:cNvPicPr>
            <a:picLocks noChangeAspect="1"/>
          </p:cNvPicPr>
          <p:nvPr/>
        </p:nvPicPr>
        <p:blipFill>
          <a:blip r:embed="rId3"/>
          <a:stretch>
            <a:fillRect/>
          </a:stretch>
        </p:blipFill>
        <p:spPr>
          <a:xfrm>
            <a:off x="11005170" y="6519672"/>
            <a:ext cx="820765" cy="146304"/>
          </a:xfrm>
          <a:prstGeom prst="rect">
            <a:avLst/>
          </a:prstGeom>
        </p:spPr>
      </p:pic>
      <p:sp>
        <p:nvSpPr>
          <p:cNvPr id="10" name="Shape 7"/>
          <p:cNvSpPr/>
          <p:nvPr/>
        </p:nvSpPr>
        <p:spPr>
          <a:xfrm>
            <a:off x="365760" y="841248"/>
            <a:ext cx="2365187" cy="566928"/>
          </a:xfrm>
          <a:prstGeom prst="homePlate">
            <a:avLst/>
          </a:prstGeom>
          <a:solidFill>
            <a:srgbClr val="461B55"/>
          </a:solidFill>
          <a:ln w="19050">
            <a:solidFill>
              <a:srgbClr val="FFFFFF"/>
            </a:solidFill>
            <a:prstDash val="solid"/>
          </a:ln>
        </p:spPr>
        <p:txBody>
          <a:bodyPr/>
          <a:lstStyle/>
          <a:p>
            <a:endParaRPr lang="en-ZA"/>
          </a:p>
        </p:txBody>
      </p:sp>
      <p:sp>
        <p:nvSpPr>
          <p:cNvPr id="11" name="Text 8"/>
          <p:cNvSpPr/>
          <p:nvPr/>
        </p:nvSpPr>
        <p:spPr>
          <a:xfrm>
            <a:off x="457200" y="841248"/>
            <a:ext cx="1880555" cy="56692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 Set the envelope</a:t>
            </a:r>
            <a:endParaRPr lang="en-US" sz="1200" dirty="0"/>
          </a:p>
        </p:txBody>
      </p:sp>
      <p:sp>
        <p:nvSpPr>
          <p:cNvPr id="12" name="Text 9"/>
          <p:cNvSpPr/>
          <p:nvPr/>
        </p:nvSpPr>
        <p:spPr>
          <a:xfrm>
            <a:off x="411480" y="1508760"/>
            <a:ext cx="2154875" cy="274320"/>
          </a:xfrm>
          <a:prstGeom prst="rect">
            <a:avLst/>
          </a:prstGeom>
          <a:noFill/>
          <a:ln/>
        </p:spPr>
        <p:txBody>
          <a:bodyPr wrap="square" rtlCol="0" anchor="ctr"/>
          <a:lstStyle/>
          <a:p>
            <a:pPr marL="0" indent="0">
              <a:buNone/>
            </a:pPr>
            <a:r>
              <a:rPr lang="en-US" sz="1100" b="1" dirty="0">
                <a:solidFill>
                  <a:srgbClr val="461B55"/>
                </a:solidFill>
                <a:latin typeface="Calibri" pitchFamily="34" charset="0"/>
                <a:ea typeface="Calibri" pitchFamily="34" charset="-122"/>
                <a:cs typeface="Calibri" pitchFamily="34" charset="-120"/>
              </a:rPr>
              <a:t>28 Oct – 16 Nov 2026</a:t>
            </a:r>
            <a:endParaRPr lang="en-US" sz="1100" dirty="0"/>
          </a:p>
        </p:txBody>
      </p:sp>
      <p:sp>
        <p:nvSpPr>
          <p:cNvPr id="13" name="Text 10"/>
          <p:cNvSpPr/>
          <p:nvPr/>
        </p:nvSpPr>
        <p:spPr>
          <a:xfrm>
            <a:off x="411480" y="1783080"/>
            <a:ext cx="2109155" cy="1097280"/>
          </a:xfrm>
          <a:prstGeom prst="rect">
            <a:avLst/>
          </a:prstGeom>
          <a:noFill/>
          <a:ln/>
        </p:spPr>
        <p:txBody>
          <a:bodyPr wrap="square" rtlCol="0" anchor="t"/>
          <a:lstStyle/>
          <a:p>
            <a:pPr marL="0" indent="0">
              <a:buNone/>
            </a:pPr>
            <a:r>
              <a:rPr lang="en-US" sz="1100" dirty="0">
                <a:solidFill>
                  <a:srgbClr val="1F2937"/>
                </a:solidFill>
                <a:latin typeface="Calibri" pitchFamily="34" charset="0"/>
                <a:ea typeface="Calibri" pitchFamily="34" charset="-122"/>
                <a:cs typeface="Calibri" pitchFamily="34" charset="-120"/>
              </a:rPr>
              <a:t>Instructions and assumptions issued. Strategy sessions 11–12 Nov. Envelope communicated by 16 Nov.</a:t>
            </a:r>
            <a:endParaRPr lang="en-US" sz="1100" dirty="0"/>
          </a:p>
        </p:txBody>
      </p:sp>
      <p:sp>
        <p:nvSpPr>
          <p:cNvPr id="14" name="Shape 11"/>
          <p:cNvSpPr/>
          <p:nvPr/>
        </p:nvSpPr>
        <p:spPr>
          <a:xfrm>
            <a:off x="2657795" y="841248"/>
            <a:ext cx="2365187" cy="566928"/>
          </a:xfrm>
          <a:prstGeom prst="chevron">
            <a:avLst/>
          </a:prstGeom>
          <a:solidFill>
            <a:srgbClr val="7A4D87"/>
          </a:solidFill>
          <a:ln w="19050">
            <a:solidFill>
              <a:srgbClr val="FFFFFF"/>
            </a:solidFill>
            <a:prstDash val="solid"/>
          </a:ln>
        </p:spPr>
        <p:txBody>
          <a:bodyPr/>
          <a:lstStyle/>
          <a:p>
            <a:endParaRPr lang="en-ZA"/>
          </a:p>
        </p:txBody>
      </p:sp>
      <p:sp>
        <p:nvSpPr>
          <p:cNvPr id="15" name="Text 12"/>
          <p:cNvSpPr/>
          <p:nvPr/>
        </p:nvSpPr>
        <p:spPr>
          <a:xfrm>
            <a:off x="2932115" y="841248"/>
            <a:ext cx="1880555" cy="56692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 First submission</a:t>
            </a:r>
            <a:endParaRPr lang="en-US" sz="1200" dirty="0"/>
          </a:p>
        </p:txBody>
      </p:sp>
      <p:sp>
        <p:nvSpPr>
          <p:cNvPr id="16" name="Text 13"/>
          <p:cNvSpPr/>
          <p:nvPr/>
        </p:nvSpPr>
        <p:spPr>
          <a:xfrm>
            <a:off x="2703515" y="1508760"/>
            <a:ext cx="2154875" cy="274320"/>
          </a:xfrm>
          <a:prstGeom prst="rect">
            <a:avLst/>
          </a:prstGeom>
          <a:noFill/>
          <a:ln/>
        </p:spPr>
        <p:txBody>
          <a:bodyPr wrap="square" rtlCol="0" anchor="ctr"/>
          <a:lstStyle/>
          <a:p>
            <a:pPr marL="0" indent="0">
              <a:buNone/>
            </a:pPr>
            <a:r>
              <a:rPr lang="en-US" sz="1100" b="1" dirty="0">
                <a:solidFill>
                  <a:srgbClr val="461B55"/>
                </a:solidFill>
                <a:latin typeface="Calibri" pitchFamily="34" charset="0"/>
                <a:ea typeface="Calibri" pitchFamily="34" charset="-122"/>
                <a:cs typeface="Calibri" pitchFamily="34" charset="-120"/>
              </a:rPr>
              <a:t>16 Nov – 8 Dec 2026</a:t>
            </a:r>
            <a:endParaRPr lang="en-US" sz="1100" dirty="0"/>
          </a:p>
        </p:txBody>
      </p:sp>
      <p:sp>
        <p:nvSpPr>
          <p:cNvPr id="17" name="Text 14"/>
          <p:cNvSpPr/>
          <p:nvPr/>
        </p:nvSpPr>
        <p:spPr>
          <a:xfrm>
            <a:off x="2703515" y="1783080"/>
            <a:ext cx="2109155" cy="1097280"/>
          </a:xfrm>
          <a:prstGeom prst="rect">
            <a:avLst/>
          </a:prstGeom>
          <a:noFill/>
          <a:ln/>
        </p:spPr>
        <p:txBody>
          <a:bodyPr wrap="square" rtlCol="0" anchor="t"/>
          <a:lstStyle/>
          <a:p>
            <a:pPr marL="0" indent="0">
              <a:buNone/>
            </a:pPr>
            <a:r>
              <a:rPr lang="en-US" sz="1100" dirty="0">
                <a:solidFill>
                  <a:srgbClr val="1F2937"/>
                </a:solidFill>
                <a:latin typeface="Calibri" pitchFamily="34" charset="0"/>
                <a:ea typeface="Calibri" pitchFamily="34" charset="-122"/>
                <a:cs typeface="Calibri" pitchFamily="34" charset="-120"/>
              </a:rPr>
              <a:t>Entities submit inside the envelope by 30 Nov. Group CFO review 2 Dec. Written feedback by 8 Dec.</a:t>
            </a:r>
            <a:endParaRPr lang="en-US" sz="1100" dirty="0"/>
          </a:p>
        </p:txBody>
      </p:sp>
      <p:sp>
        <p:nvSpPr>
          <p:cNvPr id="18" name="Shape 15"/>
          <p:cNvSpPr/>
          <p:nvPr/>
        </p:nvSpPr>
        <p:spPr>
          <a:xfrm>
            <a:off x="4949830" y="841248"/>
            <a:ext cx="2365187" cy="566928"/>
          </a:xfrm>
          <a:prstGeom prst="chevron">
            <a:avLst/>
          </a:prstGeom>
          <a:solidFill>
            <a:srgbClr val="461B55"/>
          </a:solidFill>
          <a:ln w="19050">
            <a:solidFill>
              <a:srgbClr val="FFFFFF"/>
            </a:solidFill>
            <a:prstDash val="solid"/>
          </a:ln>
        </p:spPr>
        <p:txBody>
          <a:bodyPr/>
          <a:lstStyle/>
          <a:p>
            <a:endParaRPr lang="en-ZA"/>
          </a:p>
        </p:txBody>
      </p:sp>
      <p:sp>
        <p:nvSpPr>
          <p:cNvPr id="19" name="Text 16"/>
          <p:cNvSpPr/>
          <p:nvPr/>
        </p:nvSpPr>
        <p:spPr>
          <a:xfrm>
            <a:off x="5224150" y="841248"/>
            <a:ext cx="1880555" cy="56692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 Build to envelope</a:t>
            </a:r>
            <a:endParaRPr lang="en-US" sz="1200" dirty="0"/>
          </a:p>
        </p:txBody>
      </p:sp>
      <p:sp>
        <p:nvSpPr>
          <p:cNvPr id="20" name="Text 17"/>
          <p:cNvSpPr/>
          <p:nvPr/>
        </p:nvSpPr>
        <p:spPr>
          <a:xfrm>
            <a:off x="4995550" y="1508760"/>
            <a:ext cx="2154875" cy="274320"/>
          </a:xfrm>
          <a:prstGeom prst="rect">
            <a:avLst/>
          </a:prstGeom>
          <a:noFill/>
          <a:ln/>
        </p:spPr>
        <p:txBody>
          <a:bodyPr wrap="square" rtlCol="0" anchor="ctr"/>
          <a:lstStyle/>
          <a:p>
            <a:pPr marL="0" indent="0">
              <a:buNone/>
            </a:pPr>
            <a:r>
              <a:rPr lang="en-US" sz="1100" b="1" dirty="0">
                <a:solidFill>
                  <a:srgbClr val="461B55"/>
                </a:solidFill>
                <a:latin typeface="Calibri" pitchFamily="34" charset="0"/>
                <a:ea typeface="Calibri" pitchFamily="34" charset="-122"/>
                <a:cs typeface="Calibri" pitchFamily="34" charset="-120"/>
              </a:rPr>
              <a:t>9 Dec 2026 – 29 Jan 2027</a:t>
            </a:r>
            <a:endParaRPr lang="en-US" sz="1100" dirty="0"/>
          </a:p>
        </p:txBody>
      </p:sp>
      <p:sp>
        <p:nvSpPr>
          <p:cNvPr id="21" name="Text 18"/>
          <p:cNvSpPr/>
          <p:nvPr/>
        </p:nvSpPr>
        <p:spPr>
          <a:xfrm>
            <a:off x="4995550" y="1783080"/>
            <a:ext cx="2109155" cy="1097280"/>
          </a:xfrm>
          <a:prstGeom prst="rect">
            <a:avLst/>
          </a:prstGeom>
          <a:noFill/>
          <a:ln/>
        </p:spPr>
        <p:txBody>
          <a:bodyPr wrap="square" rtlCol="0" anchor="t"/>
          <a:lstStyle/>
          <a:p>
            <a:pPr marL="0" indent="0">
              <a:buNone/>
            </a:pPr>
            <a:r>
              <a:rPr lang="en-US" sz="1100" dirty="0">
                <a:solidFill>
                  <a:srgbClr val="1F2937"/>
                </a:solidFill>
                <a:latin typeface="Calibri" pitchFamily="34" charset="0"/>
                <a:ea typeface="Calibri" pitchFamily="34" charset="-122"/>
                <a:cs typeface="Calibri" pitchFamily="34" charset="-120"/>
              </a:rPr>
              <a:t>Rebase on the December (9+3) forecast of 13 Jan and build the detail. Final submission 29 Jan.</a:t>
            </a:r>
            <a:endParaRPr lang="en-US" sz="1100" dirty="0"/>
          </a:p>
        </p:txBody>
      </p:sp>
      <p:sp>
        <p:nvSpPr>
          <p:cNvPr id="22" name="Shape 19"/>
          <p:cNvSpPr/>
          <p:nvPr/>
        </p:nvSpPr>
        <p:spPr>
          <a:xfrm>
            <a:off x="7241865" y="841248"/>
            <a:ext cx="2365187" cy="566928"/>
          </a:xfrm>
          <a:prstGeom prst="chevron">
            <a:avLst/>
          </a:prstGeom>
          <a:solidFill>
            <a:srgbClr val="7A4D87"/>
          </a:solidFill>
          <a:ln w="19050">
            <a:solidFill>
              <a:srgbClr val="FFFFFF"/>
            </a:solidFill>
            <a:prstDash val="solid"/>
          </a:ln>
        </p:spPr>
        <p:txBody>
          <a:bodyPr/>
          <a:lstStyle/>
          <a:p>
            <a:endParaRPr lang="en-ZA"/>
          </a:p>
        </p:txBody>
      </p:sp>
      <p:sp>
        <p:nvSpPr>
          <p:cNvPr id="23" name="Text 20"/>
          <p:cNvSpPr/>
          <p:nvPr/>
        </p:nvSpPr>
        <p:spPr>
          <a:xfrm>
            <a:off x="7516185" y="841248"/>
            <a:ext cx="1880555" cy="56692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 Close the gaps</a:t>
            </a:r>
            <a:endParaRPr lang="en-US" sz="1200" dirty="0"/>
          </a:p>
        </p:txBody>
      </p:sp>
      <p:sp>
        <p:nvSpPr>
          <p:cNvPr id="24" name="Text 21"/>
          <p:cNvSpPr/>
          <p:nvPr/>
        </p:nvSpPr>
        <p:spPr>
          <a:xfrm>
            <a:off x="7287585" y="1508760"/>
            <a:ext cx="2154875" cy="274320"/>
          </a:xfrm>
          <a:prstGeom prst="rect">
            <a:avLst/>
          </a:prstGeom>
          <a:noFill/>
          <a:ln/>
        </p:spPr>
        <p:txBody>
          <a:bodyPr wrap="square" rtlCol="0" anchor="ctr"/>
          <a:lstStyle/>
          <a:p>
            <a:pPr marL="0" indent="0">
              <a:buNone/>
            </a:pPr>
            <a:r>
              <a:rPr lang="en-US" sz="1100" b="1" dirty="0">
                <a:solidFill>
                  <a:srgbClr val="461B55"/>
                </a:solidFill>
                <a:latin typeface="Calibri" pitchFamily="34" charset="0"/>
                <a:ea typeface="Calibri" pitchFamily="34" charset="-122"/>
                <a:cs typeface="Calibri" pitchFamily="34" charset="-120"/>
              </a:rPr>
              <a:t>3 – 10 Feb 2027</a:t>
            </a:r>
            <a:endParaRPr lang="en-US" sz="1100" dirty="0"/>
          </a:p>
        </p:txBody>
      </p:sp>
      <p:sp>
        <p:nvSpPr>
          <p:cNvPr id="25" name="Text 22"/>
          <p:cNvSpPr/>
          <p:nvPr/>
        </p:nvSpPr>
        <p:spPr>
          <a:xfrm>
            <a:off x="7287585" y="1783080"/>
            <a:ext cx="2109155" cy="1097280"/>
          </a:xfrm>
          <a:prstGeom prst="rect">
            <a:avLst/>
          </a:prstGeom>
          <a:noFill/>
          <a:ln/>
        </p:spPr>
        <p:txBody>
          <a:bodyPr wrap="square" rtlCol="0" anchor="t"/>
          <a:lstStyle/>
          <a:p>
            <a:pPr marL="0" indent="0">
              <a:buNone/>
            </a:pPr>
            <a:r>
              <a:rPr lang="en-US" sz="1100" dirty="0">
                <a:solidFill>
                  <a:srgbClr val="1F2937"/>
                </a:solidFill>
                <a:latin typeface="Calibri" pitchFamily="34" charset="0"/>
                <a:ea typeface="Calibri" pitchFamily="34" charset="-122"/>
                <a:cs typeface="Calibri" pitchFamily="34" charset="-120"/>
              </a:rPr>
              <a:t>Budget presentations 3 Feb. Gap items only resubmitted 5 Feb. Final consolidation 10 Feb.</a:t>
            </a:r>
            <a:endParaRPr lang="en-US" sz="1100" dirty="0"/>
          </a:p>
        </p:txBody>
      </p:sp>
      <p:sp>
        <p:nvSpPr>
          <p:cNvPr id="26" name="Shape 23"/>
          <p:cNvSpPr/>
          <p:nvPr/>
        </p:nvSpPr>
        <p:spPr>
          <a:xfrm>
            <a:off x="9533900" y="841248"/>
            <a:ext cx="2365187" cy="566928"/>
          </a:xfrm>
          <a:prstGeom prst="chevron">
            <a:avLst/>
          </a:prstGeom>
          <a:solidFill>
            <a:srgbClr val="461B55"/>
          </a:solidFill>
          <a:ln w="19050">
            <a:solidFill>
              <a:srgbClr val="FFFFFF"/>
            </a:solidFill>
            <a:prstDash val="solid"/>
          </a:ln>
        </p:spPr>
        <p:txBody>
          <a:bodyPr/>
          <a:lstStyle/>
          <a:p>
            <a:endParaRPr lang="en-ZA"/>
          </a:p>
        </p:txBody>
      </p:sp>
      <p:sp>
        <p:nvSpPr>
          <p:cNvPr id="27" name="Text 24"/>
          <p:cNvSpPr/>
          <p:nvPr/>
        </p:nvSpPr>
        <p:spPr>
          <a:xfrm>
            <a:off x="9808220" y="841248"/>
            <a:ext cx="1880555" cy="56692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 Approve</a:t>
            </a:r>
            <a:endParaRPr lang="en-US" sz="1200" dirty="0"/>
          </a:p>
        </p:txBody>
      </p:sp>
      <p:sp>
        <p:nvSpPr>
          <p:cNvPr id="28" name="Text 25"/>
          <p:cNvSpPr/>
          <p:nvPr/>
        </p:nvSpPr>
        <p:spPr>
          <a:xfrm>
            <a:off x="9579620" y="1508760"/>
            <a:ext cx="2154875" cy="274320"/>
          </a:xfrm>
          <a:prstGeom prst="rect">
            <a:avLst/>
          </a:prstGeom>
          <a:noFill/>
          <a:ln/>
        </p:spPr>
        <p:txBody>
          <a:bodyPr wrap="square" rtlCol="0" anchor="ctr"/>
          <a:lstStyle/>
          <a:p>
            <a:pPr marL="0" indent="0">
              <a:buNone/>
            </a:pPr>
            <a:r>
              <a:rPr lang="en-US" sz="1100" b="1" dirty="0">
                <a:solidFill>
                  <a:srgbClr val="461B55"/>
                </a:solidFill>
                <a:latin typeface="Calibri" pitchFamily="34" charset="0"/>
                <a:ea typeface="Calibri" pitchFamily="34" charset="-122"/>
                <a:cs typeface="Calibri" pitchFamily="34" charset="-120"/>
              </a:rPr>
              <a:t>21 Feb – 24 Mar 2027</a:t>
            </a:r>
            <a:endParaRPr lang="en-US" sz="1100" dirty="0"/>
          </a:p>
        </p:txBody>
      </p:sp>
      <p:sp>
        <p:nvSpPr>
          <p:cNvPr id="29" name="Text 26"/>
          <p:cNvSpPr/>
          <p:nvPr/>
        </p:nvSpPr>
        <p:spPr>
          <a:xfrm>
            <a:off x="9579620" y="1783080"/>
            <a:ext cx="2109155" cy="1097280"/>
          </a:xfrm>
          <a:prstGeom prst="rect">
            <a:avLst/>
          </a:prstGeom>
          <a:noFill/>
          <a:ln/>
        </p:spPr>
        <p:txBody>
          <a:bodyPr wrap="square" rtlCol="0" anchor="t"/>
          <a:lstStyle/>
          <a:p>
            <a:pPr marL="0" indent="0">
              <a:buNone/>
            </a:pPr>
            <a:r>
              <a:rPr lang="en-US" sz="1100" dirty="0">
                <a:solidFill>
                  <a:srgbClr val="1F2937"/>
                </a:solidFill>
                <a:latin typeface="Calibri" pitchFamily="34" charset="0"/>
                <a:ea typeface="Calibri" pitchFamily="34" charset="-122"/>
                <a:cs typeface="Calibri" pitchFamily="34" charset="-120"/>
              </a:rPr>
              <a:t>OpCo Boards, Maziv Board session 9 Mar, ARC and IC 16 Mar, Group Board approval 24 Mar.</a:t>
            </a:r>
            <a:endParaRPr lang="en-US" sz="1100" dirty="0"/>
          </a:p>
        </p:txBody>
      </p:sp>
      <p:sp>
        <p:nvSpPr>
          <p:cNvPr id="30" name="Shape 27"/>
          <p:cNvSpPr/>
          <p:nvPr/>
        </p:nvSpPr>
        <p:spPr>
          <a:xfrm>
            <a:off x="365760" y="3017520"/>
            <a:ext cx="5592928" cy="3246120"/>
          </a:xfrm>
          <a:prstGeom prst="rect">
            <a:avLst/>
          </a:prstGeom>
          <a:solidFill>
            <a:srgbClr val="FFFFFF"/>
          </a:solidFill>
          <a:ln w="12700">
            <a:solidFill>
              <a:srgbClr val="D1D1D1"/>
            </a:solidFill>
            <a:prstDash val="solid"/>
          </a:ln>
        </p:spPr>
        <p:txBody>
          <a:bodyPr/>
          <a:lstStyle/>
          <a:p>
            <a:endParaRPr lang="en-ZA"/>
          </a:p>
        </p:txBody>
      </p:sp>
      <p:sp>
        <p:nvSpPr>
          <p:cNvPr id="31" name="Shape 28"/>
          <p:cNvSpPr/>
          <p:nvPr/>
        </p:nvSpPr>
        <p:spPr>
          <a:xfrm>
            <a:off x="365760" y="3017520"/>
            <a:ext cx="5592928" cy="27432"/>
          </a:xfrm>
          <a:prstGeom prst="rect">
            <a:avLst/>
          </a:prstGeom>
          <a:solidFill>
            <a:srgbClr val="C09CCD"/>
          </a:solidFill>
          <a:ln/>
        </p:spPr>
        <p:txBody>
          <a:bodyPr/>
          <a:lstStyle/>
          <a:p>
            <a:endParaRPr lang="en-ZA"/>
          </a:p>
        </p:txBody>
      </p:sp>
      <p:sp>
        <p:nvSpPr>
          <p:cNvPr id="32" name="Text 29"/>
          <p:cNvSpPr/>
          <p:nvPr/>
        </p:nvSpPr>
        <p:spPr>
          <a:xfrm>
            <a:off x="502920" y="3108960"/>
            <a:ext cx="5318608" cy="292608"/>
          </a:xfrm>
          <a:prstGeom prst="rect">
            <a:avLst/>
          </a:prstGeom>
          <a:noFill/>
          <a:ln/>
        </p:spPr>
        <p:txBody>
          <a:bodyPr wrap="square" rtlCol="0" anchor="ctr"/>
          <a:lstStyle/>
          <a:p>
            <a:pPr marL="0" indent="0">
              <a:buNone/>
            </a:pPr>
            <a:r>
              <a:rPr lang="en-US" sz="1200" b="1" dirty="0">
                <a:solidFill>
                  <a:srgbClr val="461B55"/>
                </a:solidFill>
                <a:latin typeface="Calibri" pitchFamily="34" charset="0"/>
                <a:ea typeface="Calibri" pitchFamily="34" charset="-122"/>
                <a:cs typeface="Calibri" pitchFamily="34" charset="-120"/>
              </a:rPr>
              <a:t>Rules for entities</a:t>
            </a:r>
            <a:endParaRPr lang="en-US" sz="1200" dirty="0"/>
          </a:p>
        </p:txBody>
      </p:sp>
      <p:sp>
        <p:nvSpPr>
          <p:cNvPr id="33" name="Text 30"/>
          <p:cNvSpPr/>
          <p:nvPr/>
        </p:nvSpPr>
        <p:spPr>
          <a:xfrm>
            <a:off x="502920" y="3429000"/>
            <a:ext cx="5318608" cy="2743200"/>
          </a:xfrm>
          <a:prstGeom prst="rect">
            <a:avLst/>
          </a:prstGeom>
          <a:noFill/>
          <a:ln/>
        </p:spPr>
        <p:txBody>
          <a:bodyPr wrap="square" rtlCol="0" anchor="t"/>
          <a:lstStyle/>
          <a:p>
            <a:pPr marL="152400" indent="-152400">
              <a:spcAft>
                <a:spcPts val="800"/>
              </a:spcAft>
              <a:buSzPct val="100000"/>
              <a:buChar char="•"/>
            </a:pPr>
            <a:r>
              <a:rPr lang="en-US" sz="1200" dirty="0">
                <a:solidFill>
                  <a:srgbClr val="1F2937"/>
                </a:solidFill>
                <a:latin typeface="Calibri" pitchFamily="34" charset="0"/>
                <a:ea typeface="Calibri" pitchFamily="34" charset="-122"/>
                <a:cs typeface="Calibri" pitchFamily="34" charset="-120"/>
              </a:rPr>
              <a:t>The envelope is the target. You own how you reach it.</a:t>
            </a:r>
            <a:endParaRPr lang="en-US" sz="1200" dirty="0"/>
          </a:p>
          <a:p>
            <a:pPr marL="152400" indent="-152400">
              <a:spcAft>
                <a:spcPts val="800"/>
              </a:spcAft>
              <a:buSzPct val="100000"/>
              <a:buChar char="•"/>
            </a:pPr>
            <a:r>
              <a:rPr lang="en-US" sz="1200" dirty="0">
                <a:solidFill>
                  <a:srgbClr val="1F2937"/>
                </a:solidFill>
                <a:latin typeface="Calibri" pitchFamily="34" charset="0"/>
                <a:ea typeface="Calibri" pitchFamily="34" charset="-122"/>
                <a:cs typeface="Calibri" pitchFamily="34" charset="-120"/>
              </a:rPr>
              <a:t>Reconcile every gap to the envelope by driver – volume, price, cost and timing – on the Maziv Finance template.</a:t>
            </a:r>
            <a:endParaRPr lang="en-US" sz="1200" dirty="0"/>
          </a:p>
          <a:p>
            <a:pPr marL="152400" indent="-152400">
              <a:spcAft>
                <a:spcPts val="800"/>
              </a:spcAft>
              <a:buSzPct val="100000"/>
              <a:buChar char="•"/>
            </a:pPr>
            <a:r>
              <a:rPr lang="en-US" sz="1200" dirty="0">
                <a:solidFill>
                  <a:srgbClr val="1F2937"/>
                </a:solidFill>
                <a:latin typeface="Calibri" pitchFamily="34" charset="0"/>
                <a:ea typeface="Calibri" pitchFamily="34" charset="-122"/>
                <a:cs typeface="Calibri" pitchFamily="34" charset="-120"/>
              </a:rPr>
              <a:t>Put spend outside the envelope in a separate strategic initiative submission.</a:t>
            </a:r>
            <a:endParaRPr lang="en-US" sz="1200" dirty="0"/>
          </a:p>
          <a:p>
            <a:pPr marL="152400" indent="-152400">
              <a:spcAft>
                <a:spcPts val="800"/>
              </a:spcAft>
              <a:buSzPct val="100000"/>
              <a:buChar char="•"/>
            </a:pPr>
            <a:r>
              <a:rPr lang="en-US" sz="1200" dirty="0">
                <a:solidFill>
                  <a:srgbClr val="1F2937"/>
                </a:solidFill>
                <a:latin typeface="Calibri" pitchFamily="34" charset="0"/>
                <a:ea typeface="Calibri" pitchFamily="34" charset="-122"/>
                <a:cs typeface="Calibri" pitchFamily="34" charset="-120"/>
              </a:rPr>
              <a:t>The final budget is built on the December (9+3) forecast, not the first-submission base.</a:t>
            </a:r>
            <a:endParaRPr lang="en-US" sz="1200" dirty="0"/>
          </a:p>
          <a:p>
            <a:pPr marL="152400" indent="-152400">
              <a:spcAft>
                <a:spcPts val="800"/>
              </a:spcAft>
              <a:buSzPct val="100000"/>
              <a:buChar char="•"/>
            </a:pPr>
            <a:r>
              <a:rPr lang="en-US" sz="1200" dirty="0">
                <a:solidFill>
                  <a:srgbClr val="1F2937"/>
                </a:solidFill>
                <a:latin typeface="Calibri" pitchFamily="34" charset="0"/>
                <a:ea typeface="Calibri" pitchFamily="34" charset="-122"/>
                <a:cs typeface="Calibri" pitchFamily="34" charset="-120"/>
              </a:rPr>
              <a:t>After the 3 Feb presentation, resubmit only the items Maziv Finance flags as gaps.</a:t>
            </a:r>
            <a:endParaRPr lang="en-US" sz="1200" dirty="0"/>
          </a:p>
        </p:txBody>
      </p:sp>
      <p:sp>
        <p:nvSpPr>
          <p:cNvPr id="34" name="Shape 31"/>
          <p:cNvSpPr/>
          <p:nvPr/>
        </p:nvSpPr>
        <p:spPr>
          <a:xfrm>
            <a:off x="6233008" y="3017520"/>
            <a:ext cx="5592928" cy="3246120"/>
          </a:xfrm>
          <a:prstGeom prst="rect">
            <a:avLst/>
          </a:prstGeom>
          <a:solidFill>
            <a:srgbClr val="FFFFFF"/>
          </a:solidFill>
          <a:ln w="12700">
            <a:solidFill>
              <a:srgbClr val="D1D1D1"/>
            </a:solidFill>
            <a:prstDash val="solid"/>
          </a:ln>
        </p:spPr>
        <p:txBody>
          <a:bodyPr/>
          <a:lstStyle/>
          <a:p>
            <a:endParaRPr lang="en-ZA"/>
          </a:p>
        </p:txBody>
      </p:sp>
      <p:sp>
        <p:nvSpPr>
          <p:cNvPr id="35" name="Shape 32"/>
          <p:cNvSpPr/>
          <p:nvPr/>
        </p:nvSpPr>
        <p:spPr>
          <a:xfrm>
            <a:off x="6233008" y="3017520"/>
            <a:ext cx="5592928" cy="27432"/>
          </a:xfrm>
          <a:prstGeom prst="rect">
            <a:avLst/>
          </a:prstGeom>
          <a:solidFill>
            <a:srgbClr val="C09CCD"/>
          </a:solidFill>
          <a:ln/>
        </p:spPr>
        <p:txBody>
          <a:bodyPr/>
          <a:lstStyle/>
          <a:p>
            <a:endParaRPr lang="en-ZA"/>
          </a:p>
        </p:txBody>
      </p:sp>
      <p:sp>
        <p:nvSpPr>
          <p:cNvPr id="36" name="Text 33"/>
          <p:cNvSpPr/>
          <p:nvPr/>
        </p:nvSpPr>
        <p:spPr>
          <a:xfrm>
            <a:off x="6370168" y="3108960"/>
            <a:ext cx="5318608" cy="292608"/>
          </a:xfrm>
          <a:prstGeom prst="rect">
            <a:avLst/>
          </a:prstGeom>
          <a:noFill/>
          <a:ln/>
        </p:spPr>
        <p:txBody>
          <a:bodyPr wrap="square" rtlCol="0" anchor="ctr"/>
          <a:lstStyle/>
          <a:p>
            <a:pPr marL="0" indent="0">
              <a:buNone/>
            </a:pPr>
            <a:r>
              <a:rPr lang="en-US" sz="1200" b="1" dirty="0">
                <a:solidFill>
                  <a:srgbClr val="461B55"/>
                </a:solidFill>
                <a:latin typeface="Calibri" pitchFamily="34" charset="0"/>
                <a:ea typeface="Calibri" pitchFamily="34" charset="-122"/>
                <a:cs typeface="Calibri" pitchFamily="34" charset="-120"/>
              </a:rPr>
              <a:t>What Group does</a:t>
            </a:r>
            <a:endParaRPr lang="en-US" sz="1200" dirty="0"/>
          </a:p>
        </p:txBody>
      </p:sp>
      <p:sp>
        <p:nvSpPr>
          <p:cNvPr id="37" name="Text 34"/>
          <p:cNvSpPr/>
          <p:nvPr/>
        </p:nvSpPr>
        <p:spPr>
          <a:xfrm>
            <a:off x="6370168" y="3429000"/>
            <a:ext cx="5318608" cy="2743200"/>
          </a:xfrm>
          <a:prstGeom prst="rect">
            <a:avLst/>
          </a:prstGeom>
          <a:noFill/>
          <a:ln/>
        </p:spPr>
        <p:txBody>
          <a:bodyPr wrap="square" rtlCol="0" anchor="t"/>
          <a:lstStyle/>
          <a:p>
            <a:pPr marL="152400" indent="-152400">
              <a:spcAft>
                <a:spcPts val="800"/>
              </a:spcAft>
              <a:buSzPct val="100000"/>
              <a:buChar char="•"/>
            </a:pPr>
            <a:r>
              <a:rPr lang="en-US" sz="1200" dirty="0">
                <a:solidFill>
                  <a:srgbClr val="1F2937"/>
                </a:solidFill>
                <a:latin typeface="Calibri" pitchFamily="34" charset="0"/>
                <a:ea typeface="Calibri" pitchFamily="34" charset="-122"/>
                <a:cs typeface="Calibri" pitchFamily="34" charset="-120"/>
              </a:rPr>
              <a:t>Sets the envelope from the FY2027 forecast, the ten-year plan and the strategy sessions.</a:t>
            </a:r>
            <a:endParaRPr lang="en-US" sz="1200" dirty="0"/>
          </a:p>
          <a:p>
            <a:pPr marL="152400" indent="-152400">
              <a:spcAft>
                <a:spcPts val="800"/>
              </a:spcAft>
              <a:buSzPct val="100000"/>
              <a:buChar char="•"/>
            </a:pPr>
            <a:r>
              <a:rPr lang="en-US" sz="1200" dirty="0">
                <a:solidFill>
                  <a:srgbClr val="1F2937"/>
                </a:solidFill>
                <a:latin typeface="Calibri" pitchFamily="34" charset="0"/>
                <a:ea typeface="Calibri" pitchFamily="34" charset="-122"/>
                <a:cs typeface="Calibri" pitchFamily="34" charset="-120"/>
              </a:rPr>
              <a:t>Issues one template set on 16 Nov: envelope reconciliation, operating leverage, capex, strategic initiative and budget presentation.</a:t>
            </a:r>
            <a:endParaRPr lang="en-US" sz="1200" dirty="0"/>
          </a:p>
          <a:p>
            <a:pPr marL="152400" indent="-152400">
              <a:spcAft>
                <a:spcPts val="800"/>
              </a:spcAft>
              <a:buSzPct val="100000"/>
              <a:buChar char="•"/>
            </a:pPr>
            <a:r>
              <a:rPr lang="en-US" sz="1200" dirty="0">
                <a:solidFill>
                  <a:srgbClr val="1F2937"/>
                </a:solidFill>
                <a:latin typeface="Calibri" pitchFamily="34" charset="0"/>
                <a:ea typeface="Calibri" pitchFamily="34" charset="-122"/>
                <a:cs typeface="Calibri" pitchFamily="34" charset="-120"/>
              </a:rPr>
              <a:t>Gives written feedback on the first submission within six working days (by Tue 8 Dec 2026).</a:t>
            </a:r>
            <a:endParaRPr lang="en-US" sz="1200" dirty="0"/>
          </a:p>
          <a:p>
            <a:pPr marL="152400" indent="-152400">
              <a:spcAft>
                <a:spcPts val="800"/>
              </a:spcAft>
              <a:buSzPct val="100000"/>
              <a:buChar char="•"/>
            </a:pPr>
            <a:r>
              <a:rPr lang="en-US" sz="1200" dirty="0">
                <a:solidFill>
                  <a:srgbClr val="1F2937"/>
                </a:solidFill>
                <a:latin typeface="Calibri" pitchFamily="34" charset="0"/>
                <a:ea typeface="Calibri" pitchFamily="34" charset="-122"/>
                <a:cs typeface="Calibri" pitchFamily="34" charset="-120"/>
              </a:rPr>
              <a:t>Consolidates the Group budget and takes it to ARC, IC and the Maziv Board.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461B55"/>
          </a:solidFill>
          <a:ln/>
        </p:spPr>
        <p:txBody>
          <a:bodyPr/>
          <a:lstStyle/>
          <a:p>
            <a:endParaRPr lang="en-ZA"/>
          </a:p>
        </p:txBody>
      </p:sp>
      <p:sp>
        <p:nvSpPr>
          <p:cNvPr id="3" name="Shape 1"/>
          <p:cNvSpPr/>
          <p:nvPr/>
        </p:nvSpPr>
        <p:spPr>
          <a:xfrm>
            <a:off x="0" y="548640"/>
            <a:ext cx="12191695" cy="36576"/>
          </a:xfrm>
          <a:prstGeom prst="rect">
            <a:avLst/>
          </a:prstGeom>
          <a:solidFill>
            <a:srgbClr val="C09CCD"/>
          </a:solidFill>
          <a:ln/>
        </p:spPr>
        <p:txBody>
          <a:bodyPr/>
          <a:lstStyle/>
          <a:p>
            <a:endParaRPr lang="en-ZA"/>
          </a:p>
        </p:txBody>
      </p:sp>
      <p:sp>
        <p:nvSpPr>
          <p:cNvPr id="4" name="Text 2"/>
          <p:cNvSpPr/>
          <p:nvPr/>
        </p:nvSpPr>
        <p:spPr>
          <a:xfrm>
            <a:off x="365760" y="73152"/>
            <a:ext cx="9144000" cy="41148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Key Dates  |  Meetings and Governance</a:t>
            </a:r>
            <a:endParaRPr lang="en-US" sz="2400" dirty="0"/>
          </a:p>
        </p:txBody>
      </p:sp>
      <p:sp>
        <p:nvSpPr>
          <p:cNvPr id="5" name="Text 3"/>
          <p:cNvSpPr/>
          <p:nvPr/>
        </p:nvSpPr>
        <p:spPr>
          <a:xfrm>
            <a:off x="9601200" y="73152"/>
            <a:ext cx="2377440" cy="411480"/>
          </a:xfrm>
          <a:prstGeom prst="rect">
            <a:avLst/>
          </a:prstGeom>
          <a:noFill/>
          <a:ln/>
        </p:spPr>
        <p:txBody>
          <a:bodyPr wrap="square" rtlCol="0" anchor="ctr"/>
          <a:lstStyle/>
          <a:p>
            <a:pPr marL="0" indent="0" algn="r">
              <a:buNone/>
            </a:pPr>
            <a:r>
              <a:rPr lang="en-US" sz="1100" dirty="0">
                <a:solidFill>
                  <a:srgbClr val="FFFFFF">
                    <a:alpha val="70000"/>
                  </a:srgbClr>
                </a:solidFill>
                <a:latin typeface="Calibri" pitchFamily="34" charset="0"/>
                <a:ea typeface="Calibri" pitchFamily="34" charset="-122"/>
                <a:cs typeface="Calibri" pitchFamily="34" charset="-120"/>
              </a:rPr>
              <a:t>CALENDAR</a:t>
            </a:r>
            <a:endParaRPr lang="en-US" sz="1100" dirty="0"/>
          </a:p>
        </p:txBody>
      </p:sp>
      <p:sp>
        <p:nvSpPr>
          <p:cNvPr id="6" name="Shape 4"/>
          <p:cNvSpPr/>
          <p:nvPr/>
        </p:nvSpPr>
        <p:spPr>
          <a:xfrm>
            <a:off x="365760" y="6455664"/>
            <a:ext cx="11460175" cy="10973"/>
          </a:xfrm>
          <a:prstGeom prst="rect">
            <a:avLst/>
          </a:prstGeom>
          <a:solidFill>
            <a:srgbClr val="D1D1D1"/>
          </a:solidFill>
          <a:ln/>
        </p:spPr>
        <p:txBody>
          <a:bodyPr/>
          <a:lstStyle/>
          <a:p>
            <a:endParaRPr lang="en-ZA"/>
          </a:p>
        </p:txBody>
      </p:sp>
      <p:sp>
        <p:nvSpPr>
          <p:cNvPr id="7" name="Text 5"/>
          <p:cNvSpPr/>
          <p:nvPr/>
        </p:nvSpPr>
        <p:spPr>
          <a:xfrm>
            <a:off x="365760" y="6492240"/>
            <a:ext cx="6400800" cy="256032"/>
          </a:xfrm>
          <a:prstGeom prst="rect">
            <a:avLst/>
          </a:prstGeom>
          <a:noFill/>
          <a:ln/>
        </p:spPr>
        <p:txBody>
          <a:bodyPr wrap="square" rtlCol="0" anchor="ctr"/>
          <a:lstStyle/>
          <a:p>
            <a:pPr marL="0" indent="0">
              <a:buNone/>
            </a:pPr>
            <a:r>
              <a:rPr lang="en-US" sz="900" i="1" dirty="0">
                <a:solidFill>
                  <a:srgbClr val="747474"/>
                </a:solidFill>
                <a:latin typeface="Calibri" pitchFamily="34" charset="0"/>
                <a:ea typeface="Calibri" pitchFamily="34" charset="-122"/>
                <a:cs typeface="Calibri" pitchFamily="34" charset="-120"/>
              </a:rPr>
              <a:t>Maziv Group  •  FY2028 Budget Instructions  •  Strictly confidential</a:t>
            </a:r>
            <a:endParaRPr lang="en-US" sz="900" dirty="0"/>
          </a:p>
        </p:txBody>
      </p:sp>
      <p:sp>
        <p:nvSpPr>
          <p:cNvPr id="8" name="Text 6"/>
          <p:cNvSpPr/>
          <p:nvPr/>
        </p:nvSpPr>
        <p:spPr>
          <a:xfrm>
            <a:off x="6949440" y="6492240"/>
            <a:ext cx="3200400" cy="256032"/>
          </a:xfrm>
          <a:prstGeom prst="rect">
            <a:avLst/>
          </a:prstGeom>
          <a:noFill/>
          <a:ln/>
        </p:spPr>
        <p:txBody>
          <a:bodyPr wrap="square" rtlCol="0" anchor="ctr"/>
          <a:lstStyle/>
          <a:p>
            <a:pPr marL="0" indent="0" algn="r">
              <a:buNone/>
            </a:pPr>
            <a:r>
              <a:rPr lang="en-US" sz="900" dirty="0">
                <a:solidFill>
                  <a:srgbClr val="747474"/>
                </a:solidFill>
                <a:latin typeface="Calibri" pitchFamily="34" charset="0"/>
                <a:ea typeface="Calibri" pitchFamily="34" charset="-122"/>
                <a:cs typeface="Calibri" pitchFamily="34" charset="-120"/>
              </a:rPr>
              <a:t>CALENDAR  •  6 / 13</a:t>
            </a:r>
            <a:endParaRPr lang="en-US" sz="900" dirty="0"/>
          </a:p>
        </p:txBody>
      </p:sp>
      <p:pic>
        <p:nvPicPr>
          <p:cNvPr id="9" name="Image 0" descr="maziv_logo_transparent.png"/>
          <p:cNvPicPr>
            <a:picLocks noChangeAspect="1"/>
          </p:cNvPicPr>
          <p:nvPr/>
        </p:nvPicPr>
        <p:blipFill>
          <a:blip r:embed="rId3"/>
          <a:stretch>
            <a:fillRect/>
          </a:stretch>
        </p:blipFill>
        <p:spPr>
          <a:xfrm>
            <a:off x="11005170" y="6519672"/>
            <a:ext cx="820765" cy="146304"/>
          </a:xfrm>
          <a:prstGeom prst="rect">
            <a:avLst/>
          </a:prstGeom>
        </p:spPr>
      </p:pic>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822960"/>
          <a:ext cx="11457432" cy="5111496"/>
        </p:xfrm>
        <a:graphic>
          <a:graphicData uri="http://schemas.openxmlformats.org/drawingml/2006/table">
            <a:tbl>
              <a:tblPr/>
              <a:tblGrid>
                <a:gridCol w="237744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5422392">
                  <a:extLst>
                    <a:ext uri="{9D8B030D-6E8A-4147-A177-3AD203B41FA5}">
                      <a16:colId xmlns:a16="http://schemas.microsoft.com/office/drawing/2014/main" val="20002"/>
                    </a:ext>
                  </a:extLst>
                </a:gridCol>
              </a:tblGrid>
              <a:tr h="393192">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Date</a:t>
                      </a:r>
                      <a:endParaRPr lang="en-US" sz="11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747474"/>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Meeting</a:t>
                      </a:r>
                      <a:endParaRPr lang="en-US" sz="11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747474"/>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Objective</a:t>
                      </a:r>
                      <a:endParaRPr lang="en-US" sz="11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747474"/>
                    </a:solidFill>
                  </a:tcPr>
                </a:tc>
                <a:extLst>
                  <a:ext uri="{0D108BD9-81ED-4DB2-BD59-A6C34878D82A}">
                    <a16:rowId xmlns:a16="http://schemas.microsoft.com/office/drawing/2014/main" val="10000"/>
                  </a:ext>
                </a:extLst>
              </a:tr>
              <a:tr h="393192">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Wed 11 – Thu 12 Nov 2026</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Maziv internal strategy sessions</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Review strategy and business plans; agree the envelope</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93192">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Mon 16 Nov 2026</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Envelope issued (straw budget update)</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Envelope per entity, updated for the strategy sessions</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extLst>
                  <a:ext uri="{0D108BD9-81ED-4DB2-BD59-A6C34878D82A}">
                    <a16:rowId xmlns:a16="http://schemas.microsoft.com/office/drawing/2014/main" val="10002"/>
                  </a:ext>
                </a:extLst>
              </a:tr>
              <a:tr h="393192">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Mon 30 Nov 2026</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All OpCos – first submission</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First FY2028 budget submission, inside the envelope</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93192">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Wed 2 Dec 2026</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Group CFO review</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FY2027 Valuation against the FY2028 first submission</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extLst>
                  <a:ext uri="{0D108BD9-81ED-4DB2-BD59-A6C34878D82A}">
                    <a16:rowId xmlns:a16="http://schemas.microsoft.com/office/drawing/2014/main" val="10004"/>
                  </a:ext>
                </a:extLst>
              </a:tr>
              <a:tr h="393192">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Fri 29 Jan 2027</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All OpCos – final submission</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Final FY2028 budget submission</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93192">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Wed 3 Feb 2027</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All OpCos – budget presentations</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Full budget presentation by each OpCo CFO and team</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extLst>
                  <a:ext uri="{0D108BD9-81ED-4DB2-BD59-A6C34878D82A}">
                    <a16:rowId xmlns:a16="http://schemas.microsoft.com/office/drawing/2014/main" val="10006"/>
                  </a:ext>
                </a:extLst>
              </a:tr>
              <a:tr h="393192">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Tue 9 Feb 2027</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Maziv Board strategy session</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Strategy and information session</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93192">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21 Feb – 1 Mar 2027</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All OpCo Boards</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OpCo budget approval</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extLst>
                  <a:ext uri="{0D108BD9-81ED-4DB2-BD59-A6C34878D82A}">
                    <a16:rowId xmlns:a16="http://schemas.microsoft.com/office/drawing/2014/main" val="10008"/>
                  </a:ext>
                </a:extLst>
              </a:tr>
              <a:tr h="393192">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Tue 9 Mar 2027</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Maziv Board budget presentation</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Information session</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93192">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Tue 16 Mar 2027</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Audit and Risk Committee</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Review of the Group budget, key risks and funding position</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extLst>
                  <a:ext uri="{0D108BD9-81ED-4DB2-BD59-A6C34878D82A}">
                    <a16:rowId xmlns:a16="http://schemas.microsoft.com/office/drawing/2014/main" val="10010"/>
                  </a:ext>
                </a:extLst>
              </a:tr>
              <a:tr h="393192">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Tue 16 Mar 2027</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Investment Committee</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FY2028 capex approval</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93192">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Wed 24 Mar 2027</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Maziv Group Board</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Group budget approval</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461B55"/>
          </a:solidFill>
          <a:ln/>
        </p:spPr>
        <p:txBody>
          <a:bodyPr/>
          <a:lstStyle/>
          <a:p>
            <a:endParaRPr lang="en-ZA"/>
          </a:p>
        </p:txBody>
      </p:sp>
      <p:sp>
        <p:nvSpPr>
          <p:cNvPr id="3" name="Shape 1"/>
          <p:cNvSpPr/>
          <p:nvPr/>
        </p:nvSpPr>
        <p:spPr>
          <a:xfrm>
            <a:off x="0" y="548640"/>
            <a:ext cx="12191695" cy="36576"/>
          </a:xfrm>
          <a:prstGeom prst="rect">
            <a:avLst/>
          </a:prstGeom>
          <a:solidFill>
            <a:srgbClr val="C09CCD"/>
          </a:solidFill>
          <a:ln/>
        </p:spPr>
        <p:txBody>
          <a:bodyPr/>
          <a:lstStyle/>
          <a:p>
            <a:endParaRPr lang="en-ZA"/>
          </a:p>
        </p:txBody>
      </p:sp>
      <p:sp>
        <p:nvSpPr>
          <p:cNvPr id="4" name="Text 2"/>
          <p:cNvSpPr/>
          <p:nvPr/>
        </p:nvSpPr>
        <p:spPr>
          <a:xfrm>
            <a:off x="365760" y="73152"/>
            <a:ext cx="9144000" cy="41148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Key Deliverables and Deadlines</a:t>
            </a:r>
            <a:endParaRPr lang="en-US" sz="2400" dirty="0"/>
          </a:p>
        </p:txBody>
      </p:sp>
      <p:sp>
        <p:nvSpPr>
          <p:cNvPr id="5" name="Text 3"/>
          <p:cNvSpPr/>
          <p:nvPr/>
        </p:nvSpPr>
        <p:spPr>
          <a:xfrm>
            <a:off x="9601200" y="73152"/>
            <a:ext cx="2377440" cy="411480"/>
          </a:xfrm>
          <a:prstGeom prst="rect">
            <a:avLst/>
          </a:prstGeom>
          <a:noFill/>
          <a:ln/>
        </p:spPr>
        <p:txBody>
          <a:bodyPr wrap="square" rtlCol="0" anchor="ctr"/>
          <a:lstStyle/>
          <a:p>
            <a:pPr marL="0" indent="0" algn="r">
              <a:buNone/>
            </a:pPr>
            <a:r>
              <a:rPr lang="en-US" sz="1100" dirty="0">
                <a:solidFill>
                  <a:srgbClr val="FFFFFF">
                    <a:alpha val="70000"/>
                  </a:srgbClr>
                </a:solidFill>
                <a:latin typeface="Calibri" pitchFamily="34" charset="0"/>
                <a:ea typeface="Calibri" pitchFamily="34" charset="-122"/>
                <a:cs typeface="Calibri" pitchFamily="34" charset="-120"/>
              </a:rPr>
              <a:t>DEADLINES</a:t>
            </a:r>
            <a:endParaRPr lang="en-US" sz="1100" dirty="0"/>
          </a:p>
        </p:txBody>
      </p:sp>
      <p:sp>
        <p:nvSpPr>
          <p:cNvPr id="6" name="Shape 4"/>
          <p:cNvSpPr/>
          <p:nvPr/>
        </p:nvSpPr>
        <p:spPr>
          <a:xfrm>
            <a:off x="365760" y="6455664"/>
            <a:ext cx="11460175" cy="10973"/>
          </a:xfrm>
          <a:prstGeom prst="rect">
            <a:avLst/>
          </a:prstGeom>
          <a:solidFill>
            <a:srgbClr val="D1D1D1"/>
          </a:solidFill>
          <a:ln/>
        </p:spPr>
        <p:txBody>
          <a:bodyPr/>
          <a:lstStyle/>
          <a:p>
            <a:endParaRPr lang="en-ZA"/>
          </a:p>
        </p:txBody>
      </p:sp>
      <p:sp>
        <p:nvSpPr>
          <p:cNvPr id="7" name="Text 5"/>
          <p:cNvSpPr/>
          <p:nvPr/>
        </p:nvSpPr>
        <p:spPr>
          <a:xfrm>
            <a:off x="365760" y="6492240"/>
            <a:ext cx="6400800" cy="256032"/>
          </a:xfrm>
          <a:prstGeom prst="rect">
            <a:avLst/>
          </a:prstGeom>
          <a:noFill/>
          <a:ln/>
        </p:spPr>
        <p:txBody>
          <a:bodyPr wrap="square" rtlCol="0" anchor="ctr"/>
          <a:lstStyle/>
          <a:p>
            <a:pPr marL="0" indent="0">
              <a:buNone/>
            </a:pPr>
            <a:r>
              <a:rPr lang="en-US" sz="900" i="1" dirty="0">
                <a:solidFill>
                  <a:srgbClr val="747474"/>
                </a:solidFill>
                <a:latin typeface="Calibri" pitchFamily="34" charset="0"/>
                <a:ea typeface="Calibri" pitchFamily="34" charset="-122"/>
                <a:cs typeface="Calibri" pitchFamily="34" charset="-120"/>
              </a:rPr>
              <a:t>Maziv Group  •  FY2028 Budget Instructions  •  Strictly confidential</a:t>
            </a:r>
            <a:endParaRPr lang="en-US" sz="900" dirty="0"/>
          </a:p>
        </p:txBody>
      </p:sp>
      <p:sp>
        <p:nvSpPr>
          <p:cNvPr id="8" name="Text 6"/>
          <p:cNvSpPr/>
          <p:nvPr/>
        </p:nvSpPr>
        <p:spPr>
          <a:xfrm>
            <a:off x="6949440" y="6492240"/>
            <a:ext cx="3200400" cy="256032"/>
          </a:xfrm>
          <a:prstGeom prst="rect">
            <a:avLst/>
          </a:prstGeom>
          <a:noFill/>
          <a:ln/>
        </p:spPr>
        <p:txBody>
          <a:bodyPr wrap="square" rtlCol="0" anchor="ctr"/>
          <a:lstStyle/>
          <a:p>
            <a:pPr marL="0" indent="0" algn="r">
              <a:buNone/>
            </a:pPr>
            <a:r>
              <a:rPr lang="en-US" sz="900" dirty="0">
                <a:solidFill>
                  <a:srgbClr val="747474"/>
                </a:solidFill>
                <a:latin typeface="Calibri" pitchFamily="34" charset="0"/>
                <a:ea typeface="Calibri" pitchFamily="34" charset="-122"/>
                <a:cs typeface="Calibri" pitchFamily="34" charset="-120"/>
              </a:rPr>
              <a:t>DEADLINES  •  7 / 13</a:t>
            </a:r>
            <a:endParaRPr lang="en-US" sz="900" dirty="0"/>
          </a:p>
        </p:txBody>
      </p:sp>
      <p:pic>
        <p:nvPicPr>
          <p:cNvPr id="9" name="Image 0" descr="maziv_logo_transparent.png"/>
          <p:cNvPicPr>
            <a:picLocks noChangeAspect="1"/>
          </p:cNvPicPr>
          <p:nvPr/>
        </p:nvPicPr>
        <p:blipFill>
          <a:blip r:embed="rId3"/>
          <a:stretch>
            <a:fillRect/>
          </a:stretch>
        </p:blipFill>
        <p:spPr>
          <a:xfrm>
            <a:off x="11005170" y="6519672"/>
            <a:ext cx="820765" cy="146304"/>
          </a:xfrm>
          <a:prstGeom prst="rect">
            <a:avLst/>
          </a:prstGeom>
        </p:spPr>
      </p:pic>
      <p:sp>
        <p:nvSpPr>
          <p:cNvPr id="10" name="Text 7"/>
          <p:cNvSpPr/>
          <p:nvPr/>
        </p:nvSpPr>
        <p:spPr>
          <a:xfrm>
            <a:off x="365760" y="749808"/>
            <a:ext cx="5592928" cy="274320"/>
          </a:xfrm>
          <a:prstGeom prst="rect">
            <a:avLst/>
          </a:prstGeom>
          <a:noFill/>
          <a:ln/>
        </p:spPr>
        <p:txBody>
          <a:bodyPr wrap="square" rtlCol="0" anchor="ctr"/>
          <a:lstStyle/>
          <a:p>
            <a:pPr marL="0" indent="0">
              <a:buNone/>
            </a:pPr>
            <a:r>
              <a:rPr lang="en-US" sz="1100" b="1" dirty="0">
                <a:solidFill>
                  <a:srgbClr val="747474"/>
                </a:solidFill>
                <a:latin typeface="Calibri" pitchFamily="34" charset="0"/>
                <a:ea typeface="Calibri" pitchFamily="34" charset="-122"/>
                <a:cs typeface="Calibri" pitchFamily="34" charset="-120"/>
              </a:rPr>
              <a:t>Envelope and first submission</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65760" y="1051560"/>
          <a:ext cx="5592928" cy="3200400"/>
        </p:xfrm>
        <a:graphic>
          <a:graphicData uri="http://schemas.openxmlformats.org/drawingml/2006/table">
            <a:tbl>
              <a:tblPr/>
              <a:tblGrid>
                <a:gridCol w="1600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1249528">
                  <a:extLst>
                    <a:ext uri="{9D8B030D-6E8A-4147-A177-3AD203B41FA5}">
                      <a16:colId xmlns:a16="http://schemas.microsoft.com/office/drawing/2014/main" val="20002"/>
                    </a:ext>
                  </a:extLst>
                </a:gridCol>
              </a:tblGrid>
              <a:tr h="45720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Due</a:t>
                      </a:r>
                      <a:endParaRPr lang="en-US" sz="11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747474"/>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Deliverable</a:t>
                      </a:r>
                      <a:endParaRPr lang="en-US" sz="11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747474"/>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Owner</a:t>
                      </a:r>
                      <a:endParaRPr lang="en-US" sz="11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747474"/>
                    </a:solidFill>
                  </a:tcPr>
                </a:tc>
                <a:extLst>
                  <a:ext uri="{0D108BD9-81ED-4DB2-BD59-A6C34878D82A}">
                    <a16:rowId xmlns:a16="http://schemas.microsoft.com/office/drawing/2014/main" val="10000"/>
                  </a:ext>
                </a:extLst>
              </a:tr>
              <a:tr h="457200">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Mon 26 Oct 2026</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Group budget instructions and Group assumptions</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Maziv Finance</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Wed 11 – Thu 12 Nov</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Strategy sessions</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Maziv Finance</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extLst>
                  <a:ext uri="{0D108BD9-81ED-4DB2-BD59-A6C34878D82A}">
                    <a16:rowId xmlns:a16="http://schemas.microsoft.com/office/drawing/2014/main" val="10002"/>
                  </a:ext>
                </a:extLst>
              </a:tr>
              <a:tr h="457200">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Mon 16 Nov 2026</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800" b="1" dirty="0">
                          <a:solidFill>
                            <a:srgbClr val="7A4D87"/>
                          </a:solidFill>
                          <a:latin typeface="Calibri" pitchFamily="34" charset="0"/>
                          <a:ea typeface="Calibri" pitchFamily="34" charset="-122"/>
                          <a:cs typeface="Calibri" pitchFamily="34" charset="-120"/>
                        </a:rPr>
                        <a:t>NEW  </a:t>
                      </a:r>
                      <a:r>
                        <a:rPr lang="en-US" sz="1000" dirty="0">
                          <a:solidFill>
                            <a:srgbClr val="1F2937"/>
                          </a:solidFill>
                          <a:latin typeface="Calibri" pitchFamily="34" charset="0"/>
                          <a:ea typeface="Calibri" pitchFamily="34" charset="-122"/>
                          <a:cs typeface="Calibri" pitchFamily="34" charset="-120"/>
                        </a:rPr>
                        <a:t>Top-down envelope per entity, with templates, interest and management fee</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Maziv Finance</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Mon 30 Nov 2026</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First budget submission, inside the envelope</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OpCo</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extLst>
                  <a:ext uri="{0D108BD9-81ED-4DB2-BD59-A6C34878D82A}">
                    <a16:rowId xmlns:a16="http://schemas.microsoft.com/office/drawing/2014/main" val="10004"/>
                  </a:ext>
                </a:extLst>
              </a:tr>
              <a:tr h="457200">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Wed 2 Dec 2026</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Group CFO review of first submissions</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Group CFO</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Tue 8 Dec 2026</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Written feedback on first submissions</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Maziv Finance</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extLst>
                  <a:ext uri="{0D108BD9-81ED-4DB2-BD59-A6C34878D82A}">
                    <a16:rowId xmlns:a16="http://schemas.microsoft.com/office/drawing/2014/main" val="10006"/>
                  </a:ext>
                </a:extLst>
              </a:tr>
            </a:tbl>
          </a:graphicData>
        </a:graphic>
      </p:graphicFrame>
      <p:sp>
        <p:nvSpPr>
          <p:cNvPr id="12" name="Text 8"/>
          <p:cNvSpPr/>
          <p:nvPr/>
        </p:nvSpPr>
        <p:spPr>
          <a:xfrm>
            <a:off x="6233008" y="749808"/>
            <a:ext cx="5592928" cy="274320"/>
          </a:xfrm>
          <a:prstGeom prst="rect">
            <a:avLst/>
          </a:prstGeom>
          <a:noFill/>
          <a:ln/>
        </p:spPr>
        <p:txBody>
          <a:bodyPr wrap="square" rtlCol="0" anchor="ctr"/>
          <a:lstStyle/>
          <a:p>
            <a:pPr marL="0" indent="0">
              <a:buNone/>
            </a:pPr>
            <a:r>
              <a:rPr lang="en-US" sz="1100" b="1" dirty="0">
                <a:solidFill>
                  <a:srgbClr val="747474"/>
                </a:solidFill>
                <a:latin typeface="Calibri" pitchFamily="34" charset="0"/>
                <a:ea typeface="Calibri" pitchFamily="34" charset="-122"/>
                <a:cs typeface="Calibri" pitchFamily="34" charset="-120"/>
              </a:rPr>
              <a:t>Final submission and approval</a:t>
            </a:r>
            <a:endParaRPr lang="en-US" sz="110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6233008" y="1051560"/>
          <a:ext cx="5592928" cy="4572000"/>
        </p:xfrm>
        <a:graphic>
          <a:graphicData uri="http://schemas.openxmlformats.org/drawingml/2006/table">
            <a:tbl>
              <a:tblPr/>
              <a:tblGrid>
                <a:gridCol w="1600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1249528">
                  <a:extLst>
                    <a:ext uri="{9D8B030D-6E8A-4147-A177-3AD203B41FA5}">
                      <a16:colId xmlns:a16="http://schemas.microsoft.com/office/drawing/2014/main" val="20002"/>
                    </a:ext>
                  </a:extLst>
                </a:gridCol>
              </a:tblGrid>
              <a:tr h="45720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Due</a:t>
                      </a:r>
                      <a:endParaRPr lang="en-US" sz="11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747474"/>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Deliverable</a:t>
                      </a:r>
                      <a:endParaRPr lang="en-US" sz="11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747474"/>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Owner</a:t>
                      </a:r>
                      <a:endParaRPr lang="en-US" sz="11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747474"/>
                    </a:solidFill>
                  </a:tcPr>
                </a:tc>
                <a:extLst>
                  <a:ext uri="{0D108BD9-81ED-4DB2-BD59-A6C34878D82A}">
                    <a16:rowId xmlns:a16="http://schemas.microsoft.com/office/drawing/2014/main" val="10000"/>
                  </a:ext>
                </a:extLst>
              </a:tr>
              <a:tr h="457200">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Thu 7 Jan 2027</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December flash</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OpCo</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Mon 11 Jan 2027</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December actuals</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OpCo</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extLst>
                  <a:ext uri="{0D108BD9-81ED-4DB2-BD59-A6C34878D82A}">
                    <a16:rowId xmlns:a16="http://schemas.microsoft.com/office/drawing/2014/main" val="10002"/>
                  </a:ext>
                </a:extLst>
              </a:tr>
              <a:tr h="457200">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Wed 13 Jan 2027</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December (9+3) forecast</a:t>
                      </a:r>
                      <a:r>
                        <a:rPr lang="en-US" sz="1000" b="1" dirty="0">
                          <a:solidFill>
                            <a:srgbClr val="7A4D87"/>
                          </a:solidFill>
                          <a:latin typeface="Calibri" pitchFamily="34" charset="0"/>
                          <a:ea typeface="Calibri" pitchFamily="34" charset="-122"/>
                          <a:cs typeface="Calibri" pitchFamily="34" charset="-120"/>
                        </a:rPr>
                        <a:t>  – budget starting point</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OpCo</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Thu 14 Jan 2027</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December CFO pack</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OpCo</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extLst>
                  <a:ext uri="{0D108BD9-81ED-4DB2-BD59-A6C34878D82A}">
                    <a16:rowId xmlns:a16="http://schemas.microsoft.com/office/drawing/2014/main" val="10004"/>
                  </a:ext>
                </a:extLst>
              </a:tr>
              <a:tr h="457200">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Fri 29 Jan 2027</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Final budget submission</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OpCo</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Wed 3 Feb 2027</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Budget presentation to Group (OpCo CFO and team)</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OpCo</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extLst>
                  <a:ext uri="{0D108BD9-81ED-4DB2-BD59-A6C34878D82A}">
                    <a16:rowId xmlns:a16="http://schemas.microsoft.com/office/drawing/2014/main" val="10006"/>
                  </a:ext>
                </a:extLst>
              </a:tr>
              <a:tr h="457200">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Fri 5 Feb 2027</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800" b="1" dirty="0">
                          <a:solidFill>
                            <a:srgbClr val="7A4D87"/>
                          </a:solidFill>
                          <a:latin typeface="Calibri" pitchFamily="34" charset="0"/>
                          <a:ea typeface="Calibri" pitchFamily="34" charset="-122"/>
                          <a:cs typeface="Calibri" pitchFamily="34" charset="-120"/>
                        </a:rPr>
                        <a:t>NEW  </a:t>
                      </a:r>
                      <a:r>
                        <a:rPr lang="en-US" sz="1000" dirty="0">
                          <a:solidFill>
                            <a:srgbClr val="1F2937"/>
                          </a:solidFill>
                          <a:latin typeface="Calibri" pitchFamily="34" charset="0"/>
                          <a:ea typeface="Calibri" pitchFamily="34" charset="-122"/>
                          <a:cs typeface="Calibri" pitchFamily="34" charset="-120"/>
                        </a:rPr>
                        <a:t>Gap resubmission (gap items only)</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OpCo</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57200">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Wed 10 Feb 2027</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Final consolidation</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Maziv Finance</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extLst>
                  <a:ext uri="{0D108BD9-81ED-4DB2-BD59-A6C34878D82A}">
                    <a16:rowId xmlns:a16="http://schemas.microsoft.com/office/drawing/2014/main" val="10008"/>
                  </a:ext>
                </a:extLst>
              </a:tr>
              <a:tr h="457200">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Wed 17 Mar 2027</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Board budget pack (one week before the 24 Mar Board)</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Maziv Finance</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14" name="Shape 9"/>
          <p:cNvSpPr/>
          <p:nvPr/>
        </p:nvSpPr>
        <p:spPr>
          <a:xfrm>
            <a:off x="365760" y="4343400"/>
            <a:ext cx="5592928" cy="1234440"/>
          </a:xfrm>
          <a:prstGeom prst="rect">
            <a:avLst/>
          </a:prstGeom>
          <a:solidFill>
            <a:srgbClr val="F4ECF7"/>
          </a:solidFill>
          <a:ln/>
        </p:spPr>
        <p:txBody>
          <a:bodyPr/>
          <a:lstStyle/>
          <a:p>
            <a:endParaRPr lang="en-ZA"/>
          </a:p>
        </p:txBody>
      </p:sp>
      <p:sp>
        <p:nvSpPr>
          <p:cNvPr id="13" name="Shape 10"/>
          <p:cNvSpPr/>
          <p:nvPr/>
        </p:nvSpPr>
        <p:spPr>
          <a:xfrm>
            <a:off x="365760" y="4343400"/>
            <a:ext cx="54864" cy="1234440"/>
          </a:xfrm>
          <a:prstGeom prst="rect">
            <a:avLst/>
          </a:prstGeom>
          <a:solidFill>
            <a:srgbClr val="C09CCD"/>
          </a:solidFill>
          <a:ln/>
        </p:spPr>
        <p:txBody>
          <a:bodyPr/>
          <a:lstStyle/>
          <a:p>
            <a:endParaRPr lang="en-ZA"/>
          </a:p>
        </p:txBody>
      </p:sp>
      <p:sp>
        <p:nvSpPr>
          <p:cNvPr id="16" name="Text 11"/>
          <p:cNvSpPr/>
          <p:nvPr/>
        </p:nvSpPr>
        <p:spPr>
          <a:xfrm>
            <a:off x="530352" y="4416552"/>
            <a:ext cx="5300320" cy="228600"/>
          </a:xfrm>
          <a:prstGeom prst="rect">
            <a:avLst/>
          </a:prstGeom>
          <a:noFill/>
          <a:ln/>
        </p:spPr>
        <p:txBody>
          <a:bodyPr wrap="square" rtlCol="0" anchor="ctr"/>
          <a:lstStyle/>
          <a:p>
            <a:pPr marL="0" indent="0">
              <a:buNone/>
            </a:pPr>
            <a:r>
              <a:rPr lang="en-US" sz="1000" b="1" i="1" dirty="0">
                <a:solidFill>
                  <a:srgbClr val="7A4D87"/>
                </a:solidFill>
                <a:latin typeface="Calibri" pitchFamily="34" charset="0"/>
                <a:ea typeface="Calibri" pitchFamily="34" charset="-122"/>
                <a:cs typeface="Calibri" pitchFamily="34" charset="-120"/>
              </a:rPr>
              <a:t>READ</a:t>
            </a:r>
            <a:endParaRPr lang="en-US" sz="1000" dirty="0"/>
          </a:p>
        </p:txBody>
      </p:sp>
      <p:sp>
        <p:nvSpPr>
          <p:cNvPr id="17" name="Text 12"/>
          <p:cNvSpPr/>
          <p:nvPr/>
        </p:nvSpPr>
        <p:spPr>
          <a:xfrm>
            <a:off x="530352" y="4636008"/>
            <a:ext cx="5300320" cy="868680"/>
          </a:xfrm>
          <a:prstGeom prst="rect">
            <a:avLst/>
          </a:prstGeom>
          <a:noFill/>
          <a:ln/>
        </p:spPr>
        <p:txBody>
          <a:bodyPr wrap="square" rtlCol="0" anchor="t"/>
          <a:lstStyle/>
          <a:p>
            <a:pPr marL="0" indent="0">
              <a:buNone/>
            </a:pPr>
            <a:r>
              <a:rPr lang="en-US" sz="1100" dirty="0">
                <a:solidFill>
                  <a:srgbClr val="1F2937"/>
                </a:solidFill>
                <a:latin typeface="Calibri" pitchFamily="34" charset="0"/>
                <a:ea typeface="Calibri" pitchFamily="34" charset="-122"/>
                <a:cs typeface="Calibri" pitchFamily="34" charset="-120"/>
              </a:rPr>
              <a:t>All deadlines are 17:00 on the due date and are not negotiable. The December (9+3) forecast of 13 Jan is the base for the final budget: the FY2027 forecast and the opening balance sheet in the 29 Jan submission must tie to it.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461B55"/>
          </a:solidFill>
          <a:ln/>
        </p:spPr>
        <p:txBody>
          <a:bodyPr/>
          <a:lstStyle/>
          <a:p>
            <a:endParaRPr lang="en-ZA"/>
          </a:p>
        </p:txBody>
      </p:sp>
      <p:sp>
        <p:nvSpPr>
          <p:cNvPr id="3" name="Shape 1"/>
          <p:cNvSpPr/>
          <p:nvPr/>
        </p:nvSpPr>
        <p:spPr>
          <a:xfrm>
            <a:off x="0" y="548640"/>
            <a:ext cx="12191695" cy="36576"/>
          </a:xfrm>
          <a:prstGeom prst="rect">
            <a:avLst/>
          </a:prstGeom>
          <a:solidFill>
            <a:srgbClr val="C09CCD"/>
          </a:solidFill>
          <a:ln/>
        </p:spPr>
        <p:txBody>
          <a:bodyPr/>
          <a:lstStyle/>
          <a:p>
            <a:endParaRPr lang="en-ZA"/>
          </a:p>
        </p:txBody>
      </p:sp>
      <p:sp>
        <p:nvSpPr>
          <p:cNvPr id="4" name="Text 2"/>
          <p:cNvSpPr/>
          <p:nvPr/>
        </p:nvSpPr>
        <p:spPr>
          <a:xfrm>
            <a:off x="365760" y="73152"/>
            <a:ext cx="9144000" cy="41148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Submission Pack  |  Formats and Requirements</a:t>
            </a:r>
            <a:endParaRPr lang="en-US" sz="2400" dirty="0"/>
          </a:p>
        </p:txBody>
      </p:sp>
      <p:sp>
        <p:nvSpPr>
          <p:cNvPr id="5" name="Text 3"/>
          <p:cNvSpPr/>
          <p:nvPr/>
        </p:nvSpPr>
        <p:spPr>
          <a:xfrm>
            <a:off x="9601200" y="73152"/>
            <a:ext cx="2377440" cy="411480"/>
          </a:xfrm>
          <a:prstGeom prst="rect">
            <a:avLst/>
          </a:prstGeom>
          <a:noFill/>
          <a:ln/>
        </p:spPr>
        <p:txBody>
          <a:bodyPr wrap="square" rtlCol="0" anchor="ctr"/>
          <a:lstStyle/>
          <a:p>
            <a:pPr marL="0" indent="0" algn="r">
              <a:buNone/>
            </a:pPr>
            <a:r>
              <a:rPr lang="en-US" sz="1100" dirty="0">
                <a:solidFill>
                  <a:srgbClr val="FFFFFF">
                    <a:alpha val="70000"/>
                  </a:srgbClr>
                </a:solidFill>
                <a:latin typeface="Calibri" pitchFamily="34" charset="0"/>
                <a:ea typeface="Calibri" pitchFamily="34" charset="-122"/>
                <a:cs typeface="Calibri" pitchFamily="34" charset="-120"/>
              </a:rPr>
              <a:t>SUBMISSION PACK</a:t>
            </a:r>
            <a:endParaRPr lang="en-US" sz="1100" dirty="0"/>
          </a:p>
        </p:txBody>
      </p:sp>
      <p:sp>
        <p:nvSpPr>
          <p:cNvPr id="6" name="Shape 4"/>
          <p:cNvSpPr/>
          <p:nvPr/>
        </p:nvSpPr>
        <p:spPr>
          <a:xfrm>
            <a:off x="365760" y="6455664"/>
            <a:ext cx="11460175" cy="10973"/>
          </a:xfrm>
          <a:prstGeom prst="rect">
            <a:avLst/>
          </a:prstGeom>
          <a:solidFill>
            <a:srgbClr val="D1D1D1"/>
          </a:solidFill>
          <a:ln/>
        </p:spPr>
        <p:txBody>
          <a:bodyPr/>
          <a:lstStyle/>
          <a:p>
            <a:endParaRPr lang="en-ZA"/>
          </a:p>
        </p:txBody>
      </p:sp>
      <p:sp>
        <p:nvSpPr>
          <p:cNvPr id="7" name="Text 5"/>
          <p:cNvSpPr/>
          <p:nvPr/>
        </p:nvSpPr>
        <p:spPr>
          <a:xfrm>
            <a:off x="365760" y="6492240"/>
            <a:ext cx="6400800" cy="256032"/>
          </a:xfrm>
          <a:prstGeom prst="rect">
            <a:avLst/>
          </a:prstGeom>
          <a:noFill/>
          <a:ln/>
        </p:spPr>
        <p:txBody>
          <a:bodyPr wrap="square" rtlCol="0" anchor="ctr"/>
          <a:lstStyle/>
          <a:p>
            <a:pPr marL="0" indent="0">
              <a:buNone/>
            </a:pPr>
            <a:r>
              <a:rPr lang="en-US" sz="900" i="1" dirty="0">
                <a:solidFill>
                  <a:srgbClr val="747474"/>
                </a:solidFill>
                <a:latin typeface="Calibri" pitchFamily="34" charset="0"/>
                <a:ea typeface="Calibri" pitchFamily="34" charset="-122"/>
                <a:cs typeface="Calibri" pitchFamily="34" charset="-120"/>
              </a:rPr>
              <a:t>Maziv Group  •  FY2028 Budget Instructions  •  Strictly confidential</a:t>
            </a:r>
            <a:endParaRPr lang="en-US" sz="900" dirty="0"/>
          </a:p>
        </p:txBody>
      </p:sp>
      <p:sp>
        <p:nvSpPr>
          <p:cNvPr id="8" name="Text 6"/>
          <p:cNvSpPr/>
          <p:nvPr/>
        </p:nvSpPr>
        <p:spPr>
          <a:xfrm>
            <a:off x="6949440" y="6492240"/>
            <a:ext cx="3200400" cy="256032"/>
          </a:xfrm>
          <a:prstGeom prst="rect">
            <a:avLst/>
          </a:prstGeom>
          <a:noFill/>
          <a:ln/>
        </p:spPr>
        <p:txBody>
          <a:bodyPr wrap="square" rtlCol="0" anchor="ctr"/>
          <a:lstStyle/>
          <a:p>
            <a:pPr marL="0" indent="0" algn="r">
              <a:buNone/>
            </a:pPr>
            <a:r>
              <a:rPr lang="en-US" sz="900" dirty="0">
                <a:solidFill>
                  <a:srgbClr val="747474"/>
                </a:solidFill>
                <a:latin typeface="Calibri" pitchFamily="34" charset="0"/>
                <a:ea typeface="Calibri" pitchFamily="34" charset="-122"/>
                <a:cs typeface="Calibri" pitchFamily="34" charset="-120"/>
              </a:rPr>
              <a:t>SUBMISSION PACK  •  8 / 13</a:t>
            </a:r>
            <a:endParaRPr lang="en-US" sz="900" dirty="0"/>
          </a:p>
        </p:txBody>
      </p:sp>
      <p:pic>
        <p:nvPicPr>
          <p:cNvPr id="9" name="Image 0" descr="maziv_logo_transparent.png"/>
          <p:cNvPicPr>
            <a:picLocks noChangeAspect="1"/>
          </p:cNvPicPr>
          <p:nvPr/>
        </p:nvPicPr>
        <p:blipFill>
          <a:blip r:embed="rId3"/>
          <a:stretch>
            <a:fillRect/>
          </a:stretch>
        </p:blipFill>
        <p:spPr>
          <a:xfrm>
            <a:off x="11005170" y="6519672"/>
            <a:ext cx="820765" cy="146304"/>
          </a:xfrm>
          <a:prstGeom prst="rect">
            <a:avLst/>
          </a:prstGeom>
        </p:spPr>
      </p:pic>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822960"/>
          <a:ext cx="11457432" cy="4425696"/>
        </p:xfrm>
        <a:graphic>
          <a:graphicData uri="http://schemas.openxmlformats.org/drawingml/2006/table">
            <a:tbl>
              <a:tblPr/>
              <a:tblGrid>
                <a:gridCol w="69494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587752">
                  <a:extLst>
                    <a:ext uri="{9D8B030D-6E8A-4147-A177-3AD203B41FA5}">
                      <a16:colId xmlns:a16="http://schemas.microsoft.com/office/drawing/2014/main" val="20002"/>
                    </a:ext>
                  </a:extLst>
                </a:gridCol>
              </a:tblGrid>
              <a:tr h="402336">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Deliverable (every submission)</a:t>
                      </a:r>
                      <a:endParaRPr lang="en-US" sz="11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747474"/>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Tool</a:t>
                      </a:r>
                      <a:endParaRPr lang="en-US" sz="11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747474"/>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Format</a:t>
                      </a:r>
                      <a:endParaRPr lang="en-US" sz="11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747474"/>
                    </a:solidFill>
                  </a:tcPr>
                </a:tc>
                <a:extLst>
                  <a:ext uri="{0D108BD9-81ED-4DB2-BD59-A6C34878D82A}">
                    <a16:rowId xmlns:a16="http://schemas.microsoft.com/office/drawing/2014/main" val="10000"/>
                  </a:ext>
                </a:extLst>
              </a:tr>
              <a:tr h="402336">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Valuation model, monthly, 10-year: </a:t>
                      </a:r>
                      <a:r>
                        <a:rPr lang="en-US" sz="1000" dirty="0">
                          <a:solidFill>
                            <a:srgbClr val="1F2937"/>
                          </a:solidFill>
                          <a:latin typeface="Calibri" pitchFamily="34" charset="0"/>
                          <a:ea typeface="Calibri" pitchFamily="34" charset="-122"/>
                          <a:cs typeface="Calibri" pitchFamily="34" charset="-120"/>
                        </a:rPr>
                        <a:t>Vumatel, DFA, SADV, BMCT, Rise Group, Axio, Herotel</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Finnivo</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Directly in Finnivo</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10-year model, monthly: </a:t>
                      </a:r>
                      <a:r>
                        <a:rPr lang="en-US" sz="1000" dirty="0">
                          <a:solidFill>
                            <a:srgbClr val="1F2937"/>
                          </a:solidFill>
                          <a:latin typeface="Calibri" pitchFamily="34" charset="0"/>
                          <a:ea typeface="Calibri" pitchFamily="34" charset="-122"/>
                          <a:cs typeface="Calibri" pitchFamily="34" charset="-120"/>
                        </a:rPr>
                        <a:t>Maziv, PropCo, PrefCo, LoanCo, One Reach, VumaCam and Centr, Vuma InfraCo</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Excel</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Upload into Finnivo</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extLst>
                  <a:ext uri="{0D108BD9-81ED-4DB2-BD59-A6C34878D82A}">
                    <a16:rowId xmlns:a16="http://schemas.microsoft.com/office/drawing/2014/main" val="10002"/>
                  </a:ext>
                </a:extLst>
              </a:tr>
              <a:tr h="402336">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Expense schedule: </a:t>
                      </a:r>
                      <a:r>
                        <a:rPr lang="en-US" sz="1000" dirty="0">
                          <a:solidFill>
                            <a:srgbClr val="1F2937"/>
                          </a:solidFill>
                          <a:latin typeface="Calibri" pitchFamily="34" charset="0"/>
                          <a:ea typeface="Calibri" pitchFamily="34" charset="-122"/>
                          <a:cs typeface="Calibri" pitchFamily="34" charset="-120"/>
                        </a:rPr>
                        <a:t>detailed, by cost line and month, against the FY2027 forecast</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Excel</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Existing template</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Salary cost and headcount: </a:t>
                      </a:r>
                      <a:r>
                        <a:rPr lang="en-US" sz="1000" dirty="0">
                          <a:solidFill>
                            <a:srgbClr val="1F2937"/>
                          </a:solidFill>
                          <a:latin typeface="Calibri" pitchFamily="34" charset="0"/>
                          <a:ea typeface="Calibri" pitchFamily="34" charset="-122"/>
                          <a:cs typeface="Calibri" pitchFamily="34" charset="-120"/>
                        </a:rPr>
                        <a:t>by department and month, capex and opex split, FY2027 against FY2028</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Excel</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Entity specific</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extLst>
                  <a:ext uri="{0D108BD9-81ED-4DB2-BD59-A6C34878D82A}">
                    <a16:rowId xmlns:a16="http://schemas.microsoft.com/office/drawing/2014/main" val="10004"/>
                  </a:ext>
                </a:extLst>
              </a:tr>
              <a:tr h="402336">
                <a:tc>
                  <a:txBody>
                    <a:bodyPr/>
                    <a:lstStyle/>
                    <a:p>
                      <a:pPr marL="0" indent="0">
                        <a:buNone/>
                      </a:pPr>
                      <a:r>
                        <a:rPr lang="en-US" sz="800" b="1" dirty="0">
                          <a:solidFill>
                            <a:srgbClr val="7A4D87"/>
                          </a:solidFill>
                          <a:latin typeface="Calibri" pitchFamily="34" charset="0"/>
                          <a:ea typeface="Calibri" pitchFamily="34" charset="-122"/>
                          <a:cs typeface="Calibri" pitchFamily="34" charset="-120"/>
                        </a:rPr>
                        <a:t>NEW  </a:t>
                      </a:r>
                      <a:r>
                        <a:rPr lang="en-US" sz="1000" dirty="0">
                          <a:solidFill>
                            <a:srgbClr val="1F2937"/>
                          </a:solidFill>
                          <a:latin typeface="Calibri" pitchFamily="34" charset="0"/>
                          <a:ea typeface="Calibri" pitchFamily="34" charset="-122"/>
                          <a:cs typeface="Calibri" pitchFamily="34" charset="-120"/>
                        </a:rPr>
                        <a:t>Capex schedule: by project and category (growth, maintenance, strategic), committed and uncommitted, monthly phasing</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Excel</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Template from Maziv Finance</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2336">
                <a:tc>
                  <a:txBody>
                    <a:bodyPr/>
                    <a:lstStyle/>
                    <a:p>
                      <a:pPr marL="0" indent="0">
                        <a:buNone/>
                      </a:pPr>
                      <a:r>
                        <a:rPr lang="en-US" sz="800" b="1" dirty="0">
                          <a:solidFill>
                            <a:srgbClr val="7A4D87"/>
                          </a:solidFill>
                          <a:latin typeface="Calibri" pitchFamily="34" charset="0"/>
                          <a:ea typeface="Calibri" pitchFamily="34" charset="-122"/>
                          <a:cs typeface="Calibri" pitchFamily="34" charset="-120"/>
                        </a:rPr>
                        <a:t>NEW  </a:t>
                      </a:r>
                      <a:r>
                        <a:rPr lang="en-US" sz="1000" dirty="0">
                          <a:solidFill>
                            <a:srgbClr val="1F2937"/>
                          </a:solidFill>
                          <a:latin typeface="Calibri" pitchFamily="34" charset="0"/>
                          <a:ea typeface="Calibri" pitchFamily="34" charset="-122"/>
                          <a:cs typeface="Calibri" pitchFamily="34" charset="-120"/>
                        </a:rPr>
                        <a:t>Envelope reconciliation: budget against the envelope, by driver (volume, price, cost, timing)</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Excel</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Template from Maziv Finance</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extLst>
                  <a:ext uri="{0D108BD9-81ED-4DB2-BD59-A6C34878D82A}">
                    <a16:rowId xmlns:a16="http://schemas.microsoft.com/office/drawing/2014/main" val="10006"/>
                  </a:ext>
                </a:extLst>
              </a:tr>
              <a:tr h="402336">
                <a:tc>
                  <a:txBody>
                    <a:bodyPr/>
                    <a:lstStyle/>
                    <a:p>
                      <a:pPr marL="0" indent="0">
                        <a:buNone/>
                      </a:pPr>
                      <a:r>
                        <a:rPr lang="en-US" sz="800" b="1" dirty="0">
                          <a:solidFill>
                            <a:srgbClr val="7A4D87"/>
                          </a:solidFill>
                          <a:latin typeface="Calibri" pitchFamily="34" charset="0"/>
                          <a:ea typeface="Calibri" pitchFamily="34" charset="-122"/>
                          <a:cs typeface="Calibri" pitchFamily="34" charset="-120"/>
                        </a:rPr>
                        <a:t>NEW  </a:t>
                      </a:r>
                      <a:r>
                        <a:rPr lang="en-US" sz="1000" dirty="0">
                          <a:solidFill>
                            <a:srgbClr val="1F2937"/>
                          </a:solidFill>
                          <a:latin typeface="Calibri" pitchFamily="34" charset="0"/>
                          <a:ea typeface="Calibri" pitchFamily="34" charset="-122"/>
                          <a:cs typeface="Calibri" pitchFamily="34" charset="-120"/>
                        </a:rPr>
                        <a:t>Operating leverage schedule: revenue, cost base, scale and headcount, FY2027 forecast to FY2028 budget</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Excel</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Template from Maziv Finance</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02336">
                <a:tc>
                  <a:txBody>
                    <a:bodyPr/>
                    <a:lstStyle/>
                    <a:p>
                      <a:pPr marL="0" indent="0">
                        <a:buNone/>
                      </a:pPr>
                      <a:r>
                        <a:rPr lang="en-US" sz="800" b="1" dirty="0">
                          <a:solidFill>
                            <a:srgbClr val="7A4D87"/>
                          </a:solidFill>
                          <a:latin typeface="Calibri" pitchFamily="34" charset="0"/>
                          <a:ea typeface="Calibri" pitchFamily="34" charset="-122"/>
                          <a:cs typeface="Calibri" pitchFamily="34" charset="-120"/>
                        </a:rPr>
                        <a:t>NEW  </a:t>
                      </a:r>
                      <a:r>
                        <a:rPr lang="en-US" sz="1000" dirty="0">
                          <a:solidFill>
                            <a:srgbClr val="1F2937"/>
                          </a:solidFill>
                          <a:latin typeface="Calibri" pitchFamily="34" charset="0"/>
                          <a:ea typeface="Calibri" pitchFamily="34" charset="-122"/>
                          <a:cs typeface="Calibri" pitchFamily="34" charset="-120"/>
                        </a:rPr>
                        <a:t>Strategic initiative submission: imperative, revenue or volumes, capex and opex, IRR and payback</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Excel and PowerPoint</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Template from Maziv Finance</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extLst>
                  <a:ext uri="{0D108BD9-81ED-4DB2-BD59-A6C34878D82A}">
                    <a16:rowId xmlns:a16="http://schemas.microsoft.com/office/drawing/2014/main" val="10008"/>
                  </a:ext>
                </a:extLst>
              </a:tr>
              <a:tr h="402336">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Budget presentation</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PowerPoint</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Template from Maziv Finance</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402336">
                <a:tc>
                  <a:txBody>
                    <a:bodyPr/>
                    <a:lstStyle/>
                    <a:p>
                      <a:pPr marL="0" indent="0">
                        <a:buNone/>
                      </a:pPr>
                      <a:r>
                        <a:rPr lang="en-US" sz="800" b="1" dirty="0">
                          <a:solidFill>
                            <a:srgbClr val="7A4D87"/>
                          </a:solidFill>
                          <a:latin typeface="Calibri" pitchFamily="34" charset="0"/>
                          <a:ea typeface="Calibri" pitchFamily="34" charset="-122"/>
                          <a:cs typeface="Calibri" pitchFamily="34" charset="-120"/>
                        </a:rPr>
                        <a:t>NEW  </a:t>
                      </a:r>
                      <a:r>
                        <a:rPr lang="en-US" sz="1000" dirty="0">
                          <a:solidFill>
                            <a:srgbClr val="1F2937"/>
                          </a:solidFill>
                          <a:latin typeface="Calibri" pitchFamily="34" charset="0"/>
                          <a:ea typeface="Calibri" pitchFamily="34" charset="-122"/>
                          <a:cs typeface="Calibri" pitchFamily="34" charset="-120"/>
                        </a:rPr>
                        <a:t>CEO and CFO sign-off and submission checklist (slide 12)</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PDF</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Template from Maziv Finance</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extLst>
                  <a:ext uri="{0D108BD9-81ED-4DB2-BD59-A6C34878D82A}">
                    <a16:rowId xmlns:a16="http://schemas.microsoft.com/office/drawing/2014/main" val="10010"/>
                  </a:ext>
                </a:extLst>
              </a:tr>
            </a:tbl>
          </a:graphicData>
        </a:graphic>
      </p:graphicFrame>
      <p:sp>
        <p:nvSpPr>
          <p:cNvPr id="11" name="Shape 7"/>
          <p:cNvSpPr/>
          <p:nvPr/>
        </p:nvSpPr>
        <p:spPr>
          <a:xfrm>
            <a:off x="365760" y="5577840"/>
            <a:ext cx="11460175" cy="731520"/>
          </a:xfrm>
          <a:prstGeom prst="rect">
            <a:avLst/>
          </a:prstGeom>
          <a:solidFill>
            <a:srgbClr val="F4ECF7"/>
          </a:solidFill>
          <a:ln/>
        </p:spPr>
        <p:txBody>
          <a:bodyPr/>
          <a:lstStyle/>
          <a:p>
            <a:endParaRPr lang="en-ZA"/>
          </a:p>
        </p:txBody>
      </p:sp>
      <p:sp>
        <p:nvSpPr>
          <p:cNvPr id="12" name="Shape 8"/>
          <p:cNvSpPr/>
          <p:nvPr/>
        </p:nvSpPr>
        <p:spPr>
          <a:xfrm>
            <a:off x="365760" y="5577840"/>
            <a:ext cx="54864" cy="731520"/>
          </a:xfrm>
          <a:prstGeom prst="rect">
            <a:avLst/>
          </a:prstGeom>
          <a:solidFill>
            <a:srgbClr val="C09CCD"/>
          </a:solidFill>
          <a:ln/>
        </p:spPr>
        <p:txBody>
          <a:bodyPr/>
          <a:lstStyle/>
          <a:p>
            <a:endParaRPr lang="en-ZA"/>
          </a:p>
        </p:txBody>
      </p:sp>
      <p:sp>
        <p:nvSpPr>
          <p:cNvPr id="13" name="Text 9"/>
          <p:cNvSpPr/>
          <p:nvPr/>
        </p:nvSpPr>
        <p:spPr>
          <a:xfrm>
            <a:off x="530352" y="5650992"/>
            <a:ext cx="11167567" cy="228600"/>
          </a:xfrm>
          <a:prstGeom prst="rect">
            <a:avLst/>
          </a:prstGeom>
          <a:noFill/>
          <a:ln/>
        </p:spPr>
        <p:txBody>
          <a:bodyPr wrap="square" rtlCol="0" anchor="ctr"/>
          <a:lstStyle/>
          <a:p>
            <a:pPr marL="0" indent="0">
              <a:buNone/>
            </a:pPr>
            <a:r>
              <a:rPr lang="en-US" sz="1000" b="1" i="1" dirty="0">
                <a:solidFill>
                  <a:srgbClr val="7A4D87"/>
                </a:solidFill>
                <a:latin typeface="Calibri" pitchFamily="34" charset="0"/>
                <a:ea typeface="Calibri" pitchFamily="34" charset="-122"/>
                <a:cs typeface="Calibri" pitchFamily="34" charset="-120"/>
              </a:rPr>
              <a:t>FINNIVO</a:t>
            </a:r>
            <a:endParaRPr lang="en-US" sz="1000" dirty="0"/>
          </a:p>
        </p:txBody>
      </p:sp>
      <p:sp>
        <p:nvSpPr>
          <p:cNvPr id="14" name="Text 10"/>
          <p:cNvSpPr/>
          <p:nvPr/>
        </p:nvSpPr>
        <p:spPr>
          <a:xfrm>
            <a:off x="530352" y="5870448"/>
            <a:ext cx="11167567" cy="365760"/>
          </a:xfrm>
          <a:prstGeom prst="rect">
            <a:avLst/>
          </a:prstGeom>
          <a:noFill/>
          <a:ln/>
        </p:spPr>
        <p:txBody>
          <a:bodyPr wrap="square" rtlCol="0" anchor="t"/>
          <a:lstStyle/>
          <a:p>
            <a:pPr marL="0" indent="0">
              <a:buNone/>
            </a:pPr>
            <a:r>
              <a:rPr lang="en-US" sz="1100" dirty="0">
                <a:solidFill>
                  <a:srgbClr val="1F2937"/>
                </a:solidFill>
                <a:latin typeface="Calibri" pitchFamily="34" charset="0"/>
                <a:ea typeface="Calibri" pitchFamily="34" charset="-122"/>
                <a:cs typeface="Calibri" pitchFamily="34" charset="-120"/>
              </a:rPr>
              <a:t>Maziv Finance manages Finnivo. Send all Finnivo queries to Chandre Duvenhage (chandre.duvenhage@maziv.com). The Finnivo model and the Excel schedules must agree before you submit.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461B55"/>
          </a:solidFill>
          <a:ln/>
        </p:spPr>
        <p:txBody>
          <a:bodyPr/>
          <a:lstStyle/>
          <a:p>
            <a:endParaRPr lang="en-ZA"/>
          </a:p>
        </p:txBody>
      </p:sp>
      <p:sp>
        <p:nvSpPr>
          <p:cNvPr id="3" name="Shape 1"/>
          <p:cNvSpPr/>
          <p:nvPr/>
        </p:nvSpPr>
        <p:spPr>
          <a:xfrm>
            <a:off x="0" y="548640"/>
            <a:ext cx="12191695" cy="36576"/>
          </a:xfrm>
          <a:prstGeom prst="rect">
            <a:avLst/>
          </a:prstGeom>
          <a:solidFill>
            <a:srgbClr val="C09CCD"/>
          </a:solidFill>
          <a:ln/>
        </p:spPr>
        <p:txBody>
          <a:bodyPr/>
          <a:lstStyle/>
          <a:p>
            <a:endParaRPr lang="en-ZA"/>
          </a:p>
        </p:txBody>
      </p:sp>
      <p:sp>
        <p:nvSpPr>
          <p:cNvPr id="4" name="Text 2"/>
          <p:cNvSpPr/>
          <p:nvPr/>
        </p:nvSpPr>
        <p:spPr>
          <a:xfrm>
            <a:off x="365760" y="73152"/>
            <a:ext cx="9144000" cy="41148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Minimum Content of Every Budget</a:t>
            </a:r>
            <a:endParaRPr lang="en-US" sz="2400" dirty="0"/>
          </a:p>
        </p:txBody>
      </p:sp>
      <p:sp>
        <p:nvSpPr>
          <p:cNvPr id="5" name="Text 3"/>
          <p:cNvSpPr/>
          <p:nvPr/>
        </p:nvSpPr>
        <p:spPr>
          <a:xfrm>
            <a:off x="9601200" y="73152"/>
            <a:ext cx="2377440" cy="411480"/>
          </a:xfrm>
          <a:prstGeom prst="rect">
            <a:avLst/>
          </a:prstGeom>
          <a:noFill/>
          <a:ln/>
        </p:spPr>
        <p:txBody>
          <a:bodyPr wrap="square" rtlCol="0" anchor="ctr"/>
          <a:lstStyle/>
          <a:p>
            <a:pPr marL="0" indent="0" algn="r">
              <a:buNone/>
            </a:pPr>
            <a:r>
              <a:rPr lang="en-US" sz="1100" dirty="0">
                <a:solidFill>
                  <a:srgbClr val="FFFFFF">
                    <a:alpha val="70000"/>
                  </a:srgbClr>
                </a:solidFill>
                <a:latin typeface="Calibri" pitchFamily="34" charset="0"/>
                <a:ea typeface="Calibri" pitchFamily="34" charset="-122"/>
                <a:cs typeface="Calibri" pitchFamily="34" charset="-120"/>
              </a:rPr>
              <a:t>CONTENT REQUIREMENTS</a:t>
            </a:r>
            <a:endParaRPr lang="en-US" sz="1100" dirty="0"/>
          </a:p>
        </p:txBody>
      </p:sp>
      <p:sp>
        <p:nvSpPr>
          <p:cNvPr id="6" name="Shape 4"/>
          <p:cNvSpPr/>
          <p:nvPr/>
        </p:nvSpPr>
        <p:spPr>
          <a:xfrm>
            <a:off x="365760" y="6455664"/>
            <a:ext cx="11460175" cy="10973"/>
          </a:xfrm>
          <a:prstGeom prst="rect">
            <a:avLst/>
          </a:prstGeom>
          <a:solidFill>
            <a:srgbClr val="D1D1D1"/>
          </a:solidFill>
          <a:ln/>
        </p:spPr>
        <p:txBody>
          <a:bodyPr/>
          <a:lstStyle/>
          <a:p>
            <a:endParaRPr lang="en-ZA"/>
          </a:p>
        </p:txBody>
      </p:sp>
      <p:sp>
        <p:nvSpPr>
          <p:cNvPr id="7" name="Text 5"/>
          <p:cNvSpPr/>
          <p:nvPr/>
        </p:nvSpPr>
        <p:spPr>
          <a:xfrm>
            <a:off x="365760" y="6492240"/>
            <a:ext cx="6400800" cy="256032"/>
          </a:xfrm>
          <a:prstGeom prst="rect">
            <a:avLst/>
          </a:prstGeom>
          <a:noFill/>
          <a:ln/>
        </p:spPr>
        <p:txBody>
          <a:bodyPr wrap="square" rtlCol="0" anchor="ctr"/>
          <a:lstStyle/>
          <a:p>
            <a:pPr marL="0" indent="0">
              <a:buNone/>
            </a:pPr>
            <a:r>
              <a:rPr lang="en-US" sz="900" i="1" dirty="0">
                <a:solidFill>
                  <a:srgbClr val="747474"/>
                </a:solidFill>
                <a:latin typeface="Calibri" pitchFamily="34" charset="0"/>
                <a:ea typeface="Calibri" pitchFamily="34" charset="-122"/>
                <a:cs typeface="Calibri" pitchFamily="34" charset="-120"/>
              </a:rPr>
              <a:t>Maziv Group  •  FY2028 Budget Instructions  •  Strictly confidential</a:t>
            </a:r>
            <a:endParaRPr lang="en-US" sz="900" dirty="0"/>
          </a:p>
        </p:txBody>
      </p:sp>
      <p:sp>
        <p:nvSpPr>
          <p:cNvPr id="8" name="Text 6"/>
          <p:cNvSpPr/>
          <p:nvPr/>
        </p:nvSpPr>
        <p:spPr>
          <a:xfrm>
            <a:off x="6949440" y="6492240"/>
            <a:ext cx="3200400" cy="256032"/>
          </a:xfrm>
          <a:prstGeom prst="rect">
            <a:avLst/>
          </a:prstGeom>
          <a:noFill/>
          <a:ln/>
        </p:spPr>
        <p:txBody>
          <a:bodyPr wrap="square" rtlCol="0" anchor="ctr"/>
          <a:lstStyle/>
          <a:p>
            <a:pPr marL="0" indent="0" algn="r">
              <a:buNone/>
            </a:pPr>
            <a:r>
              <a:rPr lang="en-US" sz="900" dirty="0">
                <a:solidFill>
                  <a:srgbClr val="747474"/>
                </a:solidFill>
                <a:latin typeface="Calibri" pitchFamily="34" charset="0"/>
                <a:ea typeface="Calibri" pitchFamily="34" charset="-122"/>
                <a:cs typeface="Calibri" pitchFamily="34" charset="-120"/>
              </a:rPr>
              <a:t>CONTENT REQUIREMENTS  •  9 / 13</a:t>
            </a:r>
            <a:endParaRPr lang="en-US" sz="900" dirty="0"/>
          </a:p>
        </p:txBody>
      </p:sp>
      <p:pic>
        <p:nvPicPr>
          <p:cNvPr id="9" name="Image 0" descr="maziv_logo_transparent.png"/>
          <p:cNvPicPr>
            <a:picLocks noChangeAspect="1"/>
          </p:cNvPicPr>
          <p:nvPr/>
        </p:nvPicPr>
        <p:blipFill>
          <a:blip r:embed="rId3"/>
          <a:stretch>
            <a:fillRect/>
          </a:stretch>
        </p:blipFill>
        <p:spPr>
          <a:xfrm>
            <a:off x="11005170" y="6519672"/>
            <a:ext cx="820765" cy="146304"/>
          </a:xfrm>
          <a:prstGeom prst="rect">
            <a:avLst/>
          </a:prstGeom>
        </p:spPr>
      </p:pic>
      <p:sp>
        <p:nvSpPr>
          <p:cNvPr id="10" name="Shape 7"/>
          <p:cNvSpPr/>
          <p:nvPr/>
        </p:nvSpPr>
        <p:spPr>
          <a:xfrm>
            <a:off x="365760" y="804672"/>
            <a:ext cx="3667658" cy="2651760"/>
          </a:xfrm>
          <a:prstGeom prst="rect">
            <a:avLst/>
          </a:prstGeom>
          <a:solidFill>
            <a:srgbClr val="FFFFFF"/>
          </a:solidFill>
          <a:ln w="12700">
            <a:solidFill>
              <a:srgbClr val="D1D1D1"/>
            </a:solidFill>
            <a:prstDash val="solid"/>
          </a:ln>
        </p:spPr>
        <p:txBody>
          <a:bodyPr/>
          <a:lstStyle/>
          <a:p>
            <a:endParaRPr lang="en-ZA"/>
          </a:p>
        </p:txBody>
      </p:sp>
      <p:sp>
        <p:nvSpPr>
          <p:cNvPr id="11" name="Shape 8"/>
          <p:cNvSpPr/>
          <p:nvPr/>
        </p:nvSpPr>
        <p:spPr>
          <a:xfrm>
            <a:off x="365760" y="804672"/>
            <a:ext cx="3667658" cy="27432"/>
          </a:xfrm>
          <a:prstGeom prst="rect">
            <a:avLst/>
          </a:prstGeom>
          <a:solidFill>
            <a:srgbClr val="C09CCD"/>
          </a:solidFill>
          <a:ln/>
        </p:spPr>
        <p:txBody>
          <a:bodyPr/>
          <a:lstStyle/>
          <a:p>
            <a:endParaRPr lang="en-ZA"/>
          </a:p>
        </p:txBody>
      </p:sp>
      <p:sp>
        <p:nvSpPr>
          <p:cNvPr id="12" name="Text 9"/>
          <p:cNvSpPr/>
          <p:nvPr/>
        </p:nvSpPr>
        <p:spPr>
          <a:xfrm>
            <a:off x="502920" y="896112"/>
            <a:ext cx="3393338" cy="292608"/>
          </a:xfrm>
          <a:prstGeom prst="rect">
            <a:avLst/>
          </a:prstGeom>
          <a:noFill/>
          <a:ln/>
        </p:spPr>
        <p:txBody>
          <a:bodyPr wrap="square" rtlCol="0" anchor="ctr"/>
          <a:lstStyle/>
          <a:p>
            <a:pPr marL="0" indent="0">
              <a:buNone/>
            </a:pPr>
            <a:r>
              <a:rPr lang="en-US" sz="1200" b="1" dirty="0">
                <a:solidFill>
                  <a:srgbClr val="461B55"/>
                </a:solidFill>
                <a:latin typeface="Calibri" pitchFamily="34" charset="0"/>
                <a:ea typeface="Calibri" pitchFamily="34" charset="-122"/>
                <a:cs typeface="Calibri" pitchFamily="34" charset="-120"/>
              </a:rPr>
              <a:t>Financial statements</a:t>
            </a:r>
            <a:endParaRPr lang="en-US" sz="1200" dirty="0"/>
          </a:p>
        </p:txBody>
      </p:sp>
      <p:sp>
        <p:nvSpPr>
          <p:cNvPr id="13" name="Text 10"/>
          <p:cNvSpPr/>
          <p:nvPr/>
        </p:nvSpPr>
        <p:spPr>
          <a:xfrm>
            <a:off x="502920" y="1216152"/>
            <a:ext cx="3393338" cy="2148840"/>
          </a:xfrm>
          <a:prstGeom prst="rect">
            <a:avLst/>
          </a:prstGeom>
          <a:noFill/>
          <a:ln/>
        </p:spPr>
        <p:txBody>
          <a:bodyPr wrap="square" rtlCol="0" anchor="t"/>
          <a:lstStyle/>
          <a:p>
            <a:pPr marL="152400" indent="-1524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Monthly income statement, balance sheet and cash flow for FY2028.</a:t>
            </a:r>
            <a:endParaRPr lang="en-US" sz="1050" dirty="0"/>
          </a:p>
          <a:p>
            <a:pPr marL="152400" indent="-1524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FY2029 onwards in the 10-year monthly model (slide 8).</a:t>
            </a:r>
            <a:endParaRPr lang="en-US" sz="1050" dirty="0"/>
          </a:p>
          <a:p>
            <a:pPr marL="152400" indent="-1524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Balance sheet balances every month; cash flow reconciles to balance sheet movements.</a:t>
            </a:r>
            <a:endParaRPr lang="en-US" sz="1050" dirty="0"/>
          </a:p>
          <a:p>
            <a:pPr marL="152400" indent="-1524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Opening balance sheet per the Group assumptions (slide 10).</a:t>
            </a:r>
            <a:endParaRPr lang="en-US" sz="1050" dirty="0"/>
          </a:p>
        </p:txBody>
      </p:sp>
      <p:sp>
        <p:nvSpPr>
          <p:cNvPr id="14" name="Shape 11"/>
          <p:cNvSpPr/>
          <p:nvPr/>
        </p:nvSpPr>
        <p:spPr>
          <a:xfrm>
            <a:off x="4262018" y="804672"/>
            <a:ext cx="3667658" cy="2651760"/>
          </a:xfrm>
          <a:prstGeom prst="rect">
            <a:avLst/>
          </a:prstGeom>
          <a:solidFill>
            <a:srgbClr val="FFFFFF"/>
          </a:solidFill>
          <a:ln w="12700">
            <a:solidFill>
              <a:srgbClr val="D1D1D1"/>
            </a:solidFill>
            <a:prstDash val="solid"/>
          </a:ln>
        </p:spPr>
        <p:txBody>
          <a:bodyPr/>
          <a:lstStyle/>
          <a:p>
            <a:endParaRPr lang="en-ZA"/>
          </a:p>
        </p:txBody>
      </p:sp>
      <p:sp>
        <p:nvSpPr>
          <p:cNvPr id="15" name="Shape 12"/>
          <p:cNvSpPr/>
          <p:nvPr/>
        </p:nvSpPr>
        <p:spPr>
          <a:xfrm>
            <a:off x="4262018" y="804672"/>
            <a:ext cx="3667658" cy="27432"/>
          </a:xfrm>
          <a:prstGeom prst="rect">
            <a:avLst/>
          </a:prstGeom>
          <a:solidFill>
            <a:srgbClr val="C09CCD"/>
          </a:solidFill>
          <a:ln/>
        </p:spPr>
        <p:txBody>
          <a:bodyPr/>
          <a:lstStyle/>
          <a:p>
            <a:endParaRPr lang="en-ZA"/>
          </a:p>
        </p:txBody>
      </p:sp>
      <p:sp>
        <p:nvSpPr>
          <p:cNvPr id="16" name="Text 13"/>
          <p:cNvSpPr/>
          <p:nvPr/>
        </p:nvSpPr>
        <p:spPr>
          <a:xfrm>
            <a:off x="4399178" y="896112"/>
            <a:ext cx="3393338" cy="292608"/>
          </a:xfrm>
          <a:prstGeom prst="rect">
            <a:avLst/>
          </a:prstGeom>
          <a:noFill/>
          <a:ln/>
        </p:spPr>
        <p:txBody>
          <a:bodyPr wrap="square" rtlCol="0" anchor="ctr"/>
          <a:lstStyle/>
          <a:p>
            <a:pPr marL="0" indent="0">
              <a:buNone/>
            </a:pPr>
            <a:r>
              <a:rPr lang="en-US" sz="1200" b="1" dirty="0">
                <a:solidFill>
                  <a:srgbClr val="461B55"/>
                </a:solidFill>
                <a:latin typeface="Calibri" pitchFamily="34" charset="0"/>
                <a:ea typeface="Calibri" pitchFamily="34" charset="-122"/>
                <a:cs typeface="Calibri" pitchFamily="34" charset="-120"/>
              </a:rPr>
              <a:t>Revenue and unit economics</a:t>
            </a:r>
            <a:endParaRPr lang="en-US" sz="1200" dirty="0"/>
          </a:p>
        </p:txBody>
      </p:sp>
      <p:sp>
        <p:nvSpPr>
          <p:cNvPr id="17" name="Text 14"/>
          <p:cNvSpPr/>
          <p:nvPr/>
        </p:nvSpPr>
        <p:spPr>
          <a:xfrm>
            <a:off x="4399178" y="1216152"/>
            <a:ext cx="3393338" cy="2148840"/>
          </a:xfrm>
          <a:prstGeom prst="rect">
            <a:avLst/>
          </a:prstGeom>
          <a:noFill/>
          <a:ln/>
        </p:spPr>
        <p:txBody>
          <a:bodyPr wrap="square" rtlCol="0" anchor="t"/>
          <a:lstStyle/>
          <a:p>
            <a:pPr marL="152400" indent="-1524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Network volumes: homes passed, active connections or links, by month.</a:t>
            </a:r>
            <a:endParaRPr lang="en-US" sz="1050" dirty="0"/>
          </a:p>
          <a:p>
            <a:pPr marL="152400" indent="-1524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Take-up, ARPU or price, and churn, with price changes by product and effective month.</a:t>
            </a:r>
            <a:endParaRPr lang="en-US" sz="1050" dirty="0"/>
          </a:p>
          <a:p>
            <a:pPr marL="152400" indent="-1524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Revenue by product and customer segment against the FY2027 forecast.</a:t>
            </a:r>
            <a:endParaRPr lang="en-US" sz="1050" dirty="0"/>
          </a:p>
        </p:txBody>
      </p:sp>
      <p:sp>
        <p:nvSpPr>
          <p:cNvPr id="18" name="Shape 15"/>
          <p:cNvSpPr/>
          <p:nvPr/>
        </p:nvSpPr>
        <p:spPr>
          <a:xfrm>
            <a:off x="8158277" y="804672"/>
            <a:ext cx="3667658" cy="2651760"/>
          </a:xfrm>
          <a:prstGeom prst="rect">
            <a:avLst/>
          </a:prstGeom>
          <a:solidFill>
            <a:srgbClr val="FFFFFF"/>
          </a:solidFill>
          <a:ln w="12700">
            <a:solidFill>
              <a:srgbClr val="D1D1D1"/>
            </a:solidFill>
            <a:prstDash val="solid"/>
          </a:ln>
        </p:spPr>
        <p:txBody>
          <a:bodyPr/>
          <a:lstStyle/>
          <a:p>
            <a:endParaRPr lang="en-ZA"/>
          </a:p>
        </p:txBody>
      </p:sp>
      <p:sp>
        <p:nvSpPr>
          <p:cNvPr id="19" name="Shape 16"/>
          <p:cNvSpPr/>
          <p:nvPr/>
        </p:nvSpPr>
        <p:spPr>
          <a:xfrm>
            <a:off x="8158277" y="804672"/>
            <a:ext cx="3667658" cy="27432"/>
          </a:xfrm>
          <a:prstGeom prst="rect">
            <a:avLst/>
          </a:prstGeom>
          <a:solidFill>
            <a:srgbClr val="C09CCD"/>
          </a:solidFill>
          <a:ln/>
        </p:spPr>
        <p:txBody>
          <a:bodyPr/>
          <a:lstStyle/>
          <a:p>
            <a:endParaRPr lang="en-ZA"/>
          </a:p>
        </p:txBody>
      </p:sp>
      <p:sp>
        <p:nvSpPr>
          <p:cNvPr id="20" name="Text 17"/>
          <p:cNvSpPr/>
          <p:nvPr/>
        </p:nvSpPr>
        <p:spPr>
          <a:xfrm>
            <a:off x="8295437" y="896112"/>
            <a:ext cx="3393338" cy="292608"/>
          </a:xfrm>
          <a:prstGeom prst="rect">
            <a:avLst/>
          </a:prstGeom>
          <a:noFill/>
          <a:ln/>
        </p:spPr>
        <p:txBody>
          <a:bodyPr wrap="square" rtlCol="0" anchor="ctr"/>
          <a:lstStyle/>
          <a:p>
            <a:pPr marL="0" indent="0">
              <a:buNone/>
            </a:pPr>
            <a:r>
              <a:rPr lang="en-US" sz="1200" b="1" dirty="0">
                <a:solidFill>
                  <a:srgbClr val="461B55"/>
                </a:solidFill>
                <a:latin typeface="Calibri" pitchFamily="34" charset="0"/>
                <a:ea typeface="Calibri" pitchFamily="34" charset="-122"/>
                <a:cs typeface="Calibri" pitchFamily="34" charset="-120"/>
              </a:rPr>
              <a:t>Operating costs and headcount</a:t>
            </a:r>
            <a:endParaRPr lang="en-US" sz="1200" dirty="0"/>
          </a:p>
        </p:txBody>
      </p:sp>
      <p:sp>
        <p:nvSpPr>
          <p:cNvPr id="21" name="Text 18"/>
          <p:cNvSpPr/>
          <p:nvPr/>
        </p:nvSpPr>
        <p:spPr>
          <a:xfrm>
            <a:off x="8295437" y="1216152"/>
            <a:ext cx="3393338" cy="2148840"/>
          </a:xfrm>
          <a:prstGeom prst="rect">
            <a:avLst/>
          </a:prstGeom>
          <a:noFill/>
          <a:ln/>
        </p:spPr>
        <p:txBody>
          <a:bodyPr wrap="square" rtlCol="0" anchor="t"/>
          <a:lstStyle/>
          <a:p>
            <a:pPr marL="152400" indent="-1524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Costs by line, against the FY2027 forecast.</a:t>
            </a:r>
            <a:endParaRPr lang="en-US" sz="1050" dirty="0"/>
          </a:p>
          <a:p>
            <a:pPr marL="152400" indent="-1524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Every line that grows above CPI explained.</a:t>
            </a:r>
            <a:endParaRPr lang="en-US" sz="1050" dirty="0"/>
          </a:p>
          <a:p>
            <a:pPr marL="152400" indent="-1524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Headcount by department and month; vacancies and new roles shown separately.</a:t>
            </a:r>
            <a:endParaRPr lang="en-US" sz="1050" dirty="0"/>
          </a:p>
          <a:p>
            <a:pPr marL="152400" indent="-1524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Capitalised labour shown separately from opex.</a:t>
            </a:r>
            <a:endParaRPr lang="en-US" sz="1050" dirty="0"/>
          </a:p>
        </p:txBody>
      </p:sp>
      <p:sp>
        <p:nvSpPr>
          <p:cNvPr id="22" name="Shape 19"/>
          <p:cNvSpPr/>
          <p:nvPr/>
        </p:nvSpPr>
        <p:spPr>
          <a:xfrm>
            <a:off x="365760" y="3639312"/>
            <a:ext cx="3667658" cy="2651760"/>
          </a:xfrm>
          <a:prstGeom prst="rect">
            <a:avLst/>
          </a:prstGeom>
          <a:solidFill>
            <a:srgbClr val="FFFFFF"/>
          </a:solidFill>
          <a:ln w="12700">
            <a:solidFill>
              <a:srgbClr val="D1D1D1"/>
            </a:solidFill>
            <a:prstDash val="solid"/>
          </a:ln>
        </p:spPr>
        <p:txBody>
          <a:bodyPr/>
          <a:lstStyle/>
          <a:p>
            <a:endParaRPr lang="en-ZA"/>
          </a:p>
        </p:txBody>
      </p:sp>
      <p:sp>
        <p:nvSpPr>
          <p:cNvPr id="23" name="Shape 20"/>
          <p:cNvSpPr/>
          <p:nvPr/>
        </p:nvSpPr>
        <p:spPr>
          <a:xfrm>
            <a:off x="365760" y="3639312"/>
            <a:ext cx="3667658" cy="27432"/>
          </a:xfrm>
          <a:prstGeom prst="rect">
            <a:avLst/>
          </a:prstGeom>
          <a:solidFill>
            <a:srgbClr val="C09CCD"/>
          </a:solidFill>
          <a:ln/>
        </p:spPr>
        <p:txBody>
          <a:bodyPr/>
          <a:lstStyle/>
          <a:p>
            <a:endParaRPr lang="en-ZA"/>
          </a:p>
        </p:txBody>
      </p:sp>
      <p:sp>
        <p:nvSpPr>
          <p:cNvPr id="24" name="Text 21"/>
          <p:cNvSpPr/>
          <p:nvPr/>
        </p:nvSpPr>
        <p:spPr>
          <a:xfrm>
            <a:off x="502920" y="3730752"/>
            <a:ext cx="3393338" cy="292608"/>
          </a:xfrm>
          <a:prstGeom prst="rect">
            <a:avLst/>
          </a:prstGeom>
          <a:noFill/>
          <a:ln/>
        </p:spPr>
        <p:txBody>
          <a:bodyPr wrap="square" rtlCol="0" anchor="ctr"/>
          <a:lstStyle/>
          <a:p>
            <a:pPr marL="0" indent="0">
              <a:buNone/>
            </a:pPr>
            <a:r>
              <a:rPr lang="en-US" sz="1200" b="1" dirty="0">
                <a:solidFill>
                  <a:srgbClr val="461B55"/>
                </a:solidFill>
                <a:latin typeface="Calibri" pitchFamily="34" charset="0"/>
                <a:ea typeface="Calibri" pitchFamily="34" charset="-122"/>
                <a:cs typeface="Calibri" pitchFamily="34" charset="-120"/>
              </a:rPr>
              <a:t>Capex</a:t>
            </a:r>
            <a:endParaRPr lang="en-US" sz="1200" dirty="0"/>
          </a:p>
        </p:txBody>
      </p:sp>
      <p:sp>
        <p:nvSpPr>
          <p:cNvPr id="25" name="Text 22"/>
          <p:cNvSpPr/>
          <p:nvPr/>
        </p:nvSpPr>
        <p:spPr>
          <a:xfrm>
            <a:off x="502920" y="4050792"/>
            <a:ext cx="3393338" cy="2148840"/>
          </a:xfrm>
          <a:prstGeom prst="rect">
            <a:avLst/>
          </a:prstGeom>
          <a:noFill/>
          <a:ln/>
        </p:spPr>
        <p:txBody>
          <a:bodyPr wrap="square" rtlCol="0" anchor="t"/>
          <a:lstStyle/>
          <a:p>
            <a:pPr marL="152400" indent="-1524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By project and category: growth, maintenance, strategic.</a:t>
            </a:r>
            <a:endParaRPr lang="en-US" sz="1050" dirty="0"/>
          </a:p>
          <a:p>
            <a:pPr marL="152400" indent="-1524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Committed and uncommitted spend, phased by month.</a:t>
            </a:r>
            <a:endParaRPr lang="en-US" sz="1050" dirty="0"/>
          </a:p>
          <a:p>
            <a:pPr marL="152400" indent="-1524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Linked to the volumes it delivers.</a:t>
            </a:r>
            <a:endParaRPr lang="en-US" sz="1050" dirty="0"/>
          </a:p>
          <a:p>
            <a:pPr marL="152400" indent="-1524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IC approves FY2028 capex on Tue 16 Mar 2027.</a:t>
            </a:r>
            <a:endParaRPr lang="en-US" sz="1050" dirty="0"/>
          </a:p>
        </p:txBody>
      </p:sp>
      <p:sp>
        <p:nvSpPr>
          <p:cNvPr id="26" name="Shape 23"/>
          <p:cNvSpPr/>
          <p:nvPr/>
        </p:nvSpPr>
        <p:spPr>
          <a:xfrm>
            <a:off x="4262018" y="3639312"/>
            <a:ext cx="3667658" cy="2651760"/>
          </a:xfrm>
          <a:prstGeom prst="rect">
            <a:avLst/>
          </a:prstGeom>
          <a:solidFill>
            <a:srgbClr val="FFFFFF"/>
          </a:solidFill>
          <a:ln w="12700">
            <a:solidFill>
              <a:srgbClr val="D1D1D1"/>
            </a:solidFill>
            <a:prstDash val="solid"/>
          </a:ln>
        </p:spPr>
        <p:txBody>
          <a:bodyPr/>
          <a:lstStyle/>
          <a:p>
            <a:endParaRPr lang="en-ZA"/>
          </a:p>
        </p:txBody>
      </p:sp>
      <p:sp>
        <p:nvSpPr>
          <p:cNvPr id="27" name="Shape 24"/>
          <p:cNvSpPr/>
          <p:nvPr/>
        </p:nvSpPr>
        <p:spPr>
          <a:xfrm>
            <a:off x="4262018" y="3639312"/>
            <a:ext cx="3667658" cy="27432"/>
          </a:xfrm>
          <a:prstGeom prst="rect">
            <a:avLst/>
          </a:prstGeom>
          <a:solidFill>
            <a:srgbClr val="C09CCD"/>
          </a:solidFill>
          <a:ln/>
        </p:spPr>
        <p:txBody>
          <a:bodyPr/>
          <a:lstStyle/>
          <a:p>
            <a:endParaRPr lang="en-ZA"/>
          </a:p>
        </p:txBody>
      </p:sp>
      <p:sp>
        <p:nvSpPr>
          <p:cNvPr id="28" name="Text 25"/>
          <p:cNvSpPr/>
          <p:nvPr/>
        </p:nvSpPr>
        <p:spPr>
          <a:xfrm>
            <a:off x="4399178" y="3730752"/>
            <a:ext cx="3393338" cy="292608"/>
          </a:xfrm>
          <a:prstGeom prst="rect">
            <a:avLst/>
          </a:prstGeom>
          <a:noFill/>
          <a:ln/>
        </p:spPr>
        <p:txBody>
          <a:bodyPr wrap="square" rtlCol="0" anchor="ctr"/>
          <a:lstStyle/>
          <a:p>
            <a:pPr marL="0" indent="0">
              <a:buNone/>
            </a:pPr>
            <a:r>
              <a:rPr lang="en-US" sz="1200" b="1" dirty="0">
                <a:solidFill>
                  <a:srgbClr val="461B55"/>
                </a:solidFill>
                <a:latin typeface="Calibri" pitchFamily="34" charset="0"/>
                <a:ea typeface="Calibri" pitchFamily="34" charset="-122"/>
                <a:cs typeface="Calibri" pitchFamily="34" charset="-120"/>
              </a:rPr>
              <a:t>Funding, working capital and tax</a:t>
            </a:r>
            <a:endParaRPr lang="en-US" sz="1200" dirty="0"/>
          </a:p>
        </p:txBody>
      </p:sp>
      <p:sp>
        <p:nvSpPr>
          <p:cNvPr id="29" name="Text 26"/>
          <p:cNvSpPr/>
          <p:nvPr/>
        </p:nvSpPr>
        <p:spPr>
          <a:xfrm>
            <a:off x="4399178" y="4050792"/>
            <a:ext cx="3393338" cy="2148840"/>
          </a:xfrm>
          <a:prstGeom prst="rect">
            <a:avLst/>
          </a:prstGeom>
          <a:noFill/>
          <a:ln/>
        </p:spPr>
        <p:txBody>
          <a:bodyPr wrap="square" rtlCol="0" anchor="t"/>
          <a:lstStyle/>
          <a:p>
            <a:pPr marL="152400" indent="-1524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Debtor and creditor days, and other working capital drivers.</a:t>
            </a:r>
            <a:endParaRPr lang="en-US" sz="1050" dirty="0"/>
          </a:p>
          <a:p>
            <a:pPr marL="152400" indent="-1524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Debt draws, repayments and interest at the Group covenant cost.</a:t>
            </a:r>
            <a:endParaRPr lang="en-US" sz="1050" dirty="0"/>
          </a:p>
          <a:p>
            <a:pPr marL="152400" indent="-1524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Covenant headroom where the entity carries debt.</a:t>
            </a:r>
            <a:endParaRPr lang="en-US" sz="1050" dirty="0"/>
          </a:p>
          <a:p>
            <a:pPr marL="152400" indent="-1524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Tax accrued monthly; cash tax in the correct provisional periods.</a:t>
            </a:r>
            <a:endParaRPr lang="en-US" sz="1050" dirty="0"/>
          </a:p>
        </p:txBody>
      </p:sp>
      <p:sp>
        <p:nvSpPr>
          <p:cNvPr id="30" name="Shape 27"/>
          <p:cNvSpPr/>
          <p:nvPr/>
        </p:nvSpPr>
        <p:spPr>
          <a:xfrm>
            <a:off x="8158277" y="3639312"/>
            <a:ext cx="3667658" cy="2651760"/>
          </a:xfrm>
          <a:prstGeom prst="rect">
            <a:avLst/>
          </a:prstGeom>
          <a:solidFill>
            <a:srgbClr val="FFFFFF"/>
          </a:solidFill>
          <a:ln w="12700">
            <a:solidFill>
              <a:srgbClr val="D1D1D1"/>
            </a:solidFill>
            <a:prstDash val="solid"/>
          </a:ln>
        </p:spPr>
        <p:txBody>
          <a:bodyPr/>
          <a:lstStyle/>
          <a:p>
            <a:endParaRPr lang="en-ZA"/>
          </a:p>
        </p:txBody>
      </p:sp>
      <p:sp>
        <p:nvSpPr>
          <p:cNvPr id="31" name="Shape 28"/>
          <p:cNvSpPr/>
          <p:nvPr/>
        </p:nvSpPr>
        <p:spPr>
          <a:xfrm>
            <a:off x="8158277" y="3639312"/>
            <a:ext cx="3667658" cy="27432"/>
          </a:xfrm>
          <a:prstGeom prst="rect">
            <a:avLst/>
          </a:prstGeom>
          <a:solidFill>
            <a:srgbClr val="C09CCD"/>
          </a:solidFill>
          <a:ln/>
        </p:spPr>
        <p:txBody>
          <a:bodyPr/>
          <a:lstStyle/>
          <a:p>
            <a:endParaRPr lang="en-ZA"/>
          </a:p>
        </p:txBody>
      </p:sp>
      <p:sp>
        <p:nvSpPr>
          <p:cNvPr id="32" name="Text 29"/>
          <p:cNvSpPr/>
          <p:nvPr/>
        </p:nvSpPr>
        <p:spPr>
          <a:xfrm>
            <a:off x="8295437" y="3730752"/>
            <a:ext cx="3393338" cy="292608"/>
          </a:xfrm>
          <a:prstGeom prst="rect">
            <a:avLst/>
          </a:prstGeom>
          <a:noFill/>
          <a:ln/>
        </p:spPr>
        <p:txBody>
          <a:bodyPr wrap="square" rtlCol="0" anchor="ctr"/>
          <a:lstStyle/>
          <a:p>
            <a:pPr marL="0" indent="0">
              <a:buNone/>
            </a:pPr>
            <a:r>
              <a:rPr lang="en-US" sz="1200" b="1" dirty="0">
                <a:solidFill>
                  <a:srgbClr val="461B55"/>
                </a:solidFill>
                <a:latin typeface="Calibri" pitchFamily="34" charset="0"/>
                <a:ea typeface="Calibri" pitchFamily="34" charset="-122"/>
                <a:cs typeface="Calibri" pitchFamily="34" charset="-120"/>
              </a:rPr>
              <a:t>Risks, opportunities and sensitivities</a:t>
            </a:r>
            <a:endParaRPr lang="en-US" sz="1200" dirty="0"/>
          </a:p>
        </p:txBody>
      </p:sp>
      <p:sp>
        <p:nvSpPr>
          <p:cNvPr id="33" name="Text 30"/>
          <p:cNvSpPr/>
          <p:nvPr/>
        </p:nvSpPr>
        <p:spPr>
          <a:xfrm>
            <a:off x="8295437" y="4050792"/>
            <a:ext cx="3393338" cy="2148840"/>
          </a:xfrm>
          <a:prstGeom prst="rect">
            <a:avLst/>
          </a:prstGeom>
          <a:noFill/>
          <a:ln/>
        </p:spPr>
        <p:txBody>
          <a:bodyPr wrap="square" rtlCol="0" anchor="t"/>
          <a:lstStyle/>
          <a:p>
            <a:pPr marL="152400" indent="-1524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Top risks and opportunities, quantified for EBITDA and cash, outside the base.</a:t>
            </a:r>
            <a:endParaRPr lang="en-US" sz="1050" dirty="0"/>
          </a:p>
          <a:p>
            <a:pPr marL="152400" indent="-1524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Downside sensitivity on volume and price.</a:t>
            </a:r>
            <a:endParaRPr lang="en-US" sz="1050" dirty="0"/>
          </a:p>
          <a:p>
            <a:pPr marL="152400" indent="-1524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Material contract renewals and key dependencies named.</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461B55"/>
          </a:solidFill>
          <a:ln/>
        </p:spPr>
        <p:txBody>
          <a:bodyPr/>
          <a:lstStyle/>
          <a:p>
            <a:endParaRPr lang="en-ZA"/>
          </a:p>
        </p:txBody>
      </p:sp>
      <p:sp>
        <p:nvSpPr>
          <p:cNvPr id="3" name="Shape 1"/>
          <p:cNvSpPr/>
          <p:nvPr/>
        </p:nvSpPr>
        <p:spPr>
          <a:xfrm>
            <a:off x="0" y="548640"/>
            <a:ext cx="12191695" cy="36576"/>
          </a:xfrm>
          <a:prstGeom prst="rect">
            <a:avLst/>
          </a:prstGeom>
          <a:solidFill>
            <a:srgbClr val="C09CCD"/>
          </a:solidFill>
          <a:ln/>
        </p:spPr>
        <p:txBody>
          <a:bodyPr/>
          <a:lstStyle/>
          <a:p>
            <a:endParaRPr lang="en-ZA"/>
          </a:p>
        </p:txBody>
      </p:sp>
      <p:sp>
        <p:nvSpPr>
          <p:cNvPr id="4" name="Text 2"/>
          <p:cNvSpPr/>
          <p:nvPr/>
        </p:nvSpPr>
        <p:spPr>
          <a:xfrm>
            <a:off x="365760" y="73152"/>
            <a:ext cx="9144000" cy="41148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Group Assumptions</a:t>
            </a:r>
            <a:endParaRPr lang="en-US" sz="2400" dirty="0"/>
          </a:p>
        </p:txBody>
      </p:sp>
      <p:sp>
        <p:nvSpPr>
          <p:cNvPr id="5" name="Text 3"/>
          <p:cNvSpPr/>
          <p:nvPr/>
        </p:nvSpPr>
        <p:spPr>
          <a:xfrm>
            <a:off x="9601200" y="73152"/>
            <a:ext cx="2377440" cy="411480"/>
          </a:xfrm>
          <a:prstGeom prst="rect">
            <a:avLst/>
          </a:prstGeom>
          <a:noFill/>
          <a:ln/>
        </p:spPr>
        <p:txBody>
          <a:bodyPr wrap="square" rtlCol="0" anchor="ctr"/>
          <a:lstStyle/>
          <a:p>
            <a:pPr marL="0" indent="0" algn="r">
              <a:buNone/>
            </a:pPr>
            <a:r>
              <a:rPr lang="en-US" sz="1100" dirty="0">
                <a:solidFill>
                  <a:srgbClr val="FFFFFF">
                    <a:alpha val="70000"/>
                  </a:srgbClr>
                </a:solidFill>
                <a:latin typeface="Calibri" pitchFamily="34" charset="0"/>
                <a:ea typeface="Calibri" pitchFamily="34" charset="-122"/>
                <a:cs typeface="Calibri" pitchFamily="34" charset="-120"/>
              </a:rPr>
              <a:t>ASSUMPTIONS</a:t>
            </a:r>
            <a:endParaRPr lang="en-US" sz="1100" dirty="0"/>
          </a:p>
        </p:txBody>
      </p:sp>
      <p:sp>
        <p:nvSpPr>
          <p:cNvPr id="6" name="Shape 4"/>
          <p:cNvSpPr/>
          <p:nvPr/>
        </p:nvSpPr>
        <p:spPr>
          <a:xfrm>
            <a:off x="365760" y="6455664"/>
            <a:ext cx="11460175" cy="10973"/>
          </a:xfrm>
          <a:prstGeom prst="rect">
            <a:avLst/>
          </a:prstGeom>
          <a:solidFill>
            <a:srgbClr val="D1D1D1"/>
          </a:solidFill>
          <a:ln/>
        </p:spPr>
        <p:txBody>
          <a:bodyPr/>
          <a:lstStyle/>
          <a:p>
            <a:endParaRPr lang="en-ZA"/>
          </a:p>
        </p:txBody>
      </p:sp>
      <p:sp>
        <p:nvSpPr>
          <p:cNvPr id="7" name="Text 5"/>
          <p:cNvSpPr/>
          <p:nvPr/>
        </p:nvSpPr>
        <p:spPr>
          <a:xfrm>
            <a:off x="365760" y="6492240"/>
            <a:ext cx="6400800" cy="256032"/>
          </a:xfrm>
          <a:prstGeom prst="rect">
            <a:avLst/>
          </a:prstGeom>
          <a:noFill/>
          <a:ln/>
        </p:spPr>
        <p:txBody>
          <a:bodyPr wrap="square" rtlCol="0" anchor="ctr"/>
          <a:lstStyle/>
          <a:p>
            <a:pPr marL="0" indent="0">
              <a:buNone/>
            </a:pPr>
            <a:r>
              <a:rPr lang="en-US" sz="900" i="1" dirty="0">
                <a:solidFill>
                  <a:srgbClr val="747474"/>
                </a:solidFill>
                <a:latin typeface="Calibri" pitchFamily="34" charset="0"/>
                <a:ea typeface="Calibri" pitchFamily="34" charset="-122"/>
                <a:cs typeface="Calibri" pitchFamily="34" charset="-120"/>
              </a:rPr>
              <a:t>Maziv Group  •  FY2028 Budget Instructions  •  Strictly confidential</a:t>
            </a:r>
            <a:endParaRPr lang="en-US" sz="900" dirty="0"/>
          </a:p>
        </p:txBody>
      </p:sp>
      <p:sp>
        <p:nvSpPr>
          <p:cNvPr id="8" name="Text 6"/>
          <p:cNvSpPr/>
          <p:nvPr/>
        </p:nvSpPr>
        <p:spPr>
          <a:xfrm>
            <a:off x="6949440" y="6492240"/>
            <a:ext cx="3200400" cy="256032"/>
          </a:xfrm>
          <a:prstGeom prst="rect">
            <a:avLst/>
          </a:prstGeom>
          <a:noFill/>
          <a:ln/>
        </p:spPr>
        <p:txBody>
          <a:bodyPr wrap="square" rtlCol="0" anchor="ctr"/>
          <a:lstStyle/>
          <a:p>
            <a:pPr marL="0" indent="0" algn="r">
              <a:buNone/>
            </a:pPr>
            <a:r>
              <a:rPr lang="en-US" sz="900" dirty="0">
                <a:solidFill>
                  <a:srgbClr val="747474"/>
                </a:solidFill>
                <a:latin typeface="Calibri" pitchFamily="34" charset="0"/>
                <a:ea typeface="Calibri" pitchFamily="34" charset="-122"/>
                <a:cs typeface="Calibri" pitchFamily="34" charset="-120"/>
              </a:rPr>
              <a:t>ASSUMPTIONS  •  10 / 13</a:t>
            </a:r>
            <a:endParaRPr lang="en-US" sz="900" dirty="0"/>
          </a:p>
        </p:txBody>
      </p:sp>
      <p:pic>
        <p:nvPicPr>
          <p:cNvPr id="9" name="Image 0" descr="maziv_logo_transparent.png"/>
          <p:cNvPicPr>
            <a:picLocks noChangeAspect="1"/>
          </p:cNvPicPr>
          <p:nvPr/>
        </p:nvPicPr>
        <p:blipFill>
          <a:blip r:embed="rId3"/>
          <a:stretch>
            <a:fillRect/>
          </a:stretch>
        </p:blipFill>
        <p:spPr>
          <a:xfrm>
            <a:off x="11005170" y="6519672"/>
            <a:ext cx="820765" cy="146304"/>
          </a:xfrm>
          <a:prstGeom prst="rect">
            <a:avLst/>
          </a:prstGeom>
        </p:spPr>
      </p:pic>
      <p:graphicFrame>
        <p:nvGraphicFramePr>
          <p:cNvPr id="11" name="Table 0"/>
          <p:cNvGraphicFramePr>
            <a:graphicFrameLocks noGrp="1"/>
          </p:cNvGraphicFramePr>
          <p:nvPr>
            <p:extLst>
              <p:ext uri="{D42A27DB-BD31-4B8C-83A1-F6EECF244321}">
                <p14:modId xmlns:p14="http://schemas.microsoft.com/office/powerpoint/2010/main" val="829598603"/>
              </p:ext>
            </p:extLst>
          </p:nvPr>
        </p:nvGraphicFramePr>
        <p:xfrm>
          <a:off x="365760" y="822960"/>
          <a:ext cx="11457432" cy="4206240"/>
        </p:xfrm>
        <a:graphic>
          <a:graphicData uri="http://schemas.openxmlformats.org/drawingml/2006/table">
            <a:tbl>
              <a:tblPr/>
              <a:tblGrid>
                <a:gridCol w="256032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5788152">
                  <a:extLst>
                    <a:ext uri="{9D8B030D-6E8A-4147-A177-3AD203B41FA5}">
                      <a16:colId xmlns:a16="http://schemas.microsoft.com/office/drawing/2014/main" val="20002"/>
                    </a:ext>
                  </a:extLst>
                </a:gridCol>
              </a:tblGrid>
              <a:tr h="420624">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Assumption</a:t>
                      </a:r>
                      <a:endParaRPr lang="en-US" sz="11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747474"/>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FY2028</a:t>
                      </a:r>
                      <a:endParaRPr lang="en-US" sz="11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747474"/>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How to apply</a:t>
                      </a:r>
                      <a:endParaRPr lang="en-US" sz="11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747474"/>
                    </a:solidFill>
                  </a:tcPr>
                </a:tc>
                <a:extLst>
                  <a:ext uri="{0D108BD9-81ED-4DB2-BD59-A6C34878D82A}">
                    <a16:rowId xmlns:a16="http://schemas.microsoft.com/office/drawing/2014/main" val="10000"/>
                  </a:ext>
                </a:extLst>
              </a:tr>
              <a:tr h="420624">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Budget period</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FY2028, monthly</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Budget year in full monthly detail; the 10-year monthly model updated to match</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Inflation (CPI)</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4.5%</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CPI-linked revenue and costs, unless a contract sets a different escalation</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extLst>
                  <a:ext uri="{0D108BD9-81ED-4DB2-BD59-A6C34878D82A}">
                    <a16:rowId xmlns:a16="http://schemas.microsoft.com/office/drawing/2014/main" val="10002"/>
                  </a:ext>
                </a:extLst>
              </a:tr>
              <a:tr h="420624">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Salary increases</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4.5%</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Apply from the entity’s normal increase date and state that date</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USD/ZAR</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R17.00 (provisional)</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All USD-denominated capex and </a:t>
                      </a:r>
                      <a:r>
                        <a:rPr lang="en-US" sz="1000" dirty="0" err="1">
                          <a:solidFill>
                            <a:srgbClr val="1F2937"/>
                          </a:solidFill>
                          <a:latin typeface="Calibri" pitchFamily="34" charset="0"/>
                          <a:ea typeface="Calibri" pitchFamily="34" charset="-122"/>
                          <a:cs typeface="Calibri" pitchFamily="34" charset="-120"/>
                        </a:rPr>
                        <a:t>opex</a:t>
                      </a:r>
                      <a:r>
                        <a:rPr lang="en-US" sz="1000" dirty="0">
                          <a:solidFill>
                            <a:srgbClr val="1F293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extLst>
                  <a:ext uri="{0D108BD9-81ED-4DB2-BD59-A6C34878D82A}">
                    <a16:rowId xmlns:a16="http://schemas.microsoft.com/office/drawing/2014/main" val="10004"/>
                  </a:ext>
                </a:extLst>
              </a:tr>
              <a:tr h="420624">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Opening balance sheet</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31 Dec 2026 actual</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Rolled forward to the start of FY2028 on the December (9+3) forecast of 13 Jan 2027</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0624">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Covenant group interest costs</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Issued by ZA</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Issued with the envelope on 16 Nov 2026. Do not use entity estimates</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extLst>
                  <a:ext uri="{0D108BD9-81ED-4DB2-BD59-A6C34878D82A}">
                    <a16:rowId xmlns:a16="http://schemas.microsoft.com/office/drawing/2014/main" val="10006"/>
                  </a:ext>
                </a:extLst>
              </a:tr>
              <a:tr h="420624">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Management fee (Maziv)</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Issued by ZA</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Issued with the envelope on 16 Nov 2026. Recipient and payer budget the same amount</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20624">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Tax</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Statutory rates</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Calculate and accrue all tax charges monthly. Put cash outflows in the correct periods</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7F5F0"/>
                    </a:solidFill>
                  </a:tcPr>
                </a:tc>
                <a:extLst>
                  <a:ext uri="{0D108BD9-81ED-4DB2-BD59-A6C34878D82A}">
                    <a16:rowId xmlns:a16="http://schemas.microsoft.com/office/drawing/2014/main" val="10008"/>
                  </a:ext>
                </a:extLst>
              </a:tr>
              <a:tr h="420624">
                <a:tc>
                  <a:txBody>
                    <a:bodyPr/>
                    <a:lstStyle/>
                    <a:p>
                      <a:pPr marL="0" indent="0">
                        <a:buNone/>
                      </a:pPr>
                      <a:r>
                        <a:rPr lang="en-US" sz="1000" b="1" dirty="0">
                          <a:solidFill>
                            <a:srgbClr val="1F2937"/>
                          </a:solidFill>
                          <a:latin typeface="Calibri" pitchFamily="34" charset="0"/>
                          <a:ea typeface="Calibri" pitchFamily="34" charset="-122"/>
                          <a:cs typeface="Calibri" pitchFamily="34" charset="-120"/>
                        </a:rPr>
                        <a:t>Exceptions</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Agreed in writing</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Agree any departure with Maziv Finance before you submit, with the impact quantified</a:t>
                      </a:r>
                      <a:endParaRPr lang="en-US" sz="1000" dirty="0">
                        <a:latin typeface="Calibri" charset="0"/>
                        <a:ea typeface="Calibri" charset="0"/>
                        <a:cs typeface="Calibri" charset="0"/>
                      </a:endParaRPr>
                    </a:p>
                  </a:txBody>
                  <a:tcPr marL="73152" marR="73152" marT="27432" marB="27432" anchor="ctr">
                    <a:lnL w="6350" cap="flat" cmpd="sng" algn="ctr">
                      <a:solidFill>
                        <a:srgbClr val="D1D1D1"/>
                      </a:solidFill>
                      <a:prstDash val="solid"/>
                      <a:round/>
                      <a:headEnd type="none" w="med" len="med"/>
                      <a:tailEnd type="none" w="med" len="med"/>
                    </a:lnL>
                    <a:lnR w="6350" cap="flat" cmpd="sng" algn="ctr">
                      <a:solidFill>
                        <a:srgbClr val="D1D1D1"/>
                      </a:solidFill>
                      <a:prstDash val="solid"/>
                      <a:round/>
                      <a:headEnd type="none" w="med" len="med"/>
                      <a:tailEnd type="none" w="med" len="med"/>
                    </a:lnR>
                    <a:lnT w="6350" cap="flat" cmpd="sng" algn="ctr">
                      <a:solidFill>
                        <a:srgbClr val="D1D1D1"/>
                      </a:solidFill>
                      <a:prstDash val="solid"/>
                      <a:round/>
                      <a:headEnd type="none" w="med" len="med"/>
                      <a:tailEnd type="none" w="med" len="med"/>
                    </a:lnT>
                    <a:lnB w="6350"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10" name="Shape 7"/>
          <p:cNvSpPr/>
          <p:nvPr/>
        </p:nvSpPr>
        <p:spPr>
          <a:xfrm>
            <a:off x="365760" y="5349240"/>
            <a:ext cx="11460175" cy="868680"/>
          </a:xfrm>
          <a:prstGeom prst="rect">
            <a:avLst/>
          </a:prstGeom>
          <a:solidFill>
            <a:srgbClr val="F4ECF7"/>
          </a:solidFill>
          <a:ln/>
        </p:spPr>
        <p:txBody>
          <a:bodyPr/>
          <a:lstStyle/>
          <a:p>
            <a:endParaRPr lang="en-ZA"/>
          </a:p>
        </p:txBody>
      </p:sp>
      <p:sp>
        <p:nvSpPr>
          <p:cNvPr id="12" name="Shape 8"/>
          <p:cNvSpPr/>
          <p:nvPr/>
        </p:nvSpPr>
        <p:spPr>
          <a:xfrm>
            <a:off x="365760" y="5349240"/>
            <a:ext cx="54864" cy="868680"/>
          </a:xfrm>
          <a:prstGeom prst="rect">
            <a:avLst/>
          </a:prstGeom>
          <a:solidFill>
            <a:srgbClr val="C09CCD"/>
          </a:solidFill>
          <a:ln/>
        </p:spPr>
        <p:txBody>
          <a:bodyPr/>
          <a:lstStyle/>
          <a:p>
            <a:endParaRPr lang="en-ZA"/>
          </a:p>
        </p:txBody>
      </p:sp>
      <p:sp>
        <p:nvSpPr>
          <p:cNvPr id="13" name="Text 9"/>
          <p:cNvSpPr/>
          <p:nvPr/>
        </p:nvSpPr>
        <p:spPr>
          <a:xfrm>
            <a:off x="530352" y="5422392"/>
            <a:ext cx="11167567" cy="228600"/>
          </a:xfrm>
          <a:prstGeom prst="rect">
            <a:avLst/>
          </a:prstGeom>
          <a:noFill/>
          <a:ln/>
        </p:spPr>
        <p:txBody>
          <a:bodyPr wrap="square" rtlCol="0" anchor="ctr"/>
          <a:lstStyle/>
          <a:p>
            <a:pPr marL="0" indent="0">
              <a:buNone/>
            </a:pPr>
            <a:r>
              <a:rPr lang="en-US" sz="1000" b="1" i="1" dirty="0">
                <a:solidFill>
                  <a:srgbClr val="7A4D87"/>
                </a:solidFill>
                <a:latin typeface="Calibri" pitchFamily="34" charset="0"/>
                <a:ea typeface="Calibri" pitchFamily="34" charset="-122"/>
                <a:cs typeface="Calibri" pitchFamily="34" charset="-120"/>
              </a:rPr>
              <a:t>READ</a:t>
            </a:r>
            <a:endParaRPr lang="en-US" sz="1000" dirty="0"/>
          </a:p>
        </p:txBody>
      </p:sp>
      <p:sp>
        <p:nvSpPr>
          <p:cNvPr id="14" name="Text 10"/>
          <p:cNvSpPr/>
          <p:nvPr/>
        </p:nvSpPr>
        <p:spPr>
          <a:xfrm>
            <a:off x="530352" y="5641848"/>
            <a:ext cx="11167567" cy="502920"/>
          </a:xfrm>
          <a:prstGeom prst="rect">
            <a:avLst/>
          </a:prstGeom>
          <a:noFill/>
          <a:ln/>
        </p:spPr>
        <p:txBody>
          <a:bodyPr wrap="square" rtlCol="0" anchor="t"/>
          <a:lstStyle/>
          <a:p>
            <a:pPr marL="0" indent="0">
              <a:buNone/>
            </a:pPr>
            <a:r>
              <a:rPr lang="en-US" sz="1100" dirty="0">
                <a:solidFill>
                  <a:srgbClr val="1F2937"/>
                </a:solidFill>
                <a:latin typeface="Calibri" pitchFamily="34" charset="0"/>
                <a:ea typeface="Calibri" pitchFamily="34" charset="-122"/>
                <a:cs typeface="Calibri" pitchFamily="34" charset="-120"/>
              </a:rPr>
              <a:t>These are the only assumptions Group will consolidate. An unapproved departure is reversed by Maziv Finance and returned to the entity as a gap item.</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461B55"/>
          </a:solidFill>
          <a:ln/>
        </p:spPr>
        <p:txBody>
          <a:bodyPr/>
          <a:lstStyle/>
          <a:p>
            <a:endParaRPr lang="en-ZA"/>
          </a:p>
        </p:txBody>
      </p:sp>
      <p:sp>
        <p:nvSpPr>
          <p:cNvPr id="3" name="Shape 1"/>
          <p:cNvSpPr/>
          <p:nvPr/>
        </p:nvSpPr>
        <p:spPr>
          <a:xfrm>
            <a:off x="0" y="548640"/>
            <a:ext cx="12191695" cy="36576"/>
          </a:xfrm>
          <a:prstGeom prst="rect">
            <a:avLst/>
          </a:prstGeom>
          <a:solidFill>
            <a:srgbClr val="C09CCD"/>
          </a:solidFill>
          <a:ln/>
        </p:spPr>
        <p:txBody>
          <a:bodyPr/>
          <a:lstStyle/>
          <a:p>
            <a:endParaRPr lang="en-ZA"/>
          </a:p>
        </p:txBody>
      </p:sp>
      <p:sp>
        <p:nvSpPr>
          <p:cNvPr id="4" name="Text 2"/>
          <p:cNvSpPr/>
          <p:nvPr/>
        </p:nvSpPr>
        <p:spPr>
          <a:xfrm>
            <a:off x="365760" y="73152"/>
            <a:ext cx="9144000" cy="41148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Intercompany  |  Agree Before You Submit</a:t>
            </a:r>
            <a:endParaRPr lang="en-US" sz="2400" dirty="0"/>
          </a:p>
        </p:txBody>
      </p:sp>
      <p:sp>
        <p:nvSpPr>
          <p:cNvPr id="5" name="Text 3"/>
          <p:cNvSpPr/>
          <p:nvPr/>
        </p:nvSpPr>
        <p:spPr>
          <a:xfrm>
            <a:off x="9601200" y="73152"/>
            <a:ext cx="2377440" cy="411480"/>
          </a:xfrm>
          <a:prstGeom prst="rect">
            <a:avLst/>
          </a:prstGeom>
          <a:noFill/>
          <a:ln/>
        </p:spPr>
        <p:txBody>
          <a:bodyPr wrap="square" rtlCol="0" anchor="ctr"/>
          <a:lstStyle/>
          <a:p>
            <a:pPr marL="0" indent="0" algn="r">
              <a:buNone/>
            </a:pPr>
            <a:r>
              <a:rPr lang="en-US" sz="1100" dirty="0">
                <a:solidFill>
                  <a:srgbClr val="FFFFFF">
                    <a:alpha val="70000"/>
                  </a:srgbClr>
                </a:solidFill>
                <a:latin typeface="Calibri" pitchFamily="34" charset="0"/>
                <a:ea typeface="Calibri" pitchFamily="34" charset="-122"/>
                <a:cs typeface="Calibri" pitchFamily="34" charset="-120"/>
              </a:rPr>
              <a:t>INTERCOMPANY</a:t>
            </a:r>
            <a:endParaRPr lang="en-US" sz="1100" dirty="0"/>
          </a:p>
        </p:txBody>
      </p:sp>
      <p:sp>
        <p:nvSpPr>
          <p:cNvPr id="6" name="Shape 4"/>
          <p:cNvSpPr/>
          <p:nvPr/>
        </p:nvSpPr>
        <p:spPr>
          <a:xfrm>
            <a:off x="365760" y="6455664"/>
            <a:ext cx="11460175" cy="10973"/>
          </a:xfrm>
          <a:prstGeom prst="rect">
            <a:avLst/>
          </a:prstGeom>
          <a:solidFill>
            <a:srgbClr val="D1D1D1"/>
          </a:solidFill>
          <a:ln/>
        </p:spPr>
        <p:txBody>
          <a:bodyPr/>
          <a:lstStyle/>
          <a:p>
            <a:endParaRPr lang="en-ZA"/>
          </a:p>
        </p:txBody>
      </p:sp>
      <p:sp>
        <p:nvSpPr>
          <p:cNvPr id="7" name="Text 5"/>
          <p:cNvSpPr/>
          <p:nvPr/>
        </p:nvSpPr>
        <p:spPr>
          <a:xfrm>
            <a:off x="365760" y="6492240"/>
            <a:ext cx="6400800" cy="256032"/>
          </a:xfrm>
          <a:prstGeom prst="rect">
            <a:avLst/>
          </a:prstGeom>
          <a:noFill/>
          <a:ln/>
        </p:spPr>
        <p:txBody>
          <a:bodyPr wrap="square" rtlCol="0" anchor="ctr"/>
          <a:lstStyle/>
          <a:p>
            <a:pPr marL="0" indent="0">
              <a:buNone/>
            </a:pPr>
            <a:r>
              <a:rPr lang="en-US" sz="900" i="1" dirty="0">
                <a:solidFill>
                  <a:srgbClr val="747474"/>
                </a:solidFill>
                <a:latin typeface="Calibri" pitchFamily="34" charset="0"/>
                <a:ea typeface="Calibri" pitchFamily="34" charset="-122"/>
                <a:cs typeface="Calibri" pitchFamily="34" charset="-120"/>
              </a:rPr>
              <a:t>Maziv Group  •  FY2028 Budget Instructions  •  Strictly confidential</a:t>
            </a:r>
            <a:endParaRPr lang="en-US" sz="900" dirty="0"/>
          </a:p>
        </p:txBody>
      </p:sp>
      <p:sp>
        <p:nvSpPr>
          <p:cNvPr id="8" name="Text 6"/>
          <p:cNvSpPr/>
          <p:nvPr/>
        </p:nvSpPr>
        <p:spPr>
          <a:xfrm>
            <a:off x="6949440" y="6492240"/>
            <a:ext cx="3200400" cy="256032"/>
          </a:xfrm>
          <a:prstGeom prst="rect">
            <a:avLst/>
          </a:prstGeom>
          <a:noFill/>
          <a:ln/>
        </p:spPr>
        <p:txBody>
          <a:bodyPr wrap="square" rtlCol="0" anchor="ctr"/>
          <a:lstStyle/>
          <a:p>
            <a:pPr marL="0" indent="0" algn="r">
              <a:buNone/>
            </a:pPr>
            <a:r>
              <a:rPr lang="en-US" sz="900" dirty="0">
                <a:solidFill>
                  <a:srgbClr val="747474"/>
                </a:solidFill>
                <a:latin typeface="Calibri" pitchFamily="34" charset="0"/>
                <a:ea typeface="Calibri" pitchFamily="34" charset="-122"/>
                <a:cs typeface="Calibri" pitchFamily="34" charset="-120"/>
              </a:rPr>
              <a:t>INTERCOMPANY  •  11 / 13</a:t>
            </a:r>
            <a:endParaRPr lang="en-US" sz="900" dirty="0"/>
          </a:p>
        </p:txBody>
      </p:sp>
      <p:pic>
        <p:nvPicPr>
          <p:cNvPr id="9" name="Image 0" descr="maziv_logo_transparent.png"/>
          <p:cNvPicPr>
            <a:picLocks noChangeAspect="1"/>
          </p:cNvPicPr>
          <p:nvPr/>
        </p:nvPicPr>
        <p:blipFill>
          <a:blip r:embed="rId3"/>
          <a:stretch>
            <a:fillRect/>
          </a:stretch>
        </p:blipFill>
        <p:spPr>
          <a:xfrm>
            <a:off x="11005170" y="6519672"/>
            <a:ext cx="820765" cy="146304"/>
          </a:xfrm>
          <a:prstGeom prst="rect">
            <a:avLst/>
          </a:prstGeom>
        </p:spPr>
      </p:pic>
      <p:sp>
        <p:nvSpPr>
          <p:cNvPr id="10" name="Shape 7"/>
          <p:cNvSpPr/>
          <p:nvPr/>
        </p:nvSpPr>
        <p:spPr>
          <a:xfrm>
            <a:off x="365760" y="822960"/>
            <a:ext cx="3667658" cy="2834640"/>
          </a:xfrm>
          <a:prstGeom prst="rect">
            <a:avLst/>
          </a:prstGeom>
          <a:solidFill>
            <a:srgbClr val="FFFFFF"/>
          </a:solidFill>
          <a:ln w="12700">
            <a:solidFill>
              <a:srgbClr val="D1D1D1"/>
            </a:solidFill>
            <a:prstDash val="solid"/>
          </a:ln>
        </p:spPr>
        <p:txBody>
          <a:bodyPr/>
          <a:lstStyle/>
          <a:p>
            <a:endParaRPr lang="en-ZA"/>
          </a:p>
        </p:txBody>
      </p:sp>
      <p:sp>
        <p:nvSpPr>
          <p:cNvPr id="11" name="Shape 8"/>
          <p:cNvSpPr/>
          <p:nvPr/>
        </p:nvSpPr>
        <p:spPr>
          <a:xfrm>
            <a:off x="548640" y="1005840"/>
            <a:ext cx="457200" cy="457200"/>
          </a:xfrm>
          <a:prstGeom prst="ellipse">
            <a:avLst/>
          </a:prstGeom>
          <a:solidFill>
            <a:srgbClr val="C09CCD"/>
          </a:solidFill>
          <a:ln/>
        </p:spPr>
        <p:txBody>
          <a:bodyPr/>
          <a:lstStyle/>
          <a:p>
            <a:endParaRPr lang="en-ZA"/>
          </a:p>
        </p:txBody>
      </p:sp>
      <p:sp>
        <p:nvSpPr>
          <p:cNvPr id="12" name="Text 9"/>
          <p:cNvSpPr/>
          <p:nvPr/>
        </p:nvSpPr>
        <p:spPr>
          <a:xfrm>
            <a:off x="548640" y="1005840"/>
            <a:ext cx="457200" cy="45720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3" name="Text 10"/>
          <p:cNvSpPr/>
          <p:nvPr/>
        </p:nvSpPr>
        <p:spPr>
          <a:xfrm>
            <a:off x="1143000" y="1005840"/>
            <a:ext cx="2753258" cy="457200"/>
          </a:xfrm>
          <a:prstGeom prst="rect">
            <a:avLst/>
          </a:prstGeom>
          <a:noFill/>
          <a:ln/>
        </p:spPr>
        <p:txBody>
          <a:bodyPr wrap="square" rtlCol="0" anchor="ctr"/>
          <a:lstStyle/>
          <a:p>
            <a:pPr marL="0" indent="0">
              <a:buNone/>
            </a:pPr>
            <a:r>
              <a:rPr lang="en-US" sz="1400" b="1" dirty="0">
                <a:solidFill>
                  <a:srgbClr val="461B55"/>
                </a:solidFill>
                <a:latin typeface="Calibri" pitchFamily="34" charset="0"/>
                <a:ea typeface="Calibri" pitchFamily="34" charset="-122"/>
                <a:cs typeface="Calibri" pitchFamily="34" charset="-120"/>
              </a:rPr>
              <a:t>Loans and interest</a:t>
            </a:r>
            <a:endParaRPr lang="en-US" sz="1400" dirty="0"/>
          </a:p>
        </p:txBody>
      </p:sp>
      <p:sp>
        <p:nvSpPr>
          <p:cNvPr id="14" name="Text 11"/>
          <p:cNvSpPr/>
          <p:nvPr/>
        </p:nvSpPr>
        <p:spPr>
          <a:xfrm>
            <a:off x="548640" y="1600200"/>
            <a:ext cx="3301898" cy="1691640"/>
          </a:xfrm>
          <a:prstGeom prst="rect">
            <a:avLst/>
          </a:prstGeom>
          <a:noFill/>
          <a:ln/>
        </p:spPr>
        <p:txBody>
          <a:bodyPr wrap="square" rtlCol="0" anchor="t"/>
          <a:lstStyle/>
          <a:p>
            <a:pPr marL="0" indent="0">
              <a:buNone/>
            </a:pPr>
            <a:r>
              <a:rPr lang="en-US" sz="1200" dirty="0">
                <a:solidFill>
                  <a:srgbClr val="1F2937"/>
                </a:solidFill>
                <a:latin typeface="Calibri" pitchFamily="34" charset="0"/>
                <a:ea typeface="Calibri" pitchFamily="34" charset="-122"/>
                <a:cs typeface="Calibri" pitchFamily="34" charset="-120"/>
              </a:rPr>
              <a:t>Agree every intercompany loan balance, draw, repayment and interest charge with the counterparty before each submission. Both entities budget the same amounts in the same months.</a:t>
            </a:r>
            <a:endParaRPr lang="en-US" sz="1200" dirty="0"/>
          </a:p>
        </p:txBody>
      </p:sp>
      <p:sp>
        <p:nvSpPr>
          <p:cNvPr id="15" name="Text 12"/>
          <p:cNvSpPr/>
          <p:nvPr/>
        </p:nvSpPr>
        <p:spPr>
          <a:xfrm>
            <a:off x="548640" y="3291840"/>
            <a:ext cx="3301898" cy="274320"/>
          </a:xfrm>
          <a:prstGeom prst="rect">
            <a:avLst/>
          </a:prstGeom>
          <a:noFill/>
          <a:ln/>
        </p:spPr>
        <p:txBody>
          <a:bodyPr wrap="square" rtlCol="0" anchor="ctr"/>
          <a:lstStyle/>
          <a:p>
            <a:pPr marL="0" indent="0">
              <a:buNone/>
            </a:pPr>
            <a:r>
              <a:rPr lang="en-US" sz="900" i="1" dirty="0">
                <a:solidFill>
                  <a:srgbClr val="747474"/>
                </a:solidFill>
                <a:latin typeface="Calibri" pitchFamily="34" charset="0"/>
                <a:ea typeface="Calibri" pitchFamily="34" charset="-122"/>
                <a:cs typeface="Calibri" pitchFamily="34" charset="-120"/>
              </a:rPr>
              <a:t>Owner: Entity CFO / Finance Executive</a:t>
            </a:r>
            <a:endParaRPr lang="en-US" sz="900" dirty="0"/>
          </a:p>
        </p:txBody>
      </p:sp>
      <p:sp>
        <p:nvSpPr>
          <p:cNvPr id="16" name="Shape 13"/>
          <p:cNvSpPr/>
          <p:nvPr/>
        </p:nvSpPr>
        <p:spPr>
          <a:xfrm>
            <a:off x="4262018" y="822960"/>
            <a:ext cx="3667658" cy="2834640"/>
          </a:xfrm>
          <a:prstGeom prst="rect">
            <a:avLst/>
          </a:prstGeom>
          <a:solidFill>
            <a:srgbClr val="FFFFFF"/>
          </a:solidFill>
          <a:ln w="12700">
            <a:solidFill>
              <a:srgbClr val="D1D1D1"/>
            </a:solidFill>
            <a:prstDash val="solid"/>
          </a:ln>
        </p:spPr>
        <p:txBody>
          <a:bodyPr/>
          <a:lstStyle/>
          <a:p>
            <a:endParaRPr lang="en-ZA"/>
          </a:p>
        </p:txBody>
      </p:sp>
      <p:sp>
        <p:nvSpPr>
          <p:cNvPr id="17" name="Shape 14"/>
          <p:cNvSpPr/>
          <p:nvPr/>
        </p:nvSpPr>
        <p:spPr>
          <a:xfrm>
            <a:off x="4444898" y="1005840"/>
            <a:ext cx="457200" cy="457200"/>
          </a:xfrm>
          <a:prstGeom prst="ellipse">
            <a:avLst/>
          </a:prstGeom>
          <a:solidFill>
            <a:srgbClr val="C09CCD"/>
          </a:solidFill>
          <a:ln/>
        </p:spPr>
        <p:txBody>
          <a:bodyPr/>
          <a:lstStyle/>
          <a:p>
            <a:endParaRPr lang="en-ZA"/>
          </a:p>
        </p:txBody>
      </p:sp>
      <p:sp>
        <p:nvSpPr>
          <p:cNvPr id="18" name="Text 15"/>
          <p:cNvSpPr/>
          <p:nvPr/>
        </p:nvSpPr>
        <p:spPr>
          <a:xfrm>
            <a:off x="4444898" y="1005840"/>
            <a:ext cx="457200" cy="45720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9" name="Text 16"/>
          <p:cNvSpPr/>
          <p:nvPr/>
        </p:nvSpPr>
        <p:spPr>
          <a:xfrm>
            <a:off x="5039258" y="1005840"/>
            <a:ext cx="2753258" cy="457200"/>
          </a:xfrm>
          <a:prstGeom prst="rect">
            <a:avLst/>
          </a:prstGeom>
          <a:noFill/>
          <a:ln/>
        </p:spPr>
        <p:txBody>
          <a:bodyPr wrap="square" rtlCol="0" anchor="ctr"/>
          <a:lstStyle/>
          <a:p>
            <a:pPr marL="0" indent="0">
              <a:buNone/>
            </a:pPr>
            <a:r>
              <a:rPr lang="en-US" sz="1400" b="1" dirty="0">
                <a:solidFill>
                  <a:srgbClr val="461B55"/>
                </a:solidFill>
                <a:latin typeface="Calibri" pitchFamily="34" charset="0"/>
                <a:ea typeface="Calibri" pitchFamily="34" charset="-122"/>
                <a:cs typeface="Calibri" pitchFamily="34" charset="-120"/>
              </a:rPr>
              <a:t>Transactions and recharges</a:t>
            </a:r>
            <a:endParaRPr lang="en-US" sz="1400" dirty="0"/>
          </a:p>
        </p:txBody>
      </p:sp>
      <p:sp>
        <p:nvSpPr>
          <p:cNvPr id="20" name="Text 17"/>
          <p:cNvSpPr/>
          <p:nvPr/>
        </p:nvSpPr>
        <p:spPr>
          <a:xfrm>
            <a:off x="4444898" y="1600200"/>
            <a:ext cx="3301898" cy="1691640"/>
          </a:xfrm>
          <a:prstGeom prst="rect">
            <a:avLst/>
          </a:prstGeom>
          <a:noFill/>
          <a:ln/>
        </p:spPr>
        <p:txBody>
          <a:bodyPr wrap="square" rtlCol="0" anchor="t"/>
          <a:lstStyle/>
          <a:p>
            <a:pPr marL="0" indent="0">
              <a:buNone/>
            </a:pPr>
            <a:r>
              <a:rPr lang="en-US" sz="1200" dirty="0">
                <a:solidFill>
                  <a:srgbClr val="1F2937"/>
                </a:solidFill>
                <a:latin typeface="Calibri" pitchFamily="34" charset="0"/>
                <a:ea typeface="Calibri" pitchFamily="34" charset="-122"/>
                <a:cs typeface="Calibri" pitchFamily="34" charset="-120"/>
              </a:rPr>
              <a:t>Agree every intercompany sale, purchase and recharge with the counterparty before each submission. The invoicing entity confirms the cost is in the other entity’s budget and submits the agreed schedule to Maziv Group Finance.</a:t>
            </a:r>
            <a:endParaRPr lang="en-US" sz="1200" dirty="0"/>
          </a:p>
        </p:txBody>
      </p:sp>
      <p:sp>
        <p:nvSpPr>
          <p:cNvPr id="21" name="Text 18"/>
          <p:cNvSpPr/>
          <p:nvPr/>
        </p:nvSpPr>
        <p:spPr>
          <a:xfrm>
            <a:off x="4444898" y="3291840"/>
            <a:ext cx="3301898" cy="274320"/>
          </a:xfrm>
          <a:prstGeom prst="rect">
            <a:avLst/>
          </a:prstGeom>
          <a:noFill/>
          <a:ln/>
        </p:spPr>
        <p:txBody>
          <a:bodyPr wrap="square" rtlCol="0" anchor="ctr"/>
          <a:lstStyle/>
          <a:p>
            <a:pPr marL="0" indent="0">
              <a:buNone/>
            </a:pPr>
            <a:r>
              <a:rPr lang="en-US" sz="900" i="1" dirty="0">
                <a:solidFill>
                  <a:srgbClr val="747474"/>
                </a:solidFill>
                <a:latin typeface="Calibri" pitchFamily="34" charset="0"/>
                <a:ea typeface="Calibri" pitchFamily="34" charset="-122"/>
                <a:cs typeface="Calibri" pitchFamily="34" charset="-120"/>
              </a:rPr>
              <a:t>Owner: Invoicing entity</a:t>
            </a:r>
            <a:endParaRPr lang="en-US" sz="900" dirty="0"/>
          </a:p>
        </p:txBody>
      </p:sp>
      <p:sp>
        <p:nvSpPr>
          <p:cNvPr id="22" name="Shape 19"/>
          <p:cNvSpPr/>
          <p:nvPr/>
        </p:nvSpPr>
        <p:spPr>
          <a:xfrm>
            <a:off x="8158277" y="822960"/>
            <a:ext cx="3667658" cy="2834640"/>
          </a:xfrm>
          <a:prstGeom prst="rect">
            <a:avLst/>
          </a:prstGeom>
          <a:solidFill>
            <a:srgbClr val="FFFFFF"/>
          </a:solidFill>
          <a:ln w="12700">
            <a:solidFill>
              <a:srgbClr val="D1D1D1"/>
            </a:solidFill>
            <a:prstDash val="solid"/>
          </a:ln>
        </p:spPr>
        <p:txBody>
          <a:bodyPr/>
          <a:lstStyle/>
          <a:p>
            <a:endParaRPr lang="en-ZA"/>
          </a:p>
        </p:txBody>
      </p:sp>
      <p:sp>
        <p:nvSpPr>
          <p:cNvPr id="23" name="Shape 20"/>
          <p:cNvSpPr/>
          <p:nvPr/>
        </p:nvSpPr>
        <p:spPr>
          <a:xfrm>
            <a:off x="8341157" y="1005840"/>
            <a:ext cx="457200" cy="457200"/>
          </a:xfrm>
          <a:prstGeom prst="ellipse">
            <a:avLst/>
          </a:prstGeom>
          <a:solidFill>
            <a:srgbClr val="C09CCD"/>
          </a:solidFill>
          <a:ln/>
        </p:spPr>
        <p:txBody>
          <a:bodyPr/>
          <a:lstStyle/>
          <a:p>
            <a:endParaRPr lang="en-ZA"/>
          </a:p>
        </p:txBody>
      </p:sp>
      <p:sp>
        <p:nvSpPr>
          <p:cNvPr id="24" name="Text 21"/>
          <p:cNvSpPr/>
          <p:nvPr/>
        </p:nvSpPr>
        <p:spPr>
          <a:xfrm>
            <a:off x="8341157" y="1005840"/>
            <a:ext cx="457200" cy="45720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Text 22"/>
          <p:cNvSpPr/>
          <p:nvPr/>
        </p:nvSpPr>
        <p:spPr>
          <a:xfrm>
            <a:off x="8935517" y="1005840"/>
            <a:ext cx="2753258" cy="457200"/>
          </a:xfrm>
          <a:prstGeom prst="rect">
            <a:avLst/>
          </a:prstGeom>
          <a:noFill/>
          <a:ln/>
        </p:spPr>
        <p:txBody>
          <a:bodyPr wrap="square" rtlCol="0" anchor="ctr"/>
          <a:lstStyle/>
          <a:p>
            <a:pPr marL="0" indent="0">
              <a:buNone/>
            </a:pPr>
            <a:r>
              <a:rPr lang="en-US" sz="1400" b="1" dirty="0">
                <a:solidFill>
                  <a:srgbClr val="461B55"/>
                </a:solidFill>
                <a:latin typeface="Calibri" pitchFamily="34" charset="0"/>
                <a:ea typeface="Calibri" pitchFamily="34" charset="-122"/>
                <a:cs typeface="Calibri" pitchFamily="34" charset="-120"/>
              </a:rPr>
              <a:t>Intercompany margin (BMCT)</a:t>
            </a:r>
            <a:endParaRPr lang="en-US" sz="1400" dirty="0"/>
          </a:p>
        </p:txBody>
      </p:sp>
      <p:sp>
        <p:nvSpPr>
          <p:cNvPr id="26" name="Text 23"/>
          <p:cNvSpPr/>
          <p:nvPr/>
        </p:nvSpPr>
        <p:spPr>
          <a:xfrm>
            <a:off x="8341157" y="1600200"/>
            <a:ext cx="3301898" cy="1691640"/>
          </a:xfrm>
          <a:prstGeom prst="rect">
            <a:avLst/>
          </a:prstGeom>
          <a:noFill/>
          <a:ln/>
        </p:spPr>
        <p:txBody>
          <a:bodyPr wrap="square" rtlCol="0" anchor="t"/>
          <a:lstStyle/>
          <a:p>
            <a:pPr marL="0" indent="0">
              <a:buNone/>
            </a:pPr>
            <a:r>
              <a:rPr lang="en-US" sz="1200" dirty="0">
                <a:solidFill>
                  <a:srgbClr val="1F2937"/>
                </a:solidFill>
                <a:latin typeface="Calibri" pitchFamily="34" charset="0"/>
                <a:ea typeface="Calibri" pitchFamily="34" charset="-122"/>
                <a:cs typeface="Calibri" pitchFamily="34" charset="-120"/>
              </a:rPr>
              <a:t>The invoicing entity sends the margin calculation to Maziv Finance with each submission, so that Group can eliminate the margin on consolidation and in capex.</a:t>
            </a:r>
            <a:endParaRPr lang="en-US" sz="1200" dirty="0"/>
          </a:p>
        </p:txBody>
      </p:sp>
      <p:sp>
        <p:nvSpPr>
          <p:cNvPr id="27" name="Text 24"/>
          <p:cNvSpPr/>
          <p:nvPr/>
        </p:nvSpPr>
        <p:spPr>
          <a:xfrm>
            <a:off x="8341157" y="3291840"/>
            <a:ext cx="3301898" cy="274320"/>
          </a:xfrm>
          <a:prstGeom prst="rect">
            <a:avLst/>
          </a:prstGeom>
          <a:noFill/>
          <a:ln/>
        </p:spPr>
        <p:txBody>
          <a:bodyPr wrap="square" rtlCol="0" anchor="ctr"/>
          <a:lstStyle/>
          <a:p>
            <a:pPr marL="0" indent="0">
              <a:buNone/>
            </a:pPr>
            <a:r>
              <a:rPr lang="en-US" sz="900" i="1" dirty="0">
                <a:solidFill>
                  <a:srgbClr val="747474"/>
                </a:solidFill>
                <a:latin typeface="Calibri" pitchFamily="34" charset="0"/>
                <a:ea typeface="Calibri" pitchFamily="34" charset="-122"/>
                <a:cs typeface="Calibri" pitchFamily="34" charset="-120"/>
              </a:rPr>
              <a:t>Owner: Invoicing entity (BMCT)</a:t>
            </a:r>
            <a:endParaRPr lang="en-US" sz="900" dirty="0"/>
          </a:p>
        </p:txBody>
      </p:sp>
      <p:sp>
        <p:nvSpPr>
          <p:cNvPr id="28" name="Shape 25"/>
          <p:cNvSpPr/>
          <p:nvPr/>
        </p:nvSpPr>
        <p:spPr>
          <a:xfrm>
            <a:off x="365760" y="3886200"/>
            <a:ext cx="11460175" cy="1600200"/>
          </a:xfrm>
          <a:prstGeom prst="rect">
            <a:avLst/>
          </a:prstGeom>
          <a:solidFill>
            <a:srgbClr val="F4ECF7"/>
          </a:solidFill>
          <a:ln/>
        </p:spPr>
        <p:txBody>
          <a:bodyPr/>
          <a:lstStyle/>
          <a:p>
            <a:endParaRPr lang="en-ZA"/>
          </a:p>
        </p:txBody>
      </p:sp>
      <p:sp>
        <p:nvSpPr>
          <p:cNvPr id="29" name="Shape 26"/>
          <p:cNvSpPr/>
          <p:nvPr/>
        </p:nvSpPr>
        <p:spPr>
          <a:xfrm>
            <a:off x="365760" y="3886200"/>
            <a:ext cx="54864" cy="1600200"/>
          </a:xfrm>
          <a:prstGeom prst="rect">
            <a:avLst/>
          </a:prstGeom>
          <a:solidFill>
            <a:srgbClr val="C09CCD"/>
          </a:solidFill>
          <a:ln/>
        </p:spPr>
        <p:txBody>
          <a:bodyPr/>
          <a:lstStyle/>
          <a:p>
            <a:endParaRPr lang="en-ZA"/>
          </a:p>
        </p:txBody>
      </p:sp>
      <p:sp>
        <p:nvSpPr>
          <p:cNvPr id="30" name="Text 27"/>
          <p:cNvSpPr/>
          <p:nvPr/>
        </p:nvSpPr>
        <p:spPr>
          <a:xfrm>
            <a:off x="530352" y="3959352"/>
            <a:ext cx="11167567" cy="228600"/>
          </a:xfrm>
          <a:prstGeom prst="rect">
            <a:avLst/>
          </a:prstGeom>
          <a:noFill/>
          <a:ln/>
        </p:spPr>
        <p:txBody>
          <a:bodyPr wrap="square" rtlCol="0" anchor="ctr"/>
          <a:lstStyle/>
          <a:p>
            <a:pPr marL="0" indent="0">
              <a:buNone/>
            </a:pPr>
            <a:r>
              <a:rPr lang="en-US" sz="1000" b="1" i="1" dirty="0">
                <a:solidFill>
                  <a:srgbClr val="7A4D87"/>
                </a:solidFill>
                <a:latin typeface="Calibri" pitchFamily="34" charset="0"/>
                <a:ea typeface="Calibri" pitchFamily="34" charset="-122"/>
                <a:cs typeface="Calibri" pitchFamily="34" charset="-120"/>
              </a:rPr>
              <a:t>CONSOLIDATION RULE</a:t>
            </a:r>
            <a:endParaRPr lang="en-US" sz="1000" dirty="0"/>
          </a:p>
        </p:txBody>
      </p:sp>
      <p:sp>
        <p:nvSpPr>
          <p:cNvPr id="31" name="Text 28"/>
          <p:cNvSpPr/>
          <p:nvPr/>
        </p:nvSpPr>
        <p:spPr>
          <a:xfrm>
            <a:off x="530352" y="4178808"/>
            <a:ext cx="11167567" cy="1234440"/>
          </a:xfrm>
          <a:prstGeom prst="rect">
            <a:avLst/>
          </a:prstGeom>
          <a:noFill/>
          <a:ln/>
        </p:spPr>
        <p:txBody>
          <a:bodyPr wrap="square" rtlCol="0" anchor="t"/>
          <a:lstStyle/>
          <a:p>
            <a:pPr marL="152400" indent="-1524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Intercompany balances and flows must agree in both entities’ submissions, by month.</a:t>
            </a:r>
            <a:endParaRPr lang="en-US" sz="1100" dirty="0"/>
          </a:p>
          <a:p>
            <a:pPr marL="152400" indent="-1524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Maziv Finance does not consolidate unagreed intercompany items. Differences are returned to both entities as gap items.</a:t>
            </a:r>
            <a:endParaRPr lang="en-US" sz="1100" dirty="0"/>
          </a:p>
          <a:p>
            <a:pPr marL="152400" indent="-1524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Submit one agreed intercompany schedule per counterparty pair with every submission.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461B55"/>
          </a:solidFill>
          <a:ln/>
        </p:spPr>
        <p:txBody>
          <a:bodyPr/>
          <a:lstStyle/>
          <a:p>
            <a:endParaRPr lang="en-ZA"/>
          </a:p>
        </p:txBody>
      </p:sp>
      <p:sp>
        <p:nvSpPr>
          <p:cNvPr id="3" name="Shape 1"/>
          <p:cNvSpPr/>
          <p:nvPr/>
        </p:nvSpPr>
        <p:spPr>
          <a:xfrm>
            <a:off x="0" y="548640"/>
            <a:ext cx="12191695" cy="36576"/>
          </a:xfrm>
          <a:prstGeom prst="rect">
            <a:avLst/>
          </a:prstGeom>
          <a:solidFill>
            <a:srgbClr val="C09CCD"/>
          </a:solidFill>
          <a:ln/>
        </p:spPr>
        <p:txBody>
          <a:bodyPr/>
          <a:lstStyle/>
          <a:p>
            <a:endParaRPr lang="en-ZA"/>
          </a:p>
        </p:txBody>
      </p:sp>
      <p:sp>
        <p:nvSpPr>
          <p:cNvPr id="4" name="Text 2"/>
          <p:cNvSpPr/>
          <p:nvPr/>
        </p:nvSpPr>
        <p:spPr>
          <a:xfrm>
            <a:off x="365760" y="73152"/>
            <a:ext cx="9144000" cy="41148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Submission Standards and Checklist</a:t>
            </a:r>
            <a:endParaRPr lang="en-US" sz="2400" dirty="0"/>
          </a:p>
        </p:txBody>
      </p:sp>
      <p:sp>
        <p:nvSpPr>
          <p:cNvPr id="5" name="Text 3"/>
          <p:cNvSpPr/>
          <p:nvPr/>
        </p:nvSpPr>
        <p:spPr>
          <a:xfrm>
            <a:off x="9601200" y="73152"/>
            <a:ext cx="2377440" cy="411480"/>
          </a:xfrm>
          <a:prstGeom prst="rect">
            <a:avLst/>
          </a:prstGeom>
          <a:noFill/>
          <a:ln/>
        </p:spPr>
        <p:txBody>
          <a:bodyPr wrap="square" rtlCol="0" anchor="ctr"/>
          <a:lstStyle/>
          <a:p>
            <a:pPr marL="0" indent="0" algn="r">
              <a:buNone/>
            </a:pPr>
            <a:r>
              <a:rPr lang="en-US" sz="1100" dirty="0">
                <a:solidFill>
                  <a:srgbClr val="FFFFFF">
                    <a:alpha val="70000"/>
                  </a:srgbClr>
                </a:solidFill>
                <a:latin typeface="Calibri" pitchFamily="34" charset="0"/>
                <a:ea typeface="Calibri" pitchFamily="34" charset="-122"/>
                <a:cs typeface="Calibri" pitchFamily="34" charset="-120"/>
              </a:rPr>
              <a:t>QUALITY</a:t>
            </a:r>
            <a:endParaRPr lang="en-US" sz="1100" dirty="0"/>
          </a:p>
        </p:txBody>
      </p:sp>
      <p:sp>
        <p:nvSpPr>
          <p:cNvPr id="6" name="Shape 4"/>
          <p:cNvSpPr/>
          <p:nvPr/>
        </p:nvSpPr>
        <p:spPr>
          <a:xfrm>
            <a:off x="365760" y="6455664"/>
            <a:ext cx="11460175" cy="10973"/>
          </a:xfrm>
          <a:prstGeom prst="rect">
            <a:avLst/>
          </a:prstGeom>
          <a:solidFill>
            <a:srgbClr val="D1D1D1"/>
          </a:solidFill>
          <a:ln/>
        </p:spPr>
        <p:txBody>
          <a:bodyPr/>
          <a:lstStyle/>
          <a:p>
            <a:endParaRPr lang="en-ZA"/>
          </a:p>
        </p:txBody>
      </p:sp>
      <p:sp>
        <p:nvSpPr>
          <p:cNvPr id="7" name="Text 5"/>
          <p:cNvSpPr/>
          <p:nvPr/>
        </p:nvSpPr>
        <p:spPr>
          <a:xfrm>
            <a:off x="365760" y="6492240"/>
            <a:ext cx="6400800" cy="256032"/>
          </a:xfrm>
          <a:prstGeom prst="rect">
            <a:avLst/>
          </a:prstGeom>
          <a:noFill/>
          <a:ln/>
        </p:spPr>
        <p:txBody>
          <a:bodyPr wrap="square" rtlCol="0" anchor="ctr"/>
          <a:lstStyle/>
          <a:p>
            <a:pPr marL="0" indent="0">
              <a:buNone/>
            </a:pPr>
            <a:r>
              <a:rPr lang="en-US" sz="900" i="1" dirty="0">
                <a:solidFill>
                  <a:srgbClr val="747474"/>
                </a:solidFill>
                <a:latin typeface="Calibri" pitchFamily="34" charset="0"/>
                <a:ea typeface="Calibri" pitchFamily="34" charset="-122"/>
                <a:cs typeface="Calibri" pitchFamily="34" charset="-120"/>
              </a:rPr>
              <a:t>Maziv Group  •  FY2028 Budget Instructions  •  Strictly confidential</a:t>
            </a:r>
            <a:endParaRPr lang="en-US" sz="900" dirty="0"/>
          </a:p>
        </p:txBody>
      </p:sp>
      <p:sp>
        <p:nvSpPr>
          <p:cNvPr id="8" name="Text 6"/>
          <p:cNvSpPr/>
          <p:nvPr/>
        </p:nvSpPr>
        <p:spPr>
          <a:xfrm>
            <a:off x="6949440" y="6492240"/>
            <a:ext cx="3200400" cy="256032"/>
          </a:xfrm>
          <a:prstGeom prst="rect">
            <a:avLst/>
          </a:prstGeom>
          <a:noFill/>
          <a:ln/>
        </p:spPr>
        <p:txBody>
          <a:bodyPr wrap="square" rtlCol="0" anchor="ctr"/>
          <a:lstStyle/>
          <a:p>
            <a:pPr marL="0" indent="0" algn="r">
              <a:buNone/>
            </a:pPr>
            <a:r>
              <a:rPr lang="en-US" sz="900" dirty="0">
                <a:solidFill>
                  <a:srgbClr val="747474"/>
                </a:solidFill>
                <a:latin typeface="Calibri" pitchFamily="34" charset="0"/>
                <a:ea typeface="Calibri" pitchFamily="34" charset="-122"/>
                <a:cs typeface="Calibri" pitchFamily="34" charset="-120"/>
              </a:rPr>
              <a:t>QUALITY  •  12 / 13</a:t>
            </a:r>
            <a:endParaRPr lang="en-US" sz="900" dirty="0"/>
          </a:p>
        </p:txBody>
      </p:sp>
      <p:pic>
        <p:nvPicPr>
          <p:cNvPr id="9" name="Image 0" descr="maziv_logo_transparent.png"/>
          <p:cNvPicPr>
            <a:picLocks noChangeAspect="1"/>
          </p:cNvPicPr>
          <p:nvPr/>
        </p:nvPicPr>
        <p:blipFill>
          <a:blip r:embed="rId3"/>
          <a:stretch>
            <a:fillRect/>
          </a:stretch>
        </p:blipFill>
        <p:spPr>
          <a:xfrm>
            <a:off x="11005170" y="6519672"/>
            <a:ext cx="820765" cy="146304"/>
          </a:xfrm>
          <a:prstGeom prst="rect">
            <a:avLst/>
          </a:prstGeom>
        </p:spPr>
      </p:pic>
      <p:sp>
        <p:nvSpPr>
          <p:cNvPr id="10" name="Shape 7"/>
          <p:cNvSpPr/>
          <p:nvPr/>
        </p:nvSpPr>
        <p:spPr>
          <a:xfrm>
            <a:off x="365760" y="822960"/>
            <a:ext cx="5394960" cy="3977640"/>
          </a:xfrm>
          <a:prstGeom prst="rect">
            <a:avLst/>
          </a:prstGeom>
          <a:solidFill>
            <a:srgbClr val="FFFFFF"/>
          </a:solidFill>
          <a:ln w="12700">
            <a:solidFill>
              <a:srgbClr val="D1D1D1"/>
            </a:solidFill>
            <a:prstDash val="solid"/>
          </a:ln>
        </p:spPr>
        <p:txBody>
          <a:bodyPr/>
          <a:lstStyle/>
          <a:p>
            <a:endParaRPr lang="en-ZA"/>
          </a:p>
        </p:txBody>
      </p:sp>
      <p:sp>
        <p:nvSpPr>
          <p:cNvPr id="11" name="Shape 8"/>
          <p:cNvSpPr/>
          <p:nvPr/>
        </p:nvSpPr>
        <p:spPr>
          <a:xfrm>
            <a:off x="365760" y="822960"/>
            <a:ext cx="5394960" cy="27432"/>
          </a:xfrm>
          <a:prstGeom prst="rect">
            <a:avLst/>
          </a:prstGeom>
          <a:solidFill>
            <a:srgbClr val="C09CCD"/>
          </a:solidFill>
          <a:ln/>
        </p:spPr>
        <p:txBody>
          <a:bodyPr/>
          <a:lstStyle/>
          <a:p>
            <a:endParaRPr lang="en-ZA"/>
          </a:p>
        </p:txBody>
      </p:sp>
      <p:sp>
        <p:nvSpPr>
          <p:cNvPr id="12" name="Text 9"/>
          <p:cNvSpPr/>
          <p:nvPr/>
        </p:nvSpPr>
        <p:spPr>
          <a:xfrm>
            <a:off x="502920" y="914400"/>
            <a:ext cx="5120640" cy="292608"/>
          </a:xfrm>
          <a:prstGeom prst="rect">
            <a:avLst/>
          </a:prstGeom>
          <a:noFill/>
          <a:ln/>
        </p:spPr>
        <p:txBody>
          <a:bodyPr wrap="square" rtlCol="0" anchor="ctr"/>
          <a:lstStyle/>
          <a:p>
            <a:pPr marL="0" indent="0">
              <a:buNone/>
            </a:pPr>
            <a:r>
              <a:rPr lang="en-US" sz="1200" b="1" dirty="0">
                <a:solidFill>
                  <a:srgbClr val="461B55"/>
                </a:solidFill>
                <a:latin typeface="Calibri" pitchFamily="34" charset="0"/>
                <a:ea typeface="Calibri" pitchFamily="34" charset="-122"/>
                <a:cs typeface="Calibri" pitchFamily="34" charset="-120"/>
              </a:rPr>
              <a:t>Submission protocol</a:t>
            </a:r>
            <a:endParaRPr lang="en-US" sz="1200" dirty="0"/>
          </a:p>
        </p:txBody>
      </p:sp>
      <p:sp>
        <p:nvSpPr>
          <p:cNvPr id="13" name="Text 10"/>
          <p:cNvSpPr/>
          <p:nvPr/>
        </p:nvSpPr>
        <p:spPr>
          <a:xfrm>
            <a:off x="502920" y="1234440"/>
            <a:ext cx="5120640" cy="3474720"/>
          </a:xfrm>
          <a:prstGeom prst="rect">
            <a:avLst/>
          </a:prstGeom>
          <a:noFill/>
          <a:ln/>
        </p:spPr>
        <p:txBody>
          <a:bodyPr wrap="square" rtlCol="0" anchor="t"/>
          <a:lstStyle/>
          <a:p>
            <a:pPr marL="152400" indent="-152400">
              <a:spcAft>
                <a:spcPts val="700"/>
              </a:spcAft>
              <a:buSzPct val="100000"/>
              <a:buChar char="•"/>
            </a:pPr>
            <a:r>
              <a:rPr lang="en-US" sz="1200" b="1" dirty="0">
                <a:solidFill>
                  <a:srgbClr val="1F2937"/>
                </a:solidFill>
                <a:latin typeface="Calibri" pitchFamily="34" charset="0"/>
                <a:ea typeface="Calibri" pitchFamily="34" charset="-122"/>
                <a:cs typeface="Calibri" pitchFamily="34" charset="-120"/>
              </a:rPr>
              <a:t>Deadline: </a:t>
            </a:r>
            <a:r>
              <a:rPr lang="en-US" sz="1200" dirty="0">
                <a:solidFill>
                  <a:srgbClr val="1F2937"/>
                </a:solidFill>
                <a:latin typeface="Calibri" pitchFamily="34" charset="0"/>
                <a:ea typeface="Calibri" pitchFamily="34" charset="-122"/>
                <a:cs typeface="Calibri" pitchFamily="34" charset="-120"/>
              </a:rPr>
              <a:t>17:00 on the due date. Dates are not negotiable.</a:t>
            </a:r>
            <a:endParaRPr lang="en-US" sz="1200" dirty="0"/>
          </a:p>
          <a:p>
            <a:pPr marL="152400" indent="-152400">
              <a:spcAft>
                <a:spcPts val="700"/>
              </a:spcAft>
              <a:buSzPct val="100000"/>
              <a:buChar char="•"/>
            </a:pPr>
            <a:r>
              <a:rPr lang="en-US" sz="1200" b="1" dirty="0">
                <a:solidFill>
                  <a:srgbClr val="1F2937"/>
                </a:solidFill>
                <a:latin typeface="Calibri" pitchFamily="34" charset="0"/>
                <a:ea typeface="Calibri" pitchFamily="34" charset="-122"/>
                <a:cs typeface="Calibri" pitchFamily="34" charset="-120"/>
              </a:rPr>
              <a:t>Where: </a:t>
            </a:r>
            <a:r>
              <a:rPr lang="en-US" sz="1200" dirty="0">
                <a:solidFill>
                  <a:srgbClr val="1F2937"/>
                </a:solidFill>
                <a:latin typeface="Calibri" pitchFamily="34" charset="0"/>
                <a:ea typeface="Calibri" pitchFamily="34" charset="-122"/>
                <a:cs typeface="Calibri" pitchFamily="34" charset="-120"/>
              </a:rPr>
              <a:t>models in Finnivo; supporting schedules to Maziv Finance in the budget folder issued with the envelope.</a:t>
            </a:r>
            <a:endParaRPr lang="en-US" sz="1200" dirty="0"/>
          </a:p>
          <a:p>
            <a:pPr marL="152400" indent="-152400">
              <a:spcAft>
                <a:spcPts val="700"/>
              </a:spcAft>
              <a:buSzPct val="100000"/>
              <a:buChar char="•"/>
            </a:pPr>
            <a:r>
              <a:rPr lang="en-US" sz="1200" b="1" dirty="0">
                <a:solidFill>
                  <a:srgbClr val="1F2937"/>
                </a:solidFill>
                <a:latin typeface="Calibri" pitchFamily="34" charset="0"/>
                <a:ea typeface="Calibri" pitchFamily="34" charset="-122"/>
                <a:cs typeface="Calibri" pitchFamily="34" charset="-120"/>
              </a:rPr>
              <a:t>File naming: </a:t>
            </a:r>
            <a:r>
              <a:rPr lang="en-US" sz="1200" dirty="0">
                <a:solidFill>
                  <a:srgbClr val="1F2937"/>
                </a:solidFill>
                <a:latin typeface="Calibri" pitchFamily="34" charset="0"/>
                <a:ea typeface="Calibri" pitchFamily="34" charset="-122"/>
                <a:cs typeface="Calibri" pitchFamily="34" charset="-120"/>
              </a:rPr>
              <a:t>YYYYMMDD_Entity_FY2028 </a:t>
            </a:r>
            <a:r>
              <a:rPr lang="en-US" sz="1200" dirty="0" err="1">
                <a:solidFill>
                  <a:srgbClr val="1F2937"/>
                </a:solidFill>
                <a:latin typeface="Calibri" pitchFamily="34" charset="0"/>
                <a:ea typeface="Calibri" pitchFamily="34" charset="-122"/>
                <a:cs typeface="Calibri" pitchFamily="34" charset="-120"/>
              </a:rPr>
              <a:t>Budget_vN</a:t>
            </a:r>
            <a:r>
              <a:rPr lang="en-US" sz="1200" dirty="0">
                <a:solidFill>
                  <a:srgbClr val="1F2937"/>
                </a:solidFill>
                <a:latin typeface="Calibri" pitchFamily="34" charset="0"/>
                <a:ea typeface="Calibri" pitchFamily="34" charset="-122"/>
                <a:cs typeface="Calibri" pitchFamily="34" charset="-120"/>
              </a:rPr>
              <a:t>, e.g. 20261130_DFA_FY2028 Budget_v1.xlsx.</a:t>
            </a:r>
            <a:endParaRPr lang="en-US" sz="1200" dirty="0"/>
          </a:p>
          <a:p>
            <a:pPr marL="152400" indent="-152400">
              <a:spcAft>
                <a:spcPts val="700"/>
              </a:spcAft>
              <a:buSzPct val="100000"/>
              <a:buChar char="•"/>
            </a:pPr>
            <a:r>
              <a:rPr lang="en-US" sz="1200" b="1" dirty="0">
                <a:solidFill>
                  <a:srgbClr val="1F2937"/>
                </a:solidFill>
                <a:latin typeface="Calibri" pitchFamily="34" charset="0"/>
                <a:ea typeface="Calibri" pitchFamily="34" charset="-122"/>
                <a:cs typeface="Calibri" pitchFamily="34" charset="-120"/>
              </a:rPr>
              <a:t>Versions: </a:t>
            </a:r>
            <a:r>
              <a:rPr lang="en-US" sz="1200" dirty="0">
                <a:solidFill>
                  <a:srgbClr val="1F2937"/>
                </a:solidFill>
                <a:latin typeface="Calibri" pitchFamily="34" charset="0"/>
                <a:ea typeface="Calibri" pitchFamily="34" charset="-122"/>
                <a:cs typeface="Calibri" pitchFamily="34" charset="-120"/>
              </a:rPr>
              <a:t>never overwrite a submitted file; bump the version.</a:t>
            </a:r>
            <a:endParaRPr lang="en-US" sz="1200" dirty="0"/>
          </a:p>
          <a:p>
            <a:pPr marL="152400" indent="-152400">
              <a:spcAft>
                <a:spcPts val="700"/>
              </a:spcAft>
              <a:buSzPct val="100000"/>
              <a:buChar char="•"/>
            </a:pPr>
            <a:r>
              <a:rPr lang="en-US" sz="1200" b="1" dirty="0">
                <a:solidFill>
                  <a:srgbClr val="1F2937"/>
                </a:solidFill>
                <a:latin typeface="Calibri" pitchFamily="34" charset="0"/>
                <a:ea typeface="Calibri" pitchFamily="34" charset="-122"/>
                <a:cs typeface="Calibri" pitchFamily="34" charset="-120"/>
              </a:rPr>
              <a:t>Sign-off: </a:t>
            </a:r>
            <a:r>
              <a:rPr lang="en-US" sz="1200" dirty="0">
                <a:solidFill>
                  <a:srgbClr val="1F2937"/>
                </a:solidFill>
                <a:latin typeface="Calibri" pitchFamily="34" charset="0"/>
                <a:ea typeface="Calibri" pitchFamily="34" charset="-122"/>
                <a:cs typeface="Calibri" pitchFamily="34" charset="-120"/>
              </a:rPr>
              <a:t>entity CEO and CFO confirm in writing that the submission is complete, uses Group assumptions and has agreed intercompany.</a:t>
            </a:r>
            <a:endParaRPr lang="en-US" sz="1200" dirty="0"/>
          </a:p>
          <a:p>
            <a:pPr marL="152400" indent="-152400">
              <a:spcAft>
                <a:spcPts val="700"/>
              </a:spcAft>
              <a:buSzPct val="100000"/>
              <a:buChar char="•"/>
            </a:pPr>
            <a:r>
              <a:rPr lang="en-US" sz="1200" b="1" dirty="0">
                <a:solidFill>
                  <a:srgbClr val="1F2937"/>
                </a:solidFill>
                <a:latin typeface="Calibri" pitchFamily="34" charset="0"/>
                <a:ea typeface="Calibri" pitchFamily="34" charset="-122"/>
                <a:cs typeface="Calibri" pitchFamily="34" charset="-120"/>
              </a:rPr>
              <a:t>Late or incomplete: </a:t>
            </a:r>
            <a:r>
              <a:rPr lang="en-US" sz="1200" dirty="0">
                <a:solidFill>
                  <a:srgbClr val="1F2937"/>
                </a:solidFill>
                <a:latin typeface="Calibri" pitchFamily="34" charset="0"/>
                <a:ea typeface="Calibri" pitchFamily="34" charset="-122"/>
                <a:cs typeface="Calibri" pitchFamily="34" charset="-120"/>
              </a:rPr>
              <a:t>escalated to the entity CEO and the Group CFO. An incomplete submission is treated as not submitted.</a:t>
            </a:r>
            <a:endParaRPr lang="en-US" sz="1200" dirty="0"/>
          </a:p>
        </p:txBody>
      </p:sp>
      <p:sp>
        <p:nvSpPr>
          <p:cNvPr id="14" name="Shape 11"/>
          <p:cNvSpPr/>
          <p:nvPr/>
        </p:nvSpPr>
        <p:spPr>
          <a:xfrm>
            <a:off x="365760" y="4983480"/>
            <a:ext cx="5394960" cy="1280160"/>
          </a:xfrm>
          <a:prstGeom prst="rect">
            <a:avLst/>
          </a:prstGeom>
          <a:solidFill>
            <a:srgbClr val="FFFFFF"/>
          </a:solidFill>
          <a:ln w="12700">
            <a:solidFill>
              <a:srgbClr val="D1D1D1"/>
            </a:solidFill>
            <a:prstDash val="solid"/>
          </a:ln>
        </p:spPr>
        <p:txBody>
          <a:bodyPr/>
          <a:lstStyle/>
          <a:p>
            <a:endParaRPr lang="en-ZA"/>
          </a:p>
        </p:txBody>
      </p:sp>
      <p:sp>
        <p:nvSpPr>
          <p:cNvPr id="15" name="Shape 12"/>
          <p:cNvSpPr/>
          <p:nvPr/>
        </p:nvSpPr>
        <p:spPr>
          <a:xfrm>
            <a:off x="365760" y="4983480"/>
            <a:ext cx="5394960" cy="27432"/>
          </a:xfrm>
          <a:prstGeom prst="rect">
            <a:avLst/>
          </a:prstGeom>
          <a:solidFill>
            <a:srgbClr val="C09CCD"/>
          </a:solidFill>
          <a:ln/>
        </p:spPr>
        <p:txBody>
          <a:bodyPr/>
          <a:lstStyle/>
          <a:p>
            <a:endParaRPr lang="en-ZA"/>
          </a:p>
        </p:txBody>
      </p:sp>
      <p:sp>
        <p:nvSpPr>
          <p:cNvPr id="16" name="Text 13"/>
          <p:cNvSpPr/>
          <p:nvPr/>
        </p:nvSpPr>
        <p:spPr>
          <a:xfrm>
            <a:off x="502920" y="5074920"/>
            <a:ext cx="5120640" cy="292608"/>
          </a:xfrm>
          <a:prstGeom prst="rect">
            <a:avLst/>
          </a:prstGeom>
          <a:noFill/>
          <a:ln/>
        </p:spPr>
        <p:txBody>
          <a:bodyPr wrap="square" rtlCol="0" anchor="ctr"/>
          <a:lstStyle/>
          <a:p>
            <a:pPr marL="0" indent="0">
              <a:buNone/>
            </a:pPr>
            <a:r>
              <a:rPr lang="en-US" sz="1200" b="1" dirty="0">
                <a:solidFill>
                  <a:srgbClr val="461B55"/>
                </a:solidFill>
                <a:latin typeface="Calibri" pitchFamily="34" charset="0"/>
                <a:ea typeface="Calibri" pitchFamily="34" charset="-122"/>
                <a:cs typeface="Calibri" pitchFamily="34" charset="-120"/>
              </a:rPr>
              <a:t>Contacts</a:t>
            </a:r>
            <a:endParaRPr lang="en-US" sz="1200" dirty="0"/>
          </a:p>
        </p:txBody>
      </p:sp>
      <p:sp>
        <p:nvSpPr>
          <p:cNvPr id="17" name="Text 14"/>
          <p:cNvSpPr/>
          <p:nvPr/>
        </p:nvSpPr>
        <p:spPr>
          <a:xfrm>
            <a:off x="502920" y="5394960"/>
            <a:ext cx="5120640" cy="777240"/>
          </a:xfrm>
          <a:prstGeom prst="rect">
            <a:avLst/>
          </a:prstGeom>
          <a:noFill/>
          <a:ln/>
        </p:spPr>
        <p:txBody>
          <a:bodyPr wrap="square" rtlCol="0" anchor="t"/>
          <a:lstStyle/>
          <a:p>
            <a:pPr marL="152400" indent="-152400">
              <a:spcAft>
                <a:spcPts val="300"/>
              </a:spcAft>
              <a:buSzPct val="100000"/>
              <a:buChar char="•"/>
            </a:pPr>
            <a:r>
              <a:rPr lang="en-US" sz="1050" b="1" dirty="0">
                <a:solidFill>
                  <a:srgbClr val="1F2937"/>
                </a:solidFill>
                <a:latin typeface="Calibri" pitchFamily="34" charset="0"/>
                <a:ea typeface="Calibri" pitchFamily="34" charset="-122"/>
                <a:cs typeface="Calibri" pitchFamily="34" charset="-120"/>
              </a:rPr>
              <a:t>Budget process and Group assumptions: </a:t>
            </a:r>
            <a:r>
              <a:rPr lang="en-US" sz="1050" dirty="0">
                <a:solidFill>
                  <a:srgbClr val="1F2937"/>
                </a:solidFill>
                <a:latin typeface="Calibri" pitchFamily="34" charset="0"/>
                <a:ea typeface="Calibri" pitchFamily="34" charset="-122"/>
                <a:cs typeface="Calibri" pitchFamily="34" charset="-120"/>
              </a:rPr>
              <a:t>Daniel Smiles and Zunaid Akoojee (ZA), Maziv Finance</a:t>
            </a:r>
            <a:endParaRPr lang="en-US" sz="1050" dirty="0"/>
          </a:p>
          <a:p>
            <a:pPr marL="152400" indent="-152400">
              <a:spcAft>
                <a:spcPts val="300"/>
              </a:spcAft>
              <a:buSzPct val="100000"/>
              <a:buChar char="•"/>
            </a:pPr>
            <a:r>
              <a:rPr lang="en-US" sz="1050" b="1" dirty="0">
                <a:solidFill>
                  <a:srgbClr val="1F2937"/>
                </a:solidFill>
                <a:latin typeface="Calibri" pitchFamily="34" charset="0"/>
                <a:ea typeface="Calibri" pitchFamily="34" charset="-122"/>
                <a:cs typeface="Calibri" pitchFamily="34" charset="-120"/>
              </a:rPr>
              <a:t>Finnivo: </a:t>
            </a:r>
            <a:r>
              <a:rPr lang="en-US" sz="1050" dirty="0">
                <a:solidFill>
                  <a:srgbClr val="1F2937"/>
                </a:solidFill>
                <a:latin typeface="Calibri" pitchFamily="34" charset="0"/>
                <a:ea typeface="Calibri" pitchFamily="34" charset="-122"/>
                <a:cs typeface="Calibri" pitchFamily="34" charset="-120"/>
              </a:rPr>
              <a:t>Chandre Duvenhage (chandre.duvenhage@maziv.com)</a:t>
            </a:r>
            <a:endParaRPr lang="en-US" sz="1050" dirty="0"/>
          </a:p>
        </p:txBody>
      </p:sp>
      <p:sp>
        <p:nvSpPr>
          <p:cNvPr id="18" name="Shape 15"/>
          <p:cNvSpPr/>
          <p:nvPr/>
        </p:nvSpPr>
        <p:spPr>
          <a:xfrm>
            <a:off x="6035040" y="822960"/>
            <a:ext cx="5790895" cy="5440680"/>
          </a:xfrm>
          <a:prstGeom prst="rect">
            <a:avLst/>
          </a:prstGeom>
          <a:solidFill>
            <a:srgbClr val="FFFFFF"/>
          </a:solidFill>
          <a:ln w="12700">
            <a:solidFill>
              <a:srgbClr val="D1D1D1"/>
            </a:solidFill>
            <a:prstDash val="solid"/>
          </a:ln>
        </p:spPr>
        <p:txBody>
          <a:bodyPr/>
          <a:lstStyle/>
          <a:p>
            <a:endParaRPr lang="en-ZA"/>
          </a:p>
        </p:txBody>
      </p:sp>
      <p:sp>
        <p:nvSpPr>
          <p:cNvPr id="19" name="Shape 16"/>
          <p:cNvSpPr/>
          <p:nvPr/>
        </p:nvSpPr>
        <p:spPr>
          <a:xfrm>
            <a:off x="6035040" y="822960"/>
            <a:ext cx="5790895" cy="27432"/>
          </a:xfrm>
          <a:prstGeom prst="rect">
            <a:avLst/>
          </a:prstGeom>
          <a:solidFill>
            <a:srgbClr val="C09CCD"/>
          </a:solidFill>
          <a:ln/>
        </p:spPr>
        <p:txBody>
          <a:bodyPr/>
          <a:lstStyle/>
          <a:p>
            <a:endParaRPr lang="en-ZA"/>
          </a:p>
        </p:txBody>
      </p:sp>
      <p:sp>
        <p:nvSpPr>
          <p:cNvPr id="20" name="Text 17"/>
          <p:cNvSpPr/>
          <p:nvPr/>
        </p:nvSpPr>
        <p:spPr>
          <a:xfrm>
            <a:off x="6172200" y="914400"/>
            <a:ext cx="5516575" cy="292608"/>
          </a:xfrm>
          <a:prstGeom prst="rect">
            <a:avLst/>
          </a:prstGeom>
          <a:noFill/>
          <a:ln/>
        </p:spPr>
        <p:txBody>
          <a:bodyPr wrap="square" rtlCol="0" anchor="ctr"/>
          <a:lstStyle/>
          <a:p>
            <a:pPr marL="0" indent="0">
              <a:buNone/>
            </a:pPr>
            <a:r>
              <a:rPr lang="en-US" sz="1200" b="1" dirty="0">
                <a:solidFill>
                  <a:srgbClr val="461B55"/>
                </a:solidFill>
                <a:latin typeface="Calibri" pitchFamily="34" charset="0"/>
                <a:ea typeface="Calibri" pitchFamily="34" charset="-122"/>
                <a:cs typeface="Calibri" pitchFamily="34" charset="-120"/>
              </a:rPr>
              <a:t>Before you submit, confirm</a:t>
            </a:r>
            <a:endParaRPr lang="en-US" sz="1200" dirty="0"/>
          </a:p>
        </p:txBody>
      </p:sp>
      <p:sp>
        <p:nvSpPr>
          <p:cNvPr id="21" name="Shape 18"/>
          <p:cNvSpPr/>
          <p:nvPr/>
        </p:nvSpPr>
        <p:spPr>
          <a:xfrm>
            <a:off x="6217920" y="1362456"/>
            <a:ext cx="182880" cy="182880"/>
          </a:xfrm>
          <a:prstGeom prst="rect">
            <a:avLst/>
          </a:prstGeom>
          <a:solidFill>
            <a:srgbClr val="FFFFFF"/>
          </a:solidFill>
          <a:ln w="15875">
            <a:solidFill>
              <a:srgbClr val="7A4D87"/>
            </a:solidFill>
            <a:prstDash val="solid"/>
          </a:ln>
        </p:spPr>
        <p:txBody>
          <a:bodyPr/>
          <a:lstStyle/>
          <a:p>
            <a:endParaRPr lang="en-ZA"/>
          </a:p>
        </p:txBody>
      </p:sp>
      <p:sp>
        <p:nvSpPr>
          <p:cNvPr id="22" name="Text 19"/>
          <p:cNvSpPr/>
          <p:nvPr/>
        </p:nvSpPr>
        <p:spPr>
          <a:xfrm>
            <a:off x="6537960" y="1298448"/>
            <a:ext cx="5105095" cy="384048"/>
          </a:xfrm>
          <a:prstGeom prst="rect">
            <a:avLst/>
          </a:prstGeom>
          <a:noFill/>
          <a:ln/>
        </p:spPr>
        <p:txBody>
          <a:bodyPr wrap="square" rtlCol="0" anchor="ctr"/>
          <a:lstStyle/>
          <a:p>
            <a:pPr marL="0" indent="0">
              <a:buNone/>
            </a:pPr>
            <a:r>
              <a:rPr lang="en-US" sz="1050" dirty="0">
                <a:solidFill>
                  <a:srgbClr val="1F2937"/>
                </a:solidFill>
                <a:latin typeface="Calibri" pitchFamily="34" charset="0"/>
                <a:ea typeface="Calibri" pitchFamily="34" charset="-122"/>
                <a:cs typeface="Calibri" pitchFamily="34" charset="-120"/>
              </a:rPr>
              <a:t>Group assumptions applied unchanged, or the exception agreed in writing</a:t>
            </a:r>
            <a:endParaRPr lang="en-US" sz="1050" dirty="0"/>
          </a:p>
        </p:txBody>
      </p:sp>
      <p:sp>
        <p:nvSpPr>
          <p:cNvPr id="23" name="Shape 20"/>
          <p:cNvSpPr/>
          <p:nvPr/>
        </p:nvSpPr>
        <p:spPr>
          <a:xfrm>
            <a:off x="6217920" y="1851660"/>
            <a:ext cx="182880" cy="182880"/>
          </a:xfrm>
          <a:prstGeom prst="rect">
            <a:avLst/>
          </a:prstGeom>
          <a:solidFill>
            <a:srgbClr val="FFFFFF"/>
          </a:solidFill>
          <a:ln w="15875">
            <a:solidFill>
              <a:srgbClr val="7A4D87"/>
            </a:solidFill>
            <a:prstDash val="solid"/>
          </a:ln>
        </p:spPr>
        <p:txBody>
          <a:bodyPr/>
          <a:lstStyle/>
          <a:p>
            <a:endParaRPr lang="en-ZA"/>
          </a:p>
        </p:txBody>
      </p:sp>
      <p:sp>
        <p:nvSpPr>
          <p:cNvPr id="24" name="Text 21"/>
          <p:cNvSpPr/>
          <p:nvPr/>
        </p:nvSpPr>
        <p:spPr>
          <a:xfrm>
            <a:off x="6537960" y="1787652"/>
            <a:ext cx="5105095" cy="384048"/>
          </a:xfrm>
          <a:prstGeom prst="rect">
            <a:avLst/>
          </a:prstGeom>
          <a:noFill/>
          <a:ln/>
        </p:spPr>
        <p:txBody>
          <a:bodyPr wrap="square" rtlCol="0" anchor="ctr"/>
          <a:lstStyle/>
          <a:p>
            <a:pPr marL="0" indent="0">
              <a:buNone/>
            </a:pPr>
            <a:r>
              <a:rPr lang="en-US" sz="1050" dirty="0">
                <a:solidFill>
                  <a:srgbClr val="1F2937"/>
                </a:solidFill>
                <a:latin typeface="Calibri" pitchFamily="34" charset="0"/>
                <a:ea typeface="Calibri" pitchFamily="34" charset="-122"/>
                <a:cs typeface="Calibri" pitchFamily="34" charset="-120"/>
              </a:rPr>
              <a:t>Balance sheet balances every month; cash flow reconciles</a:t>
            </a:r>
            <a:endParaRPr lang="en-US" sz="1050" dirty="0"/>
          </a:p>
        </p:txBody>
      </p:sp>
      <p:sp>
        <p:nvSpPr>
          <p:cNvPr id="25" name="Shape 22"/>
          <p:cNvSpPr/>
          <p:nvPr/>
        </p:nvSpPr>
        <p:spPr>
          <a:xfrm>
            <a:off x="6217920" y="2340864"/>
            <a:ext cx="182880" cy="182880"/>
          </a:xfrm>
          <a:prstGeom prst="rect">
            <a:avLst/>
          </a:prstGeom>
          <a:solidFill>
            <a:srgbClr val="FFFFFF"/>
          </a:solidFill>
          <a:ln w="15875">
            <a:solidFill>
              <a:srgbClr val="7A4D87"/>
            </a:solidFill>
            <a:prstDash val="solid"/>
          </a:ln>
        </p:spPr>
        <p:txBody>
          <a:bodyPr/>
          <a:lstStyle/>
          <a:p>
            <a:endParaRPr lang="en-ZA"/>
          </a:p>
        </p:txBody>
      </p:sp>
      <p:sp>
        <p:nvSpPr>
          <p:cNvPr id="26" name="Text 23"/>
          <p:cNvSpPr/>
          <p:nvPr/>
        </p:nvSpPr>
        <p:spPr>
          <a:xfrm>
            <a:off x="6537960" y="2276856"/>
            <a:ext cx="5105095" cy="384048"/>
          </a:xfrm>
          <a:prstGeom prst="rect">
            <a:avLst/>
          </a:prstGeom>
          <a:noFill/>
          <a:ln/>
        </p:spPr>
        <p:txBody>
          <a:bodyPr wrap="square" rtlCol="0" anchor="ctr"/>
          <a:lstStyle/>
          <a:p>
            <a:pPr marL="0" indent="0">
              <a:buNone/>
            </a:pPr>
            <a:r>
              <a:rPr lang="en-US" sz="1050" dirty="0">
                <a:solidFill>
                  <a:srgbClr val="1F2937"/>
                </a:solidFill>
                <a:latin typeface="Calibri" pitchFamily="34" charset="0"/>
                <a:ea typeface="Calibri" pitchFamily="34" charset="-122"/>
                <a:cs typeface="Calibri" pitchFamily="34" charset="-120"/>
              </a:rPr>
              <a:t>Opening balance sheet and FY2027 forecast tie to the December (9+3) forecast (final submission)</a:t>
            </a:r>
            <a:endParaRPr lang="en-US" sz="1050" dirty="0"/>
          </a:p>
        </p:txBody>
      </p:sp>
      <p:sp>
        <p:nvSpPr>
          <p:cNvPr id="27" name="Shape 24"/>
          <p:cNvSpPr/>
          <p:nvPr/>
        </p:nvSpPr>
        <p:spPr>
          <a:xfrm>
            <a:off x="6217920" y="2830068"/>
            <a:ext cx="182880" cy="182880"/>
          </a:xfrm>
          <a:prstGeom prst="rect">
            <a:avLst/>
          </a:prstGeom>
          <a:solidFill>
            <a:srgbClr val="FFFFFF"/>
          </a:solidFill>
          <a:ln w="15875">
            <a:solidFill>
              <a:srgbClr val="7A4D87"/>
            </a:solidFill>
            <a:prstDash val="solid"/>
          </a:ln>
        </p:spPr>
        <p:txBody>
          <a:bodyPr/>
          <a:lstStyle/>
          <a:p>
            <a:endParaRPr lang="en-ZA"/>
          </a:p>
        </p:txBody>
      </p:sp>
      <p:sp>
        <p:nvSpPr>
          <p:cNvPr id="28" name="Text 25"/>
          <p:cNvSpPr/>
          <p:nvPr/>
        </p:nvSpPr>
        <p:spPr>
          <a:xfrm>
            <a:off x="6537960" y="2766060"/>
            <a:ext cx="5105095" cy="384048"/>
          </a:xfrm>
          <a:prstGeom prst="rect">
            <a:avLst/>
          </a:prstGeom>
          <a:noFill/>
          <a:ln/>
        </p:spPr>
        <p:txBody>
          <a:bodyPr wrap="square" rtlCol="0" anchor="ctr"/>
          <a:lstStyle/>
          <a:p>
            <a:pPr marL="0" indent="0">
              <a:buNone/>
            </a:pPr>
            <a:r>
              <a:rPr lang="en-US" sz="1050" dirty="0">
                <a:solidFill>
                  <a:srgbClr val="1F2937"/>
                </a:solidFill>
                <a:latin typeface="Calibri" pitchFamily="34" charset="0"/>
                <a:ea typeface="Calibri" pitchFamily="34" charset="-122"/>
                <a:cs typeface="Calibri" pitchFamily="34" charset="-120"/>
              </a:rPr>
              <a:t>Envelope reconciliation explains every gap by driver</a:t>
            </a:r>
            <a:endParaRPr lang="en-US" sz="1050" dirty="0"/>
          </a:p>
        </p:txBody>
      </p:sp>
      <p:sp>
        <p:nvSpPr>
          <p:cNvPr id="29" name="Shape 26"/>
          <p:cNvSpPr/>
          <p:nvPr/>
        </p:nvSpPr>
        <p:spPr>
          <a:xfrm>
            <a:off x="6217920" y="3319272"/>
            <a:ext cx="182880" cy="182880"/>
          </a:xfrm>
          <a:prstGeom prst="rect">
            <a:avLst/>
          </a:prstGeom>
          <a:solidFill>
            <a:srgbClr val="FFFFFF"/>
          </a:solidFill>
          <a:ln w="15875">
            <a:solidFill>
              <a:srgbClr val="7A4D87"/>
            </a:solidFill>
            <a:prstDash val="solid"/>
          </a:ln>
        </p:spPr>
        <p:txBody>
          <a:bodyPr/>
          <a:lstStyle/>
          <a:p>
            <a:endParaRPr lang="en-ZA"/>
          </a:p>
        </p:txBody>
      </p:sp>
      <p:sp>
        <p:nvSpPr>
          <p:cNvPr id="30" name="Text 27"/>
          <p:cNvSpPr/>
          <p:nvPr/>
        </p:nvSpPr>
        <p:spPr>
          <a:xfrm>
            <a:off x="6537960" y="3255264"/>
            <a:ext cx="5105095" cy="384048"/>
          </a:xfrm>
          <a:prstGeom prst="rect">
            <a:avLst/>
          </a:prstGeom>
          <a:noFill/>
          <a:ln/>
        </p:spPr>
        <p:txBody>
          <a:bodyPr wrap="square" rtlCol="0" anchor="ctr"/>
          <a:lstStyle/>
          <a:p>
            <a:pPr marL="0" indent="0">
              <a:buNone/>
            </a:pPr>
            <a:r>
              <a:rPr lang="en-US" sz="1050" dirty="0">
                <a:solidFill>
                  <a:srgbClr val="1F2937"/>
                </a:solidFill>
                <a:latin typeface="Calibri" pitchFamily="34" charset="0"/>
                <a:ea typeface="Calibri" pitchFamily="34" charset="-122"/>
                <a:cs typeface="Calibri" pitchFamily="34" charset="-120"/>
              </a:rPr>
              <a:t>Operating leverage schedule complete; headcount at FY2027 levels or the increase approved</a:t>
            </a:r>
            <a:endParaRPr lang="en-US" sz="1050" dirty="0"/>
          </a:p>
        </p:txBody>
      </p:sp>
      <p:sp>
        <p:nvSpPr>
          <p:cNvPr id="31" name="Shape 28"/>
          <p:cNvSpPr/>
          <p:nvPr/>
        </p:nvSpPr>
        <p:spPr>
          <a:xfrm>
            <a:off x="6217920" y="3808476"/>
            <a:ext cx="182880" cy="182880"/>
          </a:xfrm>
          <a:prstGeom prst="rect">
            <a:avLst/>
          </a:prstGeom>
          <a:solidFill>
            <a:srgbClr val="FFFFFF"/>
          </a:solidFill>
          <a:ln w="15875">
            <a:solidFill>
              <a:srgbClr val="7A4D87"/>
            </a:solidFill>
            <a:prstDash val="solid"/>
          </a:ln>
        </p:spPr>
        <p:txBody>
          <a:bodyPr/>
          <a:lstStyle/>
          <a:p>
            <a:endParaRPr lang="en-ZA"/>
          </a:p>
        </p:txBody>
      </p:sp>
      <p:sp>
        <p:nvSpPr>
          <p:cNvPr id="32" name="Text 29"/>
          <p:cNvSpPr/>
          <p:nvPr/>
        </p:nvSpPr>
        <p:spPr>
          <a:xfrm>
            <a:off x="6537960" y="3744468"/>
            <a:ext cx="5105095" cy="384048"/>
          </a:xfrm>
          <a:prstGeom prst="rect">
            <a:avLst/>
          </a:prstGeom>
          <a:noFill/>
          <a:ln/>
        </p:spPr>
        <p:txBody>
          <a:bodyPr wrap="square" rtlCol="0" anchor="ctr"/>
          <a:lstStyle/>
          <a:p>
            <a:pPr marL="0" indent="0">
              <a:buNone/>
            </a:pPr>
            <a:r>
              <a:rPr lang="en-US" sz="1050" dirty="0">
                <a:solidFill>
                  <a:srgbClr val="1F2937"/>
                </a:solidFill>
                <a:latin typeface="Calibri" pitchFamily="34" charset="0"/>
                <a:ea typeface="Calibri" pitchFamily="34" charset="-122"/>
                <a:cs typeface="Calibri" pitchFamily="34" charset="-120"/>
              </a:rPr>
              <a:t>Capex by project, category and month, and tied to Finnivo</a:t>
            </a:r>
            <a:endParaRPr lang="en-US" sz="1050" dirty="0"/>
          </a:p>
        </p:txBody>
      </p:sp>
      <p:sp>
        <p:nvSpPr>
          <p:cNvPr id="33" name="Shape 30"/>
          <p:cNvSpPr/>
          <p:nvPr/>
        </p:nvSpPr>
        <p:spPr>
          <a:xfrm>
            <a:off x="6217920" y="4297680"/>
            <a:ext cx="182880" cy="182880"/>
          </a:xfrm>
          <a:prstGeom prst="rect">
            <a:avLst/>
          </a:prstGeom>
          <a:solidFill>
            <a:srgbClr val="FFFFFF"/>
          </a:solidFill>
          <a:ln w="15875">
            <a:solidFill>
              <a:srgbClr val="7A4D87"/>
            </a:solidFill>
            <a:prstDash val="solid"/>
          </a:ln>
        </p:spPr>
        <p:txBody>
          <a:bodyPr/>
          <a:lstStyle/>
          <a:p>
            <a:endParaRPr lang="en-ZA"/>
          </a:p>
        </p:txBody>
      </p:sp>
      <p:sp>
        <p:nvSpPr>
          <p:cNvPr id="34" name="Text 31"/>
          <p:cNvSpPr/>
          <p:nvPr/>
        </p:nvSpPr>
        <p:spPr>
          <a:xfrm>
            <a:off x="6537960" y="4233672"/>
            <a:ext cx="5105095" cy="384048"/>
          </a:xfrm>
          <a:prstGeom prst="rect">
            <a:avLst/>
          </a:prstGeom>
          <a:noFill/>
          <a:ln/>
        </p:spPr>
        <p:txBody>
          <a:bodyPr wrap="square" rtlCol="0" anchor="ctr"/>
          <a:lstStyle/>
          <a:p>
            <a:pPr marL="0" indent="0">
              <a:buNone/>
            </a:pPr>
            <a:r>
              <a:rPr lang="en-US" sz="1050" dirty="0">
                <a:solidFill>
                  <a:srgbClr val="1F2937"/>
                </a:solidFill>
                <a:latin typeface="Calibri" pitchFamily="34" charset="0"/>
                <a:ea typeface="Calibri" pitchFamily="34" charset="-122"/>
                <a:cs typeface="Calibri" pitchFamily="34" charset="-120"/>
              </a:rPr>
              <a:t>Intercompany agreed with every counterparty; BMCT margin calculation attached</a:t>
            </a:r>
            <a:endParaRPr lang="en-US" sz="1050" dirty="0"/>
          </a:p>
        </p:txBody>
      </p:sp>
      <p:sp>
        <p:nvSpPr>
          <p:cNvPr id="35" name="Shape 32"/>
          <p:cNvSpPr/>
          <p:nvPr/>
        </p:nvSpPr>
        <p:spPr>
          <a:xfrm>
            <a:off x="6217920" y="4786884"/>
            <a:ext cx="182880" cy="182880"/>
          </a:xfrm>
          <a:prstGeom prst="rect">
            <a:avLst/>
          </a:prstGeom>
          <a:solidFill>
            <a:srgbClr val="FFFFFF"/>
          </a:solidFill>
          <a:ln w="15875">
            <a:solidFill>
              <a:srgbClr val="7A4D87"/>
            </a:solidFill>
            <a:prstDash val="solid"/>
          </a:ln>
        </p:spPr>
        <p:txBody>
          <a:bodyPr/>
          <a:lstStyle/>
          <a:p>
            <a:endParaRPr lang="en-ZA"/>
          </a:p>
        </p:txBody>
      </p:sp>
      <p:sp>
        <p:nvSpPr>
          <p:cNvPr id="36" name="Text 33"/>
          <p:cNvSpPr/>
          <p:nvPr/>
        </p:nvSpPr>
        <p:spPr>
          <a:xfrm>
            <a:off x="6537960" y="4722876"/>
            <a:ext cx="5105095" cy="384048"/>
          </a:xfrm>
          <a:prstGeom prst="rect">
            <a:avLst/>
          </a:prstGeom>
          <a:noFill/>
          <a:ln/>
        </p:spPr>
        <p:txBody>
          <a:bodyPr wrap="square" rtlCol="0" anchor="ctr"/>
          <a:lstStyle/>
          <a:p>
            <a:pPr marL="0" indent="0">
              <a:buNone/>
            </a:pPr>
            <a:r>
              <a:rPr lang="en-US" sz="1050" dirty="0">
                <a:solidFill>
                  <a:srgbClr val="1F2937"/>
                </a:solidFill>
                <a:latin typeface="Calibri" pitchFamily="34" charset="0"/>
                <a:ea typeface="Calibri" pitchFamily="34" charset="-122"/>
                <a:cs typeface="Calibri" pitchFamily="34" charset="-120"/>
              </a:rPr>
              <a:t>Strategic initiatives submitted separately, not in the base</a:t>
            </a:r>
            <a:endParaRPr lang="en-US" sz="1050" dirty="0"/>
          </a:p>
        </p:txBody>
      </p:sp>
      <p:sp>
        <p:nvSpPr>
          <p:cNvPr id="37" name="Shape 34"/>
          <p:cNvSpPr/>
          <p:nvPr/>
        </p:nvSpPr>
        <p:spPr>
          <a:xfrm>
            <a:off x="6217920" y="5276088"/>
            <a:ext cx="182880" cy="182880"/>
          </a:xfrm>
          <a:prstGeom prst="rect">
            <a:avLst/>
          </a:prstGeom>
          <a:solidFill>
            <a:srgbClr val="FFFFFF"/>
          </a:solidFill>
          <a:ln w="15875">
            <a:solidFill>
              <a:srgbClr val="7A4D87"/>
            </a:solidFill>
            <a:prstDash val="solid"/>
          </a:ln>
        </p:spPr>
        <p:txBody>
          <a:bodyPr/>
          <a:lstStyle/>
          <a:p>
            <a:endParaRPr lang="en-ZA"/>
          </a:p>
        </p:txBody>
      </p:sp>
      <p:sp>
        <p:nvSpPr>
          <p:cNvPr id="38" name="Text 35"/>
          <p:cNvSpPr/>
          <p:nvPr/>
        </p:nvSpPr>
        <p:spPr>
          <a:xfrm>
            <a:off x="6537960" y="5212080"/>
            <a:ext cx="5105095" cy="384048"/>
          </a:xfrm>
          <a:prstGeom prst="rect">
            <a:avLst/>
          </a:prstGeom>
          <a:noFill/>
          <a:ln/>
        </p:spPr>
        <p:txBody>
          <a:bodyPr wrap="square" rtlCol="0" anchor="ctr"/>
          <a:lstStyle/>
          <a:p>
            <a:pPr marL="0" indent="0">
              <a:buNone/>
            </a:pPr>
            <a:r>
              <a:rPr lang="en-US" sz="1050" dirty="0">
                <a:solidFill>
                  <a:srgbClr val="1F2937"/>
                </a:solidFill>
                <a:latin typeface="Calibri" pitchFamily="34" charset="0"/>
                <a:ea typeface="Calibri" pitchFamily="34" charset="-122"/>
                <a:cs typeface="Calibri" pitchFamily="34" charset="-120"/>
              </a:rPr>
              <a:t>Finnivo model and Excel schedules agree</a:t>
            </a:r>
            <a:endParaRPr lang="en-US" sz="1050" dirty="0"/>
          </a:p>
        </p:txBody>
      </p:sp>
      <p:sp>
        <p:nvSpPr>
          <p:cNvPr id="39" name="Shape 36"/>
          <p:cNvSpPr/>
          <p:nvPr/>
        </p:nvSpPr>
        <p:spPr>
          <a:xfrm>
            <a:off x="6217920" y="5765292"/>
            <a:ext cx="182880" cy="182880"/>
          </a:xfrm>
          <a:prstGeom prst="rect">
            <a:avLst/>
          </a:prstGeom>
          <a:solidFill>
            <a:srgbClr val="FFFFFF"/>
          </a:solidFill>
          <a:ln w="15875">
            <a:solidFill>
              <a:srgbClr val="7A4D87"/>
            </a:solidFill>
            <a:prstDash val="solid"/>
          </a:ln>
        </p:spPr>
        <p:txBody>
          <a:bodyPr/>
          <a:lstStyle/>
          <a:p>
            <a:endParaRPr lang="en-ZA"/>
          </a:p>
        </p:txBody>
      </p:sp>
      <p:sp>
        <p:nvSpPr>
          <p:cNvPr id="40" name="Text 37"/>
          <p:cNvSpPr/>
          <p:nvPr/>
        </p:nvSpPr>
        <p:spPr>
          <a:xfrm>
            <a:off x="6537960" y="5701284"/>
            <a:ext cx="5105095" cy="384048"/>
          </a:xfrm>
          <a:prstGeom prst="rect">
            <a:avLst/>
          </a:prstGeom>
          <a:noFill/>
          <a:ln/>
        </p:spPr>
        <p:txBody>
          <a:bodyPr wrap="square" rtlCol="0" anchor="ctr"/>
          <a:lstStyle/>
          <a:p>
            <a:pPr marL="0" indent="0">
              <a:buNone/>
            </a:pPr>
            <a:r>
              <a:rPr lang="en-US" sz="1050" dirty="0">
                <a:solidFill>
                  <a:srgbClr val="1F2937"/>
                </a:solidFill>
                <a:latin typeface="Calibri" pitchFamily="34" charset="0"/>
                <a:ea typeface="Calibri" pitchFamily="34" charset="-122"/>
                <a:cs typeface="Calibri" pitchFamily="34" charset="-120"/>
              </a:rPr>
              <a:t>CEO and CFO sign-off attached</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461B55"/>
        </a:solidFill>
        <a:effectLst/>
      </p:bgPr>
    </p:bg>
    <p:spTree>
      <p:nvGrpSpPr>
        <p:cNvPr id="1" name=""/>
        <p:cNvGrpSpPr/>
        <p:nvPr/>
      </p:nvGrpSpPr>
      <p:grpSpPr>
        <a:xfrm>
          <a:off x="0" y="0"/>
          <a:ext cx="0" cy="0"/>
          <a:chOff x="0" y="0"/>
          <a:chExt cx="0" cy="0"/>
        </a:xfrm>
      </p:grpSpPr>
      <p:pic>
        <p:nvPicPr>
          <p:cNvPr id="2" name="Image 0" descr="maziv_logo_white.png"/>
          <p:cNvPicPr>
            <a:picLocks noChangeAspect="1"/>
          </p:cNvPicPr>
          <p:nvPr/>
        </p:nvPicPr>
        <p:blipFill>
          <a:blip r:embed="rId3"/>
          <a:stretch>
            <a:fillRect/>
          </a:stretch>
        </p:blipFill>
        <p:spPr>
          <a:xfrm>
            <a:off x="5326380" y="2468880"/>
            <a:ext cx="1538935" cy="274320"/>
          </a:xfrm>
          <a:prstGeom prst="rect">
            <a:avLst/>
          </a:prstGeom>
        </p:spPr>
      </p:pic>
      <p:sp>
        <p:nvSpPr>
          <p:cNvPr id="3" name="Text 0"/>
          <p:cNvSpPr/>
          <p:nvPr/>
        </p:nvSpPr>
        <p:spPr>
          <a:xfrm>
            <a:off x="0" y="3017520"/>
            <a:ext cx="12191695" cy="914400"/>
          </a:xfrm>
          <a:prstGeom prst="rect">
            <a:avLst/>
          </a:prstGeom>
          <a:noFill/>
          <a:ln/>
        </p:spPr>
        <p:txBody>
          <a:bodyPr wrap="square"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Questions</a:t>
            </a:r>
            <a:endParaRPr lang="en-US" sz="3600" dirty="0"/>
          </a:p>
        </p:txBody>
      </p:sp>
      <p:sp>
        <p:nvSpPr>
          <p:cNvPr id="4" name="Text 1"/>
          <p:cNvSpPr/>
          <p:nvPr/>
        </p:nvSpPr>
        <p:spPr>
          <a:xfrm>
            <a:off x="0" y="4023360"/>
            <a:ext cx="12191695" cy="457200"/>
          </a:xfrm>
          <a:prstGeom prst="rect">
            <a:avLst/>
          </a:prstGeom>
          <a:noFill/>
          <a:ln/>
        </p:spPr>
        <p:txBody>
          <a:bodyPr wrap="square" rtlCol="0" anchor="ctr"/>
          <a:lstStyle/>
          <a:p>
            <a:pPr marL="0" indent="0" algn="ctr">
              <a:buNone/>
            </a:pPr>
            <a:r>
              <a:rPr lang="en-US" sz="1400" dirty="0">
                <a:solidFill>
                  <a:srgbClr val="FFFFFF">
                    <a:alpha val="70000"/>
                  </a:srgbClr>
                </a:solidFill>
                <a:latin typeface="Calibri" pitchFamily="34" charset="0"/>
                <a:ea typeface="Calibri" pitchFamily="34" charset="-122"/>
                <a:cs typeface="Calibri" pitchFamily="34" charset="-120"/>
              </a:rPr>
              <a:t>Maziv Finance  —  FY2028 Budget  —  First submission Mon 30 Nov 2026</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06f8d769-7f94-463a-abb8-f2f98e32c3f7">
      <Terms xmlns="http://schemas.microsoft.com/office/infopath/2007/PartnerControls"/>
    </lcf76f155ced4ddcb4097134ff3c332f>
    <TaxCatchAll xmlns="66f2e6d5-5aad-40a1-ab75-74a0e6b7d60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B104B18F3DBD547BD22A1E297CD76EC" ma:contentTypeVersion="16" ma:contentTypeDescription="Create a new document." ma:contentTypeScope="" ma:versionID="85f979d2ffa097b2b439c405cbec810e">
  <xsd:schema xmlns:xsd="http://www.w3.org/2001/XMLSchema" xmlns:xs="http://www.w3.org/2001/XMLSchema" xmlns:p="http://schemas.microsoft.com/office/2006/metadata/properties" xmlns:ns2="06f8d769-7f94-463a-abb8-f2f98e32c3f7" xmlns:ns3="66f2e6d5-5aad-40a1-ab75-74a0e6b7d603" targetNamespace="http://schemas.microsoft.com/office/2006/metadata/properties" ma:root="true" ma:fieldsID="483335024d94f5303f5799b3f31cf4e6" ns2:_="" ns3:_="">
    <xsd:import namespace="06f8d769-7f94-463a-abb8-f2f98e32c3f7"/>
    <xsd:import namespace="66f2e6d5-5aad-40a1-ab75-74a0e6b7d603"/>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MediaServiceSearchProperties" minOccurs="0"/>
                <xsd:element ref="ns3:SharedWithUsers" minOccurs="0"/>
                <xsd:element ref="ns3:SharedWithDetails" minOccurs="0"/>
                <xsd:element ref="ns2:lcf76f155ced4ddcb4097134ff3c332f" minOccurs="0"/>
                <xsd:element ref="ns3:TaxCatchAll" minOccurs="0"/>
                <xsd:element ref="ns2:MediaServiceOCR"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6f8d769-7f94-463a-abb8-f2f98e32c3f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964171eb-2878-4ea8-98ef-7d8a5713f541"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BillingMetadata" ma:index="22" nillable="true" ma:displayName="MediaServiceBillingMetadata" ma:hidden="true" ma:internalName="MediaServiceBillingMetadata" ma:readOnly="true">
      <xsd:simpleType>
        <xsd:restriction base="dms:Note"/>
      </xsd:simpleType>
    </xsd:element>
    <xsd:element name="MediaServiceLocation" ma:index="23"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6f2e6d5-5aad-40a1-ab75-74a0e6b7d603"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744b4b07-0f9a-47da-ba24-fc7df77d74e7}" ma:internalName="TaxCatchAll" ma:showField="CatchAllData" ma:web="66f2e6d5-5aad-40a1-ab75-74a0e6b7d60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525D936-A0CA-45A1-B75A-AFCDCE4FC348}">
  <ds:schemaRefs>
    <ds:schemaRef ds:uri="http://schemas.microsoft.com/office/2006/metadata/properties"/>
    <ds:schemaRef ds:uri="http://schemas.microsoft.com/office/infopath/2007/PartnerControls"/>
    <ds:schemaRef ds:uri="06f8d769-7f94-463a-abb8-f2f98e32c3f7"/>
    <ds:schemaRef ds:uri="66f2e6d5-5aad-40a1-ab75-74a0e6b7d603"/>
  </ds:schemaRefs>
</ds:datastoreItem>
</file>

<file path=customXml/itemProps2.xml><?xml version="1.0" encoding="utf-8"?>
<ds:datastoreItem xmlns:ds="http://schemas.openxmlformats.org/officeDocument/2006/customXml" ds:itemID="{EDBDDD77-7EDF-43E0-8B1D-C9B0DC39E5BA}">
  <ds:schemaRefs>
    <ds:schemaRef ds:uri="http://schemas.microsoft.com/sharepoint/v3/contenttype/forms"/>
  </ds:schemaRefs>
</ds:datastoreItem>
</file>

<file path=customXml/itemProps3.xml><?xml version="1.0" encoding="utf-8"?>
<ds:datastoreItem xmlns:ds="http://schemas.openxmlformats.org/officeDocument/2006/customXml" ds:itemID="{528E9960-C1CB-4869-A4EA-295A5C3BFE2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6f8d769-7f94-463a-abb8-f2f98e32c3f7"/>
    <ds:schemaRef ds:uri="66f2e6d5-5aad-40a1-ab75-74a0e6b7d60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20</TotalTime>
  <Words>2900</Words>
  <Application>Microsoft Office PowerPoint</Application>
  <PresentationFormat>Widescreen</PresentationFormat>
  <Paragraphs>425</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Maziv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Maziv FY2028 Budget Instructions</dc:title>
  <dc:subject>PptxGenJS Presentation</dc:subject>
  <dc:creator>Byron Billett</dc:creator>
  <cp:lastModifiedBy>Byron Billett</cp:lastModifiedBy>
  <cp:revision>1</cp:revision>
  <dcterms:created xsi:type="dcterms:W3CDTF">2026-10-27T14:19:25Z</dcterms:created>
  <dcterms:modified xsi:type="dcterms:W3CDTF">2026-10-27T16:06:37Z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0x0101009B104B18F3DBD547BD22A1E297CD76EC</vt:lpwstr>
  </property>
  <property fmtid="{D5CDD505-2E9C-101B-9397-08002B2CF9AE}" pid="3" name="MediaServiceImageTags">
    <vt:lpwstr/>
  </property>
</Properties>
</file>